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c4e9cf0-daeb-9712-ab9b-aa3a4a6474dc}">
          <p14:sldIdLst>
            <p14:sldId id="256"/>
          </p14:sldIdLst>
        </p14:section>
        <p14:section name="The problem" id="{edcff478-7d42-a567-f409-a9e335e66351}">
          <p14:sldIdLst>
            <p14:sldId id="257"/>
          </p14:sldIdLst>
        </p14:section>
        <p14:section name="Who we are" id="{7d187f68-4cdb-c2e0-c07c-55f4033bbf34}">
          <p14:sldIdLst>
            <p14:sldId id="258"/>
          </p14:sldIdLst>
        </p14:section>
        <p14:section name="The solution" id="{1f885c59-85ef-3f52-a797-7383121e8ab4}">
          <p14:sldIdLst>
            <p14:sldId id="259"/>
            <p14:sldId id="260"/>
          </p14:sldIdLst>
        </p14:section>
        <p14:section name="Reach your customers" id="{961df4b0-607c-48a0-faab-d366bfc64aa5}">
          <p14:sldIdLst>
            <p14:sldId id="261"/>
            <p14:sldId id="262"/>
          </p14:sldIdLst>
        </p14:section>
        <p14:section name="E-commerce" id="{eab2896b-c69f-b66f-efa8-046d348f8ef0}">
          <p14:sldIdLst>
            <p14:sldId id="263"/>
            <p14:sldId id="264"/>
          </p14:sldIdLst>
        </p14:section>
        <p14:section name="Support" id="{1111c237-77b4-6c6a-cb6f-2db7bb4d2d58}">
          <p14:sldIdLst>
            <p14:sldId id="265"/>
          </p14:sldIdLst>
        </p14:section>
        <p14:section name="Your gain" id="{267958ed-6f94-8798-d9bc-a7d74808eac6}">
          <p14:sldIdLst>
            <p14:sldId id="266"/>
          </p14:sldIdLst>
        </p14:section>
        <p14:section name="Trusted by" id="{b7a59085-fcf0-a5f5-4257-f79a50866fe8}">
          <p14:sldIdLst>
            <p14:sldId id="267"/>
            <p14:sldId id="268"/>
          </p14:sldIdLst>
        </p14:section>
        <p14:section name="Next steps" id="{c2a46a1f-a5d5-80fd-94bd-12ed9d76b0d9}">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WAMA CRM turns WhatsApp chats into sales: AI replies, product launches and offers to all your customers, a shop inside WhatsApp, and support. Built by Magnetora AI Solutions, an official Meta Tech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most business WhatsApp numbers look like: 128 unread messages, customers asking price and timing late at night, and one saying they will buy from another shop. Ask: does your WhatsApp look like this? The last two problems are about growth: new launches and offers never reach existing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Magnetora AI Solutions builds AI products for Indian businesses. We are an official Meta Tech Provider, so we connect you to WhatsApp the official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WAMA CRM does four jobs in one app: replying, launching products and offers, selling and support. Your whole team works from one WhatsApp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understands how Indians really type, including Telugu and Hindi in English letters, and answers from your own product list and FAQs.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launch problem. Every customer who ever messaged or bought is already in WAMA CRM. Pick a group, add a photo and an offer code, and send. Customers can tap Shop now and buy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businesses post offers on Instagram or send SMS, and most customers never see them. On WhatsApp, the offer reaches the customer’s chat list with a button to book or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shops and brands: customers see your catalog, add to cart, give their address and pay, without leaving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UPI and Cash on Delivery, and that every order lands in the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answers first. When a person is needed, a ticket is created and assigned with a reply time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side, then the right. Ask which change matters most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Trust (Disease Eradication through Education and Prevention) uses WAMA CRM for health screening campaigns and support. Consular Helpdesk uses it for AI chat support with tickets for passport, OCI and PCC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official Meta connection, no markup on Meta charges, built for India, and quick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 the demo date before you leave the meeting. Offer to connect their WhatsApp number together on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035040" cy="19202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640080" y="3794760"/>
            <a:ext cx="6035040" cy="822960"/>
          </a:xfrm>
          <a:prstGeom prst="rect">
            <a:avLst/>
          </a:prstGeom>
          <a:noFill/>
          <a:ln/>
        </p:spPr>
        <p:txBody>
          <a:bodyPr wrap="square" rtlCol="0"/>
          <a:lstStyle>
            <a:lvl1pPr algn="l" indent="0" marL="0">
              <a:buNone/>
              <a:defRPr lang="en-US" sz="2000" dirty="0">
                <a:solidFill>
                  <a:srgbClr val="DCE6FF"/>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pic>
        <p:nvPicPr>
          <p:cNvPr id="3" name="Image 0" descr="/home/user/Marketing-CRM/docs/brand/wamacrm-logo-horizontal.png">    </p:cNvPr>
          <p:cNvPicPr>
            <a:picLocks noChangeAspect="1"/>
          </p:cNvPicPr>
          <p:nvPr/>
        </p:nvPicPr>
        <p:blipFill>
          <a:blip r:embed="rId1"/>
          <a:stretch>
            <a:fillRect/>
          </a:stretch>
        </p:blipFill>
        <p:spPr>
          <a:xfrm>
            <a:off x="548640" y="6382512"/>
            <a:ext cx="1371600" cy="365760"/>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3.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AMA CRM logo" descr="/home/user/Marketing-CRM/docs/brand/wamacrm-logo-horizontal-light.png">    </p:cNvPr>
          <p:cNvPicPr>
            <a:picLocks noChangeAspect="1"/>
          </p:cNvPicPr>
          <p:nvPr/>
        </p:nvPicPr>
        <p:blipFill>
          <a:blip r:embed="rId2"/>
          <a:stretch>
            <a:fillRect/>
          </a:stretch>
        </p:blipFill>
        <p:spPr>
          <a:xfrm>
            <a:off x="640080" y="502920"/>
            <a:ext cx="3771900" cy="1005840"/>
          </a:xfrm>
          <a:prstGeom prst="rect">
            <a:avLst/>
          </a:prstGeom>
        </p:spPr>
      </p:pic>
      <p:sp>
        <p:nvSpPr>
          <p:cNvPr id="3" name="Text 0"/>
          <p:cNvSpPr/>
          <p:nvPr>
            <p:ph idx="100" type="title" hasCustomPrompt="1"/>
          </p:nvPr>
        </p:nvSpPr>
        <p:spPr>
          <a:xfrm>
            <a:off x="640080" y="1737360"/>
            <a:ext cx="6035040" cy="1920240"/>
          </a:xfrm>
          <a:prstGeom prst="rect">
            <a:avLst/>
          </a:prstGeom>
          <a:noFill/>
          <a:ln/>
        </p:spPr>
        <p:txBody>
          <a:bodyPr wrap="square" lIns="0" tIns="0" rIns="0" bIns="0" rtlCol="0" anchor="b"/>
          <a:lstStyle/>
          <a:p>
            <a:pPr algn="l" indent="0" marL="0">
              <a:buNone/>
            </a:pPr>
            <a:r>
              <a:rPr lang="en-US" sz="4600" b="1" dirty="0">
                <a:solidFill>
                  <a:schemeClr val="bg1"/>
                </a:solidFill>
              </a:rPr>
              <a:t>Turn WhatsApp chats into sales</a:t>
            </a:r>
            <a:endParaRPr lang="en-US" sz="4600" dirty="0"/>
          </a:p>
        </p:txBody>
      </p:sp>
      <p:sp>
        <p:nvSpPr>
          <p:cNvPr id="4" name="Text 0"/>
          <p:cNvSpPr/>
          <p:nvPr>
            <p:ph idx="101" type="body" hasCustomPrompt="1"/>
          </p:nvPr>
        </p:nvSpPr>
        <p:spPr>
          <a:xfrm>
            <a:off x="640080" y="3794760"/>
            <a:ext cx="6035040" cy="822960"/>
          </a:xfrm>
          <a:prstGeom prst="rect">
            <a:avLst/>
          </a:prstGeom>
          <a:noFill/>
          <a:ln/>
        </p:spPr>
        <p:txBody>
          <a:bodyPr wrap="square" lIns="0" tIns="0" rIns="0" bIns="0" rtlCol="0" anchor="t"/>
          <a:lstStyle/>
          <a:p>
            <a:pPr algn="l" indent="0" marL="0">
              <a:buNone/>
            </a:pPr>
            <a:r>
              <a:rPr lang="en-US" sz="2000" dirty="0">
                <a:solidFill>
                  <a:srgbClr val="DCE6FF"/>
                </a:solidFill>
              </a:rPr>
              <a:t>AI replies · Launches and offers · Shop in chat · Support</a:t>
            </a:r>
            <a:endParaRPr lang="en-US" sz="2000" dirty="0"/>
          </a:p>
        </p:txBody>
      </p:sp>
      <p:sp>
        <p:nvSpPr>
          <p:cNvPr id="5" name="Official Meta Tech Provider chip"/>
          <p:cNvSpPr/>
          <p:nvPr/>
        </p:nvSpPr>
        <p:spPr>
          <a:xfrm>
            <a:off x="640080" y="4892040"/>
            <a:ext cx="3474720" cy="438912"/>
          </a:xfrm>
          <a:prstGeom prst="roundRect">
            <a:avLst>
              <a:gd name="adj" fmla="val 50000"/>
            </a:avLst>
          </a:prstGeom>
          <a:solidFill>
            <a:schemeClr val="accent2"/>
          </a:solidFill>
          <a:ln/>
        </p:spPr>
      </p:sp>
      <p:sp>
        <p:nvSpPr>
          <p:cNvPr id="6" name="Text 3"/>
          <p:cNvSpPr txBox="1"/>
          <p:nvPr/>
        </p:nvSpPr>
        <p:spPr>
          <a:xfrm>
            <a:off x="640080" y="4892040"/>
            <a:ext cx="3474720" cy="438912"/>
          </a:xfrm>
          <a:prstGeom prst="rect">
            <a:avLst/>
          </a:prstGeom>
          <a:noFill/>
          <a:ln/>
        </p:spPr>
        <p:txBody>
          <a:bodyPr wrap="square" lIns="0" tIns="0" rIns="0" bIns="0" rtlCol="0" anchor="ctr"/>
          <a:lstStyle/>
          <a:p>
            <a:pPr algn="ctr" indent="0" marL="0">
              <a:buNone/>
            </a:pPr>
            <a:r>
              <a:rPr lang="en-US" sz="1500" b="1" dirty="0">
                <a:solidFill>
                  <a:schemeClr val="bg1"/>
                </a:solidFill>
              </a:rPr>
              <a:t>     Official Meta Tech Provider</a:t>
            </a:r>
            <a:endParaRPr lang="en-US" sz="1500" dirty="0"/>
          </a:p>
        </p:txBody>
      </p:sp>
      <p:pic>
        <p:nvPicPr>
          <p:cNvPr id="7" name="badge icon" descr="preencoded.png">    </p:cNvPr>
          <p:cNvPicPr>
            <a:picLocks noChangeAspect="1"/>
          </p:cNvPicPr>
          <p:nvPr/>
        </p:nvPicPr>
        <p:blipFill>
          <a:blip r:embed="rId3"/>
          <a:stretch>
            <a:fillRect/>
          </a:stretch>
        </p:blipFill>
        <p:spPr>
          <a:xfrm>
            <a:off x="841248" y="4992624"/>
            <a:ext cx="237744" cy="237744"/>
          </a:xfrm>
          <a:prstGeom prst="rect">
            <a:avLst/>
          </a:prstGeom>
        </p:spPr>
      </p:pic>
      <p:sp>
        <p:nvSpPr>
          <p:cNvPr id="8" name="Text 4"/>
          <p:cNvSpPr txBox="1"/>
          <p:nvPr/>
        </p:nvSpPr>
        <p:spPr>
          <a:xfrm>
            <a:off x="640080" y="5989320"/>
            <a:ext cx="4572000" cy="365760"/>
          </a:xfrm>
          <a:prstGeom prst="rect">
            <a:avLst/>
          </a:prstGeom>
          <a:noFill/>
          <a:ln/>
        </p:spPr>
        <p:txBody>
          <a:bodyPr wrap="square" lIns="0" tIns="0" rIns="0" bIns="0" rtlCol="0" anchor="t"/>
          <a:lstStyle/>
          <a:p>
            <a:pPr indent="0" marL="0">
              <a:buNone/>
            </a:pPr>
            <a:r>
              <a:rPr lang="en-US" sz="1500" dirty="0">
                <a:solidFill>
                  <a:srgbClr val="B9C7EC"/>
                </a:solidFill>
              </a:rPr>
              <a:t>by Magnetora AI Solutions</a:t>
            </a:r>
            <a:endParaRPr lang="en-US" sz="1500" dirty="0"/>
          </a:p>
        </p:txBody>
      </p:sp>
      <p:pic>
        <p:nvPicPr>
          <p:cNvPr id="9" name="AI chat phone" descr="/tmp/claude-0/-home-user-Marketing-CRM/cda677d3-5399-55f3-b900-902225faa9ab/scratchpad/deck/img/phone-ai.png">    </p:cNvPr>
          <p:cNvPicPr>
            <a:picLocks noChangeAspect="1"/>
          </p:cNvPicPr>
          <p:nvPr/>
        </p:nvPicPr>
        <p:blipFill>
          <a:blip r:embed="rId4"/>
          <a:stretch>
            <a:fillRect/>
          </a:stretch>
        </p:blipFill>
        <p:spPr>
          <a:xfrm>
            <a:off x="6903720" y="502920"/>
            <a:ext cx="3120390" cy="5943600"/>
          </a:xfrm>
          <a:prstGeom prst="rect">
            <a:avLst/>
          </a:prstGeom>
        </p:spPr>
      </p:pic>
      <p:pic>
        <p:nvPicPr>
          <p:cNvPr id="10" name="launch phone" descr="/tmp/claude-0/-home-user-Marketing-CRM/cda677d3-5399-55f3-b900-902225faa9ab/scratchpad/deck/img/phone-launch.png">    </p:cNvPr>
          <p:cNvPicPr>
            <a:picLocks noChangeAspect="1"/>
          </p:cNvPicPr>
          <p:nvPr/>
        </p:nvPicPr>
        <p:blipFill>
          <a:blip r:embed="rId5"/>
          <a:stretch>
            <a:fillRect/>
          </a:stretch>
        </p:blipFill>
        <p:spPr>
          <a:xfrm>
            <a:off x="9098280" y="914400"/>
            <a:ext cx="2976372" cy="5669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Where businesses lose customers</a:t>
            </a:r>
            <a:endParaRPr lang="en-US" sz="3600" dirty="0"/>
          </a:p>
        </p:txBody>
      </p:sp>
      <p:sp>
        <p:nvSpPr>
          <p:cNvPr id="3" name="phone halo"/>
          <p:cNvSpPr/>
          <p:nvPr/>
        </p:nvSpPr>
        <p:spPr>
          <a:xfrm>
            <a:off x="411480" y="1280160"/>
            <a:ext cx="4206240" cy="4206240"/>
          </a:xfrm>
          <a:prstGeom prst="ellipse">
            <a:avLst/>
          </a:prstGeom>
          <a:solidFill>
            <a:srgbClr val="FDF0F0"/>
          </a:solidFill>
          <a:ln/>
        </p:spPr>
      </p:sp>
      <p:pic>
        <p:nvPicPr>
          <p:cNvPr id="4" name="unread chats phone" descr="/tmp/claude-0/-home-user-Marketing-CRM/cda677d3-5399-55f3-b900-902225faa9ab/scratchpad/deck/img/phone-problem.png">    </p:cNvPr>
          <p:cNvPicPr>
            <a:picLocks noChangeAspect="1"/>
          </p:cNvPicPr>
          <p:nvPr/>
        </p:nvPicPr>
        <p:blipFill>
          <a:blip r:embed="rId1"/>
          <a:stretch>
            <a:fillRect/>
          </a:stretch>
        </p:blipFill>
        <p:spPr>
          <a:xfrm>
            <a:off x="685800" y="1188720"/>
            <a:ext cx="2688336" cy="5120640"/>
          </a:xfrm>
          <a:prstGeom prst="rect">
            <a:avLst/>
          </a:prstGeom>
        </p:spPr>
      </p:pic>
      <p:sp>
        <p:nvSpPr>
          <p:cNvPr id="5" name="problem 1"/>
          <p:cNvSpPr/>
          <p:nvPr/>
        </p:nvSpPr>
        <p:spPr>
          <a:xfrm>
            <a:off x="5212080" y="1463040"/>
            <a:ext cx="3063240" cy="1325880"/>
          </a:xfrm>
          <a:prstGeom prst="roundRect">
            <a:avLst>
              <a:gd name="adj" fmla="val 11034"/>
            </a:avLst>
          </a:prstGeom>
          <a:solidFill>
            <a:srgbClr val="FDF0F0"/>
          </a:solidFill>
          <a:ln/>
        </p:spPr>
      </p:sp>
      <p:sp>
        <p:nvSpPr>
          <p:cNvPr id="6" name="problem 1 icon circle"/>
          <p:cNvSpPr/>
          <p:nvPr/>
        </p:nvSpPr>
        <p:spPr>
          <a:xfrm>
            <a:off x="5413248" y="1792224"/>
            <a:ext cx="658368" cy="658368"/>
          </a:xfrm>
          <a:prstGeom prst="ellipse">
            <a:avLst/>
          </a:prstGeom>
          <a:solidFill>
            <a:schemeClr val="accent6"/>
          </a:solidFill>
          <a:ln/>
        </p:spPr>
      </p:sp>
      <p:pic>
        <p:nvPicPr>
          <p:cNvPr id="7" name="problem 1 icon" descr="preencoded.png">    </p:cNvPr>
          <p:cNvPicPr>
            <a:picLocks noChangeAspect="1"/>
          </p:cNvPicPr>
          <p:nvPr/>
        </p:nvPicPr>
        <p:blipFill>
          <a:blip r:embed="rId2"/>
          <a:stretch>
            <a:fillRect/>
          </a:stretch>
        </p:blipFill>
        <p:spPr>
          <a:xfrm>
            <a:off x="5577840" y="1956816"/>
            <a:ext cx="329184" cy="329184"/>
          </a:xfrm>
          <a:prstGeom prst="rect">
            <a:avLst/>
          </a:prstGeom>
        </p:spPr>
      </p:pic>
      <p:sp>
        <p:nvSpPr>
          <p:cNvPr id="8" name="Text 4"/>
          <p:cNvSpPr txBox="1"/>
          <p:nvPr/>
        </p:nvSpPr>
        <p:spPr>
          <a:xfrm>
            <a:off x="6199632" y="1719072"/>
            <a:ext cx="1984248" cy="411480"/>
          </a:xfrm>
          <a:prstGeom prst="rect">
            <a:avLst/>
          </a:prstGeom>
          <a:noFill/>
          <a:ln/>
        </p:spPr>
        <p:txBody>
          <a:bodyPr wrap="square" lIns="0" tIns="0" rIns="0" bIns="0" rtlCol="0" anchor="t"/>
          <a:lstStyle/>
          <a:p>
            <a:pPr indent="0" marL="0">
              <a:buNone/>
            </a:pPr>
            <a:r>
              <a:rPr lang="en-US" sz="1800" b="1" dirty="0">
                <a:solidFill>
                  <a:schemeClr val="tx1"/>
                </a:solidFill>
              </a:rPr>
              <a:t>Late replies</a:t>
            </a:r>
            <a:endParaRPr lang="en-US" sz="1800" dirty="0"/>
          </a:p>
        </p:txBody>
      </p:sp>
      <p:sp>
        <p:nvSpPr>
          <p:cNvPr id="9" name="Text 5"/>
          <p:cNvSpPr txBox="1"/>
          <p:nvPr/>
        </p:nvSpPr>
        <p:spPr>
          <a:xfrm>
            <a:off x="6199632" y="2139696"/>
            <a:ext cx="1984248" cy="457200"/>
          </a:xfrm>
          <a:prstGeom prst="rect">
            <a:avLst/>
          </a:prstGeom>
          <a:noFill/>
          <a:ln/>
        </p:spPr>
        <p:txBody>
          <a:bodyPr wrap="square" lIns="0" tIns="0" rIns="0" bIns="0" rtlCol="0" anchor="t"/>
          <a:lstStyle/>
          <a:p>
            <a:pPr indent="0" marL="0">
              <a:buNone/>
            </a:pPr>
            <a:r>
              <a:rPr lang="en-US" sz="1400" dirty="0">
                <a:solidFill>
                  <a:schemeClr val="tx2"/>
                </a:solidFill>
              </a:rPr>
              <a:t>They buy from someone else</a:t>
            </a:r>
            <a:endParaRPr lang="en-US" sz="1400" dirty="0"/>
          </a:p>
        </p:txBody>
      </p:sp>
      <p:sp>
        <p:nvSpPr>
          <p:cNvPr id="10" name="problem 2"/>
          <p:cNvSpPr/>
          <p:nvPr/>
        </p:nvSpPr>
        <p:spPr>
          <a:xfrm>
            <a:off x="8458200" y="1463040"/>
            <a:ext cx="3063240" cy="1325880"/>
          </a:xfrm>
          <a:prstGeom prst="roundRect">
            <a:avLst>
              <a:gd name="adj" fmla="val 11034"/>
            </a:avLst>
          </a:prstGeom>
          <a:solidFill>
            <a:srgbClr val="FDF0F0"/>
          </a:solidFill>
          <a:ln/>
        </p:spPr>
      </p:sp>
      <p:sp>
        <p:nvSpPr>
          <p:cNvPr id="11" name="problem 2 icon circle"/>
          <p:cNvSpPr/>
          <p:nvPr/>
        </p:nvSpPr>
        <p:spPr>
          <a:xfrm>
            <a:off x="8659368" y="1792224"/>
            <a:ext cx="658368" cy="658368"/>
          </a:xfrm>
          <a:prstGeom prst="ellipse">
            <a:avLst/>
          </a:prstGeom>
          <a:solidFill>
            <a:schemeClr val="accent6"/>
          </a:solidFill>
          <a:ln/>
        </p:spPr>
      </p:sp>
      <p:pic>
        <p:nvPicPr>
          <p:cNvPr id="12" name="problem 2 icon" descr="preencoded.png">    </p:cNvPr>
          <p:cNvPicPr>
            <a:picLocks noChangeAspect="1"/>
          </p:cNvPicPr>
          <p:nvPr/>
        </p:nvPicPr>
        <p:blipFill>
          <a:blip r:embed="rId3"/>
          <a:stretch>
            <a:fillRect/>
          </a:stretch>
        </p:blipFill>
        <p:spPr>
          <a:xfrm>
            <a:off x="8823960" y="1956816"/>
            <a:ext cx="329184" cy="329184"/>
          </a:xfrm>
          <a:prstGeom prst="rect">
            <a:avLst/>
          </a:prstGeom>
        </p:spPr>
      </p:pic>
      <p:sp>
        <p:nvSpPr>
          <p:cNvPr id="13" name="Text 8"/>
          <p:cNvSpPr txBox="1"/>
          <p:nvPr/>
        </p:nvSpPr>
        <p:spPr>
          <a:xfrm>
            <a:off x="9445752" y="1719072"/>
            <a:ext cx="1984248" cy="411480"/>
          </a:xfrm>
          <a:prstGeom prst="rect">
            <a:avLst/>
          </a:prstGeom>
          <a:noFill/>
          <a:ln/>
        </p:spPr>
        <p:txBody>
          <a:bodyPr wrap="square" lIns="0" tIns="0" rIns="0" bIns="0" rtlCol="0" anchor="t"/>
          <a:lstStyle/>
          <a:p>
            <a:pPr indent="0" marL="0">
              <a:buNone/>
            </a:pPr>
            <a:r>
              <a:rPr lang="en-US" sz="1800" b="1" dirty="0">
                <a:solidFill>
                  <a:schemeClr val="tx1"/>
                </a:solidFill>
              </a:rPr>
              <a:t>Leads lost</a:t>
            </a:r>
            <a:endParaRPr lang="en-US" sz="1800" dirty="0"/>
          </a:p>
        </p:txBody>
      </p:sp>
      <p:sp>
        <p:nvSpPr>
          <p:cNvPr id="14" name="Text 9"/>
          <p:cNvSpPr txBox="1"/>
          <p:nvPr/>
        </p:nvSpPr>
        <p:spPr>
          <a:xfrm>
            <a:off x="9445752" y="2139696"/>
            <a:ext cx="1984248" cy="457200"/>
          </a:xfrm>
          <a:prstGeom prst="rect">
            <a:avLst/>
          </a:prstGeom>
          <a:noFill/>
          <a:ln/>
        </p:spPr>
        <p:txBody>
          <a:bodyPr wrap="square" lIns="0" tIns="0" rIns="0" bIns="0" rtlCol="0" anchor="t"/>
          <a:lstStyle/>
          <a:p>
            <a:pPr indent="0" marL="0">
              <a:buNone/>
            </a:pPr>
            <a:r>
              <a:rPr lang="en-US" sz="1400" dirty="0">
                <a:solidFill>
                  <a:schemeClr val="tx2"/>
                </a:solidFill>
              </a:rPr>
              <a:t>Chats stuck in staff phones</a:t>
            </a:r>
            <a:endParaRPr lang="en-US" sz="1400" dirty="0"/>
          </a:p>
        </p:txBody>
      </p:sp>
      <p:sp>
        <p:nvSpPr>
          <p:cNvPr id="15" name="problem 3"/>
          <p:cNvSpPr/>
          <p:nvPr/>
        </p:nvSpPr>
        <p:spPr>
          <a:xfrm>
            <a:off x="5212080" y="2999232"/>
            <a:ext cx="3063240" cy="1325880"/>
          </a:xfrm>
          <a:prstGeom prst="roundRect">
            <a:avLst>
              <a:gd name="adj" fmla="val 11034"/>
            </a:avLst>
          </a:prstGeom>
          <a:solidFill>
            <a:srgbClr val="FDF0F0"/>
          </a:solidFill>
          <a:ln/>
        </p:spPr>
      </p:sp>
      <p:sp>
        <p:nvSpPr>
          <p:cNvPr id="16" name="problem 3 icon circle"/>
          <p:cNvSpPr/>
          <p:nvPr/>
        </p:nvSpPr>
        <p:spPr>
          <a:xfrm>
            <a:off x="5413248" y="3328416"/>
            <a:ext cx="658368" cy="658368"/>
          </a:xfrm>
          <a:prstGeom prst="ellipse">
            <a:avLst/>
          </a:prstGeom>
          <a:solidFill>
            <a:schemeClr val="accent6"/>
          </a:solidFill>
          <a:ln/>
        </p:spPr>
      </p:sp>
      <p:pic>
        <p:nvPicPr>
          <p:cNvPr id="17" name="problem 3 icon" descr="preencoded.png">    </p:cNvPr>
          <p:cNvPicPr>
            <a:picLocks noChangeAspect="1"/>
          </p:cNvPicPr>
          <p:nvPr/>
        </p:nvPicPr>
        <p:blipFill>
          <a:blip r:embed="rId4"/>
          <a:stretch>
            <a:fillRect/>
          </a:stretch>
        </p:blipFill>
        <p:spPr>
          <a:xfrm>
            <a:off x="5577840" y="3493008"/>
            <a:ext cx="329184" cy="329184"/>
          </a:xfrm>
          <a:prstGeom prst="rect">
            <a:avLst/>
          </a:prstGeom>
        </p:spPr>
      </p:pic>
      <p:sp>
        <p:nvSpPr>
          <p:cNvPr id="18" name="Text 12"/>
          <p:cNvSpPr txBox="1"/>
          <p:nvPr/>
        </p:nvSpPr>
        <p:spPr>
          <a:xfrm>
            <a:off x="6199632" y="3255264"/>
            <a:ext cx="1984248" cy="411480"/>
          </a:xfrm>
          <a:prstGeom prst="rect">
            <a:avLst/>
          </a:prstGeom>
          <a:noFill/>
          <a:ln/>
        </p:spPr>
        <p:txBody>
          <a:bodyPr wrap="square" lIns="0" tIns="0" rIns="0" bIns="0" rtlCol="0" anchor="t"/>
          <a:lstStyle/>
          <a:p>
            <a:pPr indent="0" marL="0">
              <a:buNone/>
            </a:pPr>
            <a:r>
              <a:rPr lang="en-US" sz="1800" b="1" dirty="0">
                <a:solidFill>
                  <a:schemeClr val="tx1"/>
                </a:solidFill>
              </a:rPr>
              <a:t>No follow-up</a:t>
            </a:r>
            <a:endParaRPr lang="en-US" sz="1800" dirty="0"/>
          </a:p>
        </p:txBody>
      </p:sp>
      <p:sp>
        <p:nvSpPr>
          <p:cNvPr id="19" name="Text 13"/>
          <p:cNvSpPr txBox="1"/>
          <p:nvPr/>
        </p:nvSpPr>
        <p:spPr>
          <a:xfrm>
            <a:off x="6199632" y="3675888"/>
            <a:ext cx="1984248" cy="457200"/>
          </a:xfrm>
          <a:prstGeom prst="rect">
            <a:avLst/>
          </a:prstGeom>
          <a:noFill/>
          <a:ln/>
        </p:spPr>
        <p:txBody>
          <a:bodyPr wrap="square" lIns="0" tIns="0" rIns="0" bIns="0" rtlCol="0" anchor="t"/>
          <a:lstStyle/>
          <a:p>
            <a:pPr indent="0" marL="0">
              <a:buNone/>
            </a:pPr>
            <a:r>
              <a:rPr lang="en-US" sz="1400" dirty="0">
                <a:solidFill>
                  <a:schemeClr val="tx2"/>
                </a:solidFill>
              </a:rPr>
              <a:t>Interested buyers forgotten</a:t>
            </a:r>
            <a:endParaRPr lang="en-US" sz="1400" dirty="0"/>
          </a:p>
        </p:txBody>
      </p:sp>
      <p:sp>
        <p:nvSpPr>
          <p:cNvPr id="20" name="problem 4"/>
          <p:cNvSpPr/>
          <p:nvPr/>
        </p:nvSpPr>
        <p:spPr>
          <a:xfrm>
            <a:off x="8458200" y="2999232"/>
            <a:ext cx="3063240" cy="1325880"/>
          </a:xfrm>
          <a:prstGeom prst="roundRect">
            <a:avLst>
              <a:gd name="adj" fmla="val 11034"/>
            </a:avLst>
          </a:prstGeom>
          <a:solidFill>
            <a:srgbClr val="FDF0F0"/>
          </a:solidFill>
          <a:ln/>
        </p:spPr>
      </p:sp>
      <p:sp>
        <p:nvSpPr>
          <p:cNvPr id="21" name="problem 4 icon circle"/>
          <p:cNvSpPr/>
          <p:nvPr/>
        </p:nvSpPr>
        <p:spPr>
          <a:xfrm>
            <a:off x="8659368" y="3328416"/>
            <a:ext cx="658368" cy="658368"/>
          </a:xfrm>
          <a:prstGeom prst="ellipse">
            <a:avLst/>
          </a:prstGeom>
          <a:solidFill>
            <a:schemeClr val="accent6"/>
          </a:solidFill>
          <a:ln/>
        </p:spPr>
      </p:sp>
      <p:pic>
        <p:nvPicPr>
          <p:cNvPr id="22" name="problem 4 icon" descr="preencoded.png">    </p:cNvPr>
          <p:cNvPicPr>
            <a:picLocks noChangeAspect="1"/>
          </p:cNvPicPr>
          <p:nvPr/>
        </p:nvPicPr>
        <p:blipFill>
          <a:blip r:embed="rId5"/>
          <a:stretch>
            <a:fillRect/>
          </a:stretch>
        </p:blipFill>
        <p:spPr>
          <a:xfrm>
            <a:off x="8823960" y="3493008"/>
            <a:ext cx="329184" cy="329184"/>
          </a:xfrm>
          <a:prstGeom prst="rect">
            <a:avLst/>
          </a:prstGeom>
        </p:spPr>
      </p:pic>
      <p:sp>
        <p:nvSpPr>
          <p:cNvPr id="23" name="Text 16"/>
          <p:cNvSpPr txBox="1"/>
          <p:nvPr/>
        </p:nvSpPr>
        <p:spPr>
          <a:xfrm>
            <a:off x="9445752" y="3255264"/>
            <a:ext cx="1984248" cy="411480"/>
          </a:xfrm>
          <a:prstGeom prst="rect">
            <a:avLst/>
          </a:prstGeom>
          <a:noFill/>
          <a:ln/>
        </p:spPr>
        <p:txBody>
          <a:bodyPr wrap="square" lIns="0" tIns="0" rIns="0" bIns="0" rtlCol="0" anchor="t"/>
          <a:lstStyle/>
          <a:p>
            <a:pPr indent="0" marL="0">
              <a:buNone/>
            </a:pPr>
            <a:r>
              <a:rPr lang="en-US" sz="1800" b="1" dirty="0">
                <a:solidFill>
                  <a:schemeClr val="tx1"/>
                </a:solidFill>
              </a:rPr>
              <a:t>Same questions</a:t>
            </a:r>
            <a:endParaRPr lang="en-US" sz="1800" dirty="0"/>
          </a:p>
        </p:txBody>
      </p:sp>
      <p:sp>
        <p:nvSpPr>
          <p:cNvPr id="24" name="Text 17"/>
          <p:cNvSpPr txBox="1"/>
          <p:nvPr/>
        </p:nvSpPr>
        <p:spPr>
          <a:xfrm>
            <a:off x="9445752" y="3675888"/>
            <a:ext cx="1984248" cy="457200"/>
          </a:xfrm>
          <a:prstGeom prst="rect">
            <a:avLst/>
          </a:prstGeom>
          <a:noFill/>
          <a:ln/>
        </p:spPr>
        <p:txBody>
          <a:bodyPr wrap="square" lIns="0" tIns="0" rIns="0" bIns="0" rtlCol="0" anchor="t"/>
          <a:lstStyle/>
          <a:p>
            <a:pPr indent="0" marL="0">
              <a:buNone/>
            </a:pPr>
            <a:r>
              <a:rPr lang="en-US" sz="1400" dirty="0">
                <a:solidFill>
                  <a:schemeClr val="tx2"/>
                </a:solidFill>
              </a:rPr>
              <a:t>“Price? Timing? Address?”</a:t>
            </a:r>
            <a:endParaRPr lang="en-US" sz="1400" dirty="0"/>
          </a:p>
        </p:txBody>
      </p:sp>
      <p:sp>
        <p:nvSpPr>
          <p:cNvPr id="25" name="problem 5"/>
          <p:cNvSpPr/>
          <p:nvPr/>
        </p:nvSpPr>
        <p:spPr>
          <a:xfrm>
            <a:off x="5212080" y="4535424"/>
            <a:ext cx="3063240" cy="1325880"/>
          </a:xfrm>
          <a:prstGeom prst="roundRect">
            <a:avLst>
              <a:gd name="adj" fmla="val 11034"/>
            </a:avLst>
          </a:prstGeom>
          <a:solidFill>
            <a:srgbClr val="FFF7E8"/>
          </a:solidFill>
          <a:ln/>
        </p:spPr>
      </p:sp>
      <p:sp>
        <p:nvSpPr>
          <p:cNvPr id="26" name="problem 5 icon circle"/>
          <p:cNvSpPr/>
          <p:nvPr/>
        </p:nvSpPr>
        <p:spPr>
          <a:xfrm>
            <a:off x="5413248" y="4864608"/>
            <a:ext cx="658368" cy="658368"/>
          </a:xfrm>
          <a:prstGeom prst="ellipse">
            <a:avLst/>
          </a:prstGeom>
          <a:solidFill>
            <a:schemeClr val="accent4"/>
          </a:solidFill>
          <a:ln/>
        </p:spPr>
      </p:sp>
      <p:pic>
        <p:nvPicPr>
          <p:cNvPr id="27" name="problem 5 icon" descr="preencoded.png">    </p:cNvPr>
          <p:cNvPicPr>
            <a:picLocks noChangeAspect="1"/>
          </p:cNvPicPr>
          <p:nvPr/>
        </p:nvPicPr>
        <p:blipFill>
          <a:blip r:embed="rId6"/>
          <a:stretch>
            <a:fillRect/>
          </a:stretch>
        </p:blipFill>
        <p:spPr>
          <a:xfrm>
            <a:off x="5577840" y="5029200"/>
            <a:ext cx="329184" cy="329184"/>
          </a:xfrm>
          <a:prstGeom prst="rect">
            <a:avLst/>
          </a:prstGeom>
        </p:spPr>
      </p:pic>
      <p:sp>
        <p:nvSpPr>
          <p:cNvPr id="28" name="Text 20"/>
          <p:cNvSpPr txBox="1"/>
          <p:nvPr/>
        </p:nvSpPr>
        <p:spPr>
          <a:xfrm>
            <a:off x="6199632" y="4791456"/>
            <a:ext cx="1984248" cy="411480"/>
          </a:xfrm>
          <a:prstGeom prst="rect">
            <a:avLst/>
          </a:prstGeom>
          <a:noFill/>
          <a:ln/>
        </p:spPr>
        <p:txBody>
          <a:bodyPr wrap="square" lIns="0" tIns="0" rIns="0" bIns="0" rtlCol="0" anchor="t"/>
          <a:lstStyle/>
          <a:p>
            <a:pPr indent="0" marL="0">
              <a:buNone/>
            </a:pPr>
            <a:r>
              <a:rPr lang="en-US" sz="1800" b="1" dirty="0">
                <a:solidFill>
                  <a:schemeClr val="tx1"/>
                </a:solidFill>
              </a:rPr>
              <a:t>Launches missed</a:t>
            </a:r>
            <a:endParaRPr lang="en-US" sz="1800" dirty="0"/>
          </a:p>
        </p:txBody>
      </p:sp>
      <p:sp>
        <p:nvSpPr>
          <p:cNvPr id="29" name="Text 21"/>
          <p:cNvSpPr txBox="1"/>
          <p:nvPr/>
        </p:nvSpPr>
        <p:spPr>
          <a:xfrm>
            <a:off x="6199632" y="5212080"/>
            <a:ext cx="1984248" cy="457200"/>
          </a:xfrm>
          <a:prstGeom prst="rect">
            <a:avLst/>
          </a:prstGeom>
          <a:noFill/>
          <a:ln/>
        </p:spPr>
        <p:txBody>
          <a:bodyPr wrap="square" lIns="0" tIns="0" rIns="0" bIns="0" rtlCol="0" anchor="t"/>
          <a:lstStyle/>
          <a:p>
            <a:pPr indent="0" marL="0">
              <a:buNone/>
            </a:pPr>
            <a:r>
              <a:rPr lang="en-US" sz="1400" dirty="0">
                <a:solidFill>
                  <a:schemeClr val="tx2"/>
                </a:solidFill>
              </a:rPr>
              <a:t>Customers never find out</a:t>
            </a:r>
            <a:endParaRPr lang="en-US" sz="1400" dirty="0"/>
          </a:p>
        </p:txBody>
      </p:sp>
      <p:sp>
        <p:nvSpPr>
          <p:cNvPr id="30" name="problem 6"/>
          <p:cNvSpPr/>
          <p:nvPr/>
        </p:nvSpPr>
        <p:spPr>
          <a:xfrm>
            <a:off x="8458200" y="4535424"/>
            <a:ext cx="3063240" cy="1325880"/>
          </a:xfrm>
          <a:prstGeom prst="roundRect">
            <a:avLst>
              <a:gd name="adj" fmla="val 11034"/>
            </a:avLst>
          </a:prstGeom>
          <a:solidFill>
            <a:srgbClr val="FFF7E8"/>
          </a:solidFill>
          <a:ln/>
        </p:spPr>
      </p:sp>
      <p:sp>
        <p:nvSpPr>
          <p:cNvPr id="31" name="problem 6 icon circle"/>
          <p:cNvSpPr/>
          <p:nvPr/>
        </p:nvSpPr>
        <p:spPr>
          <a:xfrm>
            <a:off x="8659368" y="4864608"/>
            <a:ext cx="658368" cy="658368"/>
          </a:xfrm>
          <a:prstGeom prst="ellipse">
            <a:avLst/>
          </a:prstGeom>
          <a:solidFill>
            <a:schemeClr val="accent4"/>
          </a:solidFill>
          <a:ln/>
        </p:spPr>
      </p:sp>
      <p:pic>
        <p:nvPicPr>
          <p:cNvPr id="32" name="problem 6 icon" descr="preencoded.png">    </p:cNvPr>
          <p:cNvPicPr>
            <a:picLocks noChangeAspect="1"/>
          </p:cNvPicPr>
          <p:nvPr/>
        </p:nvPicPr>
        <p:blipFill>
          <a:blip r:embed="rId7"/>
          <a:stretch>
            <a:fillRect/>
          </a:stretch>
        </p:blipFill>
        <p:spPr>
          <a:xfrm>
            <a:off x="8823960" y="5029200"/>
            <a:ext cx="329184" cy="329184"/>
          </a:xfrm>
          <a:prstGeom prst="rect">
            <a:avLst/>
          </a:prstGeom>
        </p:spPr>
      </p:pic>
      <p:sp>
        <p:nvSpPr>
          <p:cNvPr id="33" name="Text 24"/>
          <p:cNvSpPr txBox="1"/>
          <p:nvPr/>
        </p:nvSpPr>
        <p:spPr>
          <a:xfrm>
            <a:off x="9445752" y="4791456"/>
            <a:ext cx="1984248" cy="411480"/>
          </a:xfrm>
          <a:prstGeom prst="rect">
            <a:avLst/>
          </a:prstGeom>
          <a:noFill/>
          <a:ln/>
        </p:spPr>
        <p:txBody>
          <a:bodyPr wrap="square" lIns="0" tIns="0" rIns="0" bIns="0" rtlCol="0" anchor="t"/>
          <a:lstStyle/>
          <a:p>
            <a:pPr indent="0" marL="0">
              <a:buNone/>
            </a:pPr>
            <a:r>
              <a:rPr lang="en-US" sz="1800" b="1" dirty="0">
                <a:solidFill>
                  <a:schemeClr val="tx1"/>
                </a:solidFill>
              </a:rPr>
              <a:t>Offers unseen</a:t>
            </a:r>
            <a:endParaRPr lang="en-US" sz="1800" dirty="0"/>
          </a:p>
        </p:txBody>
      </p:sp>
      <p:sp>
        <p:nvSpPr>
          <p:cNvPr id="34" name="Text 25"/>
          <p:cNvSpPr txBox="1"/>
          <p:nvPr/>
        </p:nvSpPr>
        <p:spPr>
          <a:xfrm>
            <a:off x="9445752" y="5212080"/>
            <a:ext cx="1984248" cy="457200"/>
          </a:xfrm>
          <a:prstGeom prst="rect">
            <a:avLst/>
          </a:prstGeom>
          <a:noFill/>
          <a:ln/>
        </p:spPr>
        <p:txBody>
          <a:bodyPr wrap="square" lIns="0" tIns="0" rIns="0" bIns="0" rtlCol="0" anchor="t"/>
          <a:lstStyle/>
          <a:p>
            <a:pPr indent="0" marL="0">
              <a:buNone/>
            </a:pPr>
            <a:r>
              <a:rPr lang="en-US" sz="1400" dirty="0">
                <a:solidFill>
                  <a:schemeClr val="tx2"/>
                </a:solidFill>
              </a:rPr>
              <a:t>Posts and SMS get ignored</a:t>
            </a:r>
            <a:endParaRPr lang="en-US" sz="14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Magnetora AI Solutions</a:t>
            </a:r>
            <a:endParaRPr lang="en-US" sz="3600" dirty="0"/>
          </a:p>
        </p:txBody>
      </p:sp>
      <p:sp>
        <p:nvSpPr>
          <p:cNvPr id="3" name="Magnetora logo card"/>
          <p:cNvSpPr/>
          <p:nvPr/>
        </p:nvSpPr>
        <p:spPr>
          <a:xfrm>
            <a:off x="548640" y="1417320"/>
            <a:ext cx="4480560" cy="4526280"/>
          </a:xfrm>
          <a:prstGeom prst="roundRect">
            <a:avLst>
              <a:gd name="adj" fmla="val 3265"/>
            </a:avLst>
          </a:prstGeom>
          <a:solidFill>
            <a:schemeClr val="bg1"/>
          </a:solidFill>
          <a:ln w="12700">
            <a:solidFill>
              <a:srgbClr val="E3E8F2"/>
            </a:solidFill>
            <a:prstDash val="solid"/>
          </a:ln>
        </p:spPr>
      </p:sp>
      <p:pic>
        <p:nvPicPr>
          <p:cNvPr id="4" name="Magnetora AI Solutions logo" descr="/home/user/Marketing-CRM/public/logo.png">    </p:cNvPr>
          <p:cNvPicPr>
            <a:picLocks noChangeAspect="1"/>
          </p:cNvPicPr>
          <p:nvPr/>
        </p:nvPicPr>
        <p:blipFill>
          <a:blip r:embed="rId1"/>
          <a:stretch>
            <a:fillRect/>
          </a:stretch>
        </p:blipFill>
        <p:spPr>
          <a:xfrm>
            <a:off x="777240" y="1600200"/>
            <a:ext cx="4023360" cy="4023360"/>
          </a:xfrm>
          <a:prstGeom prst="rect">
            <a:avLst/>
          </a:prstGeom>
        </p:spPr>
      </p:pic>
      <p:sp>
        <p:nvSpPr>
          <p:cNvPr id="5" name="Text 2"/>
          <p:cNvSpPr txBox="1"/>
          <p:nvPr/>
        </p:nvSpPr>
        <p:spPr>
          <a:xfrm>
            <a:off x="5486400" y="1463040"/>
            <a:ext cx="6126480" cy="1005840"/>
          </a:xfrm>
          <a:prstGeom prst="rect">
            <a:avLst/>
          </a:prstGeom>
          <a:noFill/>
          <a:ln/>
        </p:spPr>
        <p:txBody>
          <a:bodyPr wrap="square" lIns="0" tIns="0" rIns="0" bIns="0" rtlCol="0" anchor="t"/>
          <a:lstStyle/>
          <a:p>
            <a:pPr indent="0" marL="0">
              <a:buNone/>
            </a:pPr>
            <a:r>
              <a:rPr lang="en-US" sz="2800" b="1" dirty="0">
                <a:solidFill>
                  <a:schemeClr val="tx1"/>
                </a:solidFill>
              </a:rPr>
              <a:t>We make AI simple for Indian businesses</a:t>
            </a:r>
            <a:endParaRPr lang="en-US" sz="2800" dirty="0"/>
          </a:p>
        </p:txBody>
      </p:sp>
      <p:sp>
        <p:nvSpPr>
          <p:cNvPr id="6" name="service 1"/>
          <p:cNvSpPr/>
          <p:nvPr/>
        </p:nvSpPr>
        <p:spPr>
          <a:xfrm>
            <a:off x="5486400" y="2743200"/>
            <a:ext cx="1874520" cy="1828800"/>
          </a:xfrm>
          <a:prstGeom prst="roundRect">
            <a:avLst>
              <a:gd name="adj" fmla="val 8000"/>
            </a:avLst>
          </a:prstGeom>
          <a:solidFill>
            <a:srgbClr val="EEF3FE"/>
          </a:solidFill>
          <a:ln/>
        </p:spPr>
      </p:sp>
      <p:sp>
        <p:nvSpPr>
          <p:cNvPr id="7" name="service 1 circle"/>
          <p:cNvSpPr/>
          <p:nvPr/>
        </p:nvSpPr>
        <p:spPr>
          <a:xfrm>
            <a:off x="6035040" y="2971800"/>
            <a:ext cx="777240" cy="777240"/>
          </a:xfrm>
          <a:prstGeom prst="ellipse">
            <a:avLst/>
          </a:prstGeom>
          <a:solidFill>
            <a:schemeClr val="accent1"/>
          </a:solidFill>
          <a:ln/>
        </p:spPr>
      </p:sp>
      <p:pic>
        <p:nvPicPr>
          <p:cNvPr id="8" name="service 1" descr="preencoded.png">    </p:cNvPr>
          <p:cNvPicPr>
            <a:picLocks noChangeAspect="1"/>
          </p:cNvPicPr>
          <p:nvPr/>
        </p:nvPicPr>
        <p:blipFill>
          <a:blip r:embed="rId2"/>
          <a:stretch>
            <a:fillRect/>
          </a:stretch>
        </p:blipFill>
        <p:spPr>
          <a:xfrm>
            <a:off x="6229350" y="3166110"/>
            <a:ext cx="388620" cy="388620"/>
          </a:xfrm>
          <a:prstGeom prst="rect">
            <a:avLst/>
          </a:prstGeom>
        </p:spPr>
      </p:pic>
      <p:sp>
        <p:nvSpPr>
          <p:cNvPr id="9" name="Text 5"/>
          <p:cNvSpPr txBox="1"/>
          <p:nvPr/>
        </p:nvSpPr>
        <p:spPr>
          <a:xfrm>
            <a:off x="5577840" y="3886200"/>
            <a:ext cx="1691640" cy="502920"/>
          </a:xfrm>
          <a:prstGeom prst="rect">
            <a:avLst/>
          </a:prstGeom>
          <a:noFill/>
          <a:ln/>
        </p:spPr>
        <p:txBody>
          <a:bodyPr wrap="square" lIns="0" tIns="0" rIns="0" bIns="0" rtlCol="0" anchor="t"/>
          <a:lstStyle/>
          <a:p>
            <a:pPr algn="ctr" indent="0" marL="0">
              <a:buNone/>
            </a:pPr>
            <a:r>
              <a:rPr lang="en-US" sz="1800" b="1" dirty="0">
                <a:solidFill>
                  <a:schemeClr val="tx1"/>
                </a:solidFill>
              </a:rPr>
              <a:t>AI chatbots</a:t>
            </a:r>
            <a:endParaRPr lang="en-US" sz="1800" dirty="0"/>
          </a:p>
        </p:txBody>
      </p:sp>
      <p:sp>
        <p:nvSpPr>
          <p:cNvPr id="10" name="service 2"/>
          <p:cNvSpPr/>
          <p:nvPr/>
        </p:nvSpPr>
        <p:spPr>
          <a:xfrm>
            <a:off x="7543800" y="2743200"/>
            <a:ext cx="1874520" cy="1828800"/>
          </a:xfrm>
          <a:prstGeom prst="roundRect">
            <a:avLst>
              <a:gd name="adj" fmla="val 8000"/>
            </a:avLst>
          </a:prstGeom>
          <a:solidFill>
            <a:srgbClr val="E8F7F1"/>
          </a:solidFill>
          <a:ln/>
        </p:spPr>
      </p:sp>
      <p:sp>
        <p:nvSpPr>
          <p:cNvPr id="11" name="service 2 circle"/>
          <p:cNvSpPr/>
          <p:nvPr/>
        </p:nvSpPr>
        <p:spPr>
          <a:xfrm>
            <a:off x="8092440" y="2971800"/>
            <a:ext cx="777240" cy="777240"/>
          </a:xfrm>
          <a:prstGeom prst="ellipse">
            <a:avLst/>
          </a:prstGeom>
          <a:solidFill>
            <a:schemeClr val="accent2"/>
          </a:solidFill>
          <a:ln/>
        </p:spPr>
      </p:sp>
      <p:pic>
        <p:nvPicPr>
          <p:cNvPr id="12" name="service 2" descr="preencoded.png">    </p:cNvPr>
          <p:cNvPicPr>
            <a:picLocks noChangeAspect="1"/>
          </p:cNvPicPr>
          <p:nvPr/>
        </p:nvPicPr>
        <p:blipFill>
          <a:blip r:embed="rId3"/>
          <a:stretch>
            <a:fillRect/>
          </a:stretch>
        </p:blipFill>
        <p:spPr>
          <a:xfrm>
            <a:off x="8286750" y="3166110"/>
            <a:ext cx="388620" cy="388620"/>
          </a:xfrm>
          <a:prstGeom prst="rect">
            <a:avLst/>
          </a:prstGeom>
        </p:spPr>
      </p:pic>
      <p:sp>
        <p:nvSpPr>
          <p:cNvPr id="13" name="Text 8"/>
          <p:cNvSpPr txBox="1"/>
          <p:nvPr/>
        </p:nvSpPr>
        <p:spPr>
          <a:xfrm>
            <a:off x="7635240" y="3886200"/>
            <a:ext cx="1691640" cy="502920"/>
          </a:xfrm>
          <a:prstGeom prst="rect">
            <a:avLst/>
          </a:prstGeom>
          <a:noFill/>
          <a:ln/>
        </p:spPr>
        <p:txBody>
          <a:bodyPr wrap="square" lIns="0" tIns="0" rIns="0" bIns="0" rtlCol="0" anchor="t"/>
          <a:lstStyle/>
          <a:p>
            <a:pPr algn="ctr" indent="0" marL="0">
              <a:buNone/>
            </a:pPr>
            <a:r>
              <a:rPr lang="en-US" sz="1800" b="1" dirty="0">
                <a:solidFill>
                  <a:schemeClr val="tx1"/>
                </a:solidFill>
              </a:rPr>
              <a:t>WhatsApp CRM</a:t>
            </a:r>
            <a:endParaRPr lang="en-US" sz="1800" dirty="0"/>
          </a:p>
        </p:txBody>
      </p:sp>
      <p:sp>
        <p:nvSpPr>
          <p:cNvPr id="14" name="service 3"/>
          <p:cNvSpPr/>
          <p:nvPr/>
        </p:nvSpPr>
        <p:spPr>
          <a:xfrm>
            <a:off x="9601200" y="2743200"/>
            <a:ext cx="1874520" cy="1828800"/>
          </a:xfrm>
          <a:prstGeom prst="roundRect">
            <a:avLst>
              <a:gd name="adj" fmla="val 8000"/>
            </a:avLst>
          </a:prstGeom>
          <a:solidFill>
            <a:srgbClr val="EEF3FE"/>
          </a:solidFill>
          <a:ln/>
        </p:spPr>
      </p:sp>
      <p:sp>
        <p:nvSpPr>
          <p:cNvPr id="15" name="service 3 circle"/>
          <p:cNvSpPr/>
          <p:nvPr/>
        </p:nvSpPr>
        <p:spPr>
          <a:xfrm>
            <a:off x="10149840" y="2971800"/>
            <a:ext cx="777240" cy="777240"/>
          </a:xfrm>
          <a:prstGeom prst="ellipse">
            <a:avLst/>
          </a:prstGeom>
          <a:solidFill>
            <a:schemeClr val="accent1"/>
          </a:solidFill>
          <a:ln/>
        </p:spPr>
      </p:sp>
      <p:pic>
        <p:nvPicPr>
          <p:cNvPr id="16" name="service 3" descr="preencoded.png">    </p:cNvPr>
          <p:cNvPicPr>
            <a:picLocks noChangeAspect="1"/>
          </p:cNvPicPr>
          <p:nvPr/>
        </p:nvPicPr>
        <p:blipFill>
          <a:blip r:embed="rId4"/>
          <a:stretch>
            <a:fillRect/>
          </a:stretch>
        </p:blipFill>
        <p:spPr>
          <a:xfrm>
            <a:off x="10344150" y="3166110"/>
            <a:ext cx="388620" cy="388620"/>
          </a:xfrm>
          <a:prstGeom prst="rect">
            <a:avLst/>
          </a:prstGeom>
        </p:spPr>
      </p:pic>
      <p:sp>
        <p:nvSpPr>
          <p:cNvPr id="17" name="Text 11"/>
          <p:cNvSpPr txBox="1"/>
          <p:nvPr/>
        </p:nvSpPr>
        <p:spPr>
          <a:xfrm>
            <a:off x="9692640" y="3886200"/>
            <a:ext cx="1691640" cy="502920"/>
          </a:xfrm>
          <a:prstGeom prst="rect">
            <a:avLst/>
          </a:prstGeom>
          <a:noFill/>
          <a:ln/>
        </p:spPr>
        <p:txBody>
          <a:bodyPr wrap="square" lIns="0" tIns="0" rIns="0" bIns="0" rtlCol="0" anchor="t"/>
          <a:lstStyle/>
          <a:p>
            <a:pPr algn="ctr" indent="0" marL="0">
              <a:buNone/>
            </a:pPr>
            <a:r>
              <a:rPr lang="en-US" sz="1800" b="1" dirty="0">
                <a:solidFill>
                  <a:schemeClr val="tx1"/>
                </a:solidFill>
              </a:rPr>
              <a:t>Custom AI tools</a:t>
            </a:r>
            <a:endParaRPr lang="en-US" sz="1800" dirty="0"/>
          </a:p>
        </p:txBody>
      </p:sp>
      <p:sp>
        <p:nvSpPr>
          <p:cNvPr id="18" name="Official Meta Tech Provider chip"/>
          <p:cNvSpPr/>
          <p:nvPr/>
        </p:nvSpPr>
        <p:spPr>
          <a:xfrm>
            <a:off x="5486400" y="5074920"/>
            <a:ext cx="3840480" cy="438912"/>
          </a:xfrm>
          <a:prstGeom prst="roundRect">
            <a:avLst>
              <a:gd name="adj" fmla="val 50000"/>
            </a:avLst>
          </a:prstGeom>
          <a:solidFill>
            <a:schemeClr val="tx1"/>
          </a:solidFill>
          <a:ln/>
        </p:spPr>
      </p:sp>
      <p:sp>
        <p:nvSpPr>
          <p:cNvPr id="19" name="Text 13"/>
          <p:cNvSpPr txBox="1"/>
          <p:nvPr/>
        </p:nvSpPr>
        <p:spPr>
          <a:xfrm>
            <a:off x="5486400" y="5074920"/>
            <a:ext cx="3840480" cy="438912"/>
          </a:xfrm>
          <a:prstGeom prst="rect">
            <a:avLst/>
          </a:prstGeom>
          <a:noFill/>
          <a:ln/>
        </p:spPr>
        <p:txBody>
          <a:bodyPr wrap="square" lIns="0" tIns="0" rIns="0" bIns="0" rtlCol="0" anchor="ctr"/>
          <a:lstStyle/>
          <a:p>
            <a:pPr algn="ctr" indent="0" marL="0">
              <a:buNone/>
            </a:pPr>
            <a:r>
              <a:rPr lang="en-US" sz="1500" b="1" dirty="0">
                <a:solidFill>
                  <a:schemeClr val="bg1"/>
                </a:solidFill>
              </a:rPr>
              <a:t>     Official Meta Tech Provider</a:t>
            </a:r>
            <a:endParaRPr lang="en-US" sz="1500" dirty="0"/>
          </a:p>
        </p:txBody>
      </p:sp>
      <p:pic>
        <p:nvPicPr>
          <p:cNvPr id="20" name="badge icon" descr="preencoded.png">    </p:cNvPr>
          <p:cNvPicPr>
            <a:picLocks noChangeAspect="1"/>
          </p:cNvPicPr>
          <p:nvPr/>
        </p:nvPicPr>
        <p:blipFill>
          <a:blip r:embed="rId5"/>
          <a:stretch>
            <a:fillRect/>
          </a:stretch>
        </p:blipFill>
        <p:spPr>
          <a:xfrm>
            <a:off x="5687568" y="5175504"/>
            <a:ext cx="237744" cy="237744"/>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WAMA CRM logo" descr="/home/user/Marketing-CRM/docs/brand/wamacrm-logo-horizontal-light.png">    </p:cNvPr>
          <p:cNvPicPr>
            <a:picLocks noChangeAspect="1"/>
          </p:cNvPicPr>
          <p:nvPr/>
        </p:nvPicPr>
        <p:blipFill>
          <a:blip r:embed="rId1"/>
          <a:stretch>
            <a:fillRect/>
          </a:stretch>
        </p:blipFill>
        <p:spPr>
          <a:xfrm>
            <a:off x="640080" y="502920"/>
            <a:ext cx="3771900" cy="1005840"/>
          </a:xfrm>
          <a:prstGeom prst="rect">
            <a:avLst/>
          </a:prstGeom>
        </p:spPr>
      </p:pic>
      <p:sp>
        <p:nvSpPr>
          <p:cNvPr id="3" name="Text 0"/>
          <p:cNvSpPr/>
          <p:nvPr>
            <p:ph idx="100" type="title" hasCustomPrompt="1"/>
          </p:nvPr>
        </p:nvSpPr>
        <p:spPr>
          <a:xfrm>
            <a:off x="640080" y="1737360"/>
            <a:ext cx="6035040" cy="1920240"/>
          </a:xfrm>
          <a:prstGeom prst="rect">
            <a:avLst/>
          </a:prstGeom>
          <a:noFill/>
          <a:ln/>
        </p:spPr>
        <p:txBody>
          <a:bodyPr wrap="square" lIns="0" tIns="0" rIns="0" bIns="0" rtlCol="0" anchor="b"/>
          <a:lstStyle/>
          <a:p>
            <a:pPr algn="l" indent="0" marL="0">
              <a:buNone/>
            </a:pPr>
            <a:r>
              <a:rPr lang="en-US" sz="4600" b="1" dirty="0">
                <a:solidFill>
                  <a:schemeClr val="bg1"/>
                </a:solidFill>
              </a:rPr>
              <a:t>One app for every WhatsApp customer</a:t>
            </a:r>
            <a:endParaRPr lang="en-US" sz="4600" dirty="0"/>
          </a:p>
        </p:txBody>
      </p:sp>
      <p:sp>
        <p:nvSpPr>
          <p:cNvPr id="4" name="Reply icon circle"/>
          <p:cNvSpPr/>
          <p:nvPr/>
        </p:nvSpPr>
        <p:spPr>
          <a:xfrm>
            <a:off x="822960" y="3977640"/>
            <a:ext cx="914400" cy="914400"/>
          </a:xfrm>
          <a:prstGeom prst="ellipse">
            <a:avLst/>
          </a:prstGeom>
          <a:solidFill>
            <a:schemeClr val="accent1"/>
          </a:solidFill>
          <a:ln/>
        </p:spPr>
      </p:sp>
      <p:pic>
        <p:nvPicPr>
          <p:cNvPr id="5" name="Reply icon" descr="preencoded.png">    </p:cNvPr>
          <p:cNvPicPr>
            <a:picLocks noChangeAspect="1"/>
          </p:cNvPicPr>
          <p:nvPr/>
        </p:nvPicPr>
        <p:blipFill>
          <a:blip r:embed="rId2"/>
          <a:stretch>
            <a:fillRect/>
          </a:stretch>
        </p:blipFill>
        <p:spPr>
          <a:xfrm>
            <a:off x="1051560" y="4206240"/>
            <a:ext cx="457200" cy="457200"/>
          </a:xfrm>
          <a:prstGeom prst="rect">
            <a:avLst/>
          </a:prstGeom>
        </p:spPr>
      </p:pic>
      <p:sp>
        <p:nvSpPr>
          <p:cNvPr id="6" name="Text 2"/>
          <p:cNvSpPr txBox="1"/>
          <p:nvPr/>
        </p:nvSpPr>
        <p:spPr>
          <a:xfrm>
            <a:off x="640080" y="4983480"/>
            <a:ext cx="1280160" cy="411480"/>
          </a:xfrm>
          <a:prstGeom prst="rect">
            <a:avLst/>
          </a:prstGeom>
          <a:noFill/>
          <a:ln/>
        </p:spPr>
        <p:txBody>
          <a:bodyPr wrap="square" lIns="0" tIns="0" rIns="0" bIns="0" rtlCol="0" anchor="t"/>
          <a:lstStyle/>
          <a:p>
            <a:pPr algn="ctr" indent="0" marL="0">
              <a:buNone/>
            </a:pPr>
            <a:r>
              <a:rPr lang="en-US" sz="1800" b="1" dirty="0">
                <a:solidFill>
                  <a:schemeClr val="bg1"/>
                </a:solidFill>
              </a:rPr>
              <a:t>Reply</a:t>
            </a:r>
            <a:endParaRPr lang="en-US" sz="1800" dirty="0"/>
          </a:p>
        </p:txBody>
      </p:sp>
      <p:sp>
        <p:nvSpPr>
          <p:cNvPr id="7" name="Launch icon circle"/>
          <p:cNvSpPr/>
          <p:nvPr/>
        </p:nvSpPr>
        <p:spPr>
          <a:xfrm>
            <a:off x="2304288" y="3977640"/>
            <a:ext cx="914400" cy="914400"/>
          </a:xfrm>
          <a:prstGeom prst="ellipse">
            <a:avLst/>
          </a:prstGeom>
          <a:solidFill>
            <a:schemeClr val="accent2"/>
          </a:solidFill>
          <a:ln/>
        </p:spPr>
      </p:sp>
      <p:pic>
        <p:nvPicPr>
          <p:cNvPr id="8" name="Launch icon" descr="preencoded.png">    </p:cNvPr>
          <p:cNvPicPr>
            <a:picLocks noChangeAspect="1"/>
          </p:cNvPicPr>
          <p:nvPr/>
        </p:nvPicPr>
        <p:blipFill>
          <a:blip r:embed="rId3"/>
          <a:stretch>
            <a:fillRect/>
          </a:stretch>
        </p:blipFill>
        <p:spPr>
          <a:xfrm>
            <a:off x="2532888" y="4206240"/>
            <a:ext cx="457200" cy="457200"/>
          </a:xfrm>
          <a:prstGeom prst="rect">
            <a:avLst/>
          </a:prstGeom>
        </p:spPr>
      </p:pic>
      <p:sp>
        <p:nvSpPr>
          <p:cNvPr id="9" name="Text 4"/>
          <p:cNvSpPr txBox="1"/>
          <p:nvPr/>
        </p:nvSpPr>
        <p:spPr>
          <a:xfrm>
            <a:off x="2121408" y="4983480"/>
            <a:ext cx="1280160" cy="411480"/>
          </a:xfrm>
          <a:prstGeom prst="rect">
            <a:avLst/>
          </a:prstGeom>
          <a:noFill/>
          <a:ln/>
        </p:spPr>
        <p:txBody>
          <a:bodyPr wrap="square" lIns="0" tIns="0" rIns="0" bIns="0" rtlCol="0" anchor="t"/>
          <a:lstStyle/>
          <a:p>
            <a:pPr algn="ctr" indent="0" marL="0">
              <a:buNone/>
            </a:pPr>
            <a:r>
              <a:rPr lang="en-US" sz="1800" b="1" dirty="0">
                <a:solidFill>
                  <a:schemeClr val="bg1"/>
                </a:solidFill>
              </a:rPr>
              <a:t>Launch</a:t>
            </a:r>
            <a:endParaRPr lang="en-US" sz="1800" dirty="0"/>
          </a:p>
        </p:txBody>
      </p:sp>
      <p:sp>
        <p:nvSpPr>
          <p:cNvPr id="10" name="Sell icon circle"/>
          <p:cNvSpPr/>
          <p:nvPr/>
        </p:nvSpPr>
        <p:spPr>
          <a:xfrm>
            <a:off x="3785616" y="3977640"/>
            <a:ext cx="914400" cy="914400"/>
          </a:xfrm>
          <a:prstGeom prst="ellipse">
            <a:avLst/>
          </a:prstGeom>
          <a:solidFill>
            <a:schemeClr val="accent1"/>
          </a:solidFill>
          <a:ln/>
        </p:spPr>
      </p:sp>
      <p:pic>
        <p:nvPicPr>
          <p:cNvPr id="11" name="Sell icon" descr="preencoded.png">    </p:cNvPr>
          <p:cNvPicPr>
            <a:picLocks noChangeAspect="1"/>
          </p:cNvPicPr>
          <p:nvPr/>
        </p:nvPicPr>
        <p:blipFill>
          <a:blip r:embed="rId4"/>
          <a:stretch>
            <a:fillRect/>
          </a:stretch>
        </p:blipFill>
        <p:spPr>
          <a:xfrm>
            <a:off x="4014216" y="4206240"/>
            <a:ext cx="457200" cy="457200"/>
          </a:xfrm>
          <a:prstGeom prst="rect">
            <a:avLst/>
          </a:prstGeom>
        </p:spPr>
      </p:pic>
      <p:sp>
        <p:nvSpPr>
          <p:cNvPr id="12" name="Text 6"/>
          <p:cNvSpPr txBox="1"/>
          <p:nvPr/>
        </p:nvSpPr>
        <p:spPr>
          <a:xfrm>
            <a:off x="3602736" y="4983480"/>
            <a:ext cx="1280160" cy="411480"/>
          </a:xfrm>
          <a:prstGeom prst="rect">
            <a:avLst/>
          </a:prstGeom>
          <a:noFill/>
          <a:ln/>
        </p:spPr>
        <p:txBody>
          <a:bodyPr wrap="square" lIns="0" tIns="0" rIns="0" bIns="0" rtlCol="0" anchor="t"/>
          <a:lstStyle/>
          <a:p>
            <a:pPr algn="ctr" indent="0" marL="0">
              <a:buNone/>
            </a:pPr>
            <a:r>
              <a:rPr lang="en-US" sz="1800" b="1" dirty="0">
                <a:solidFill>
                  <a:schemeClr val="bg1"/>
                </a:solidFill>
              </a:rPr>
              <a:t>Sell</a:t>
            </a:r>
            <a:endParaRPr lang="en-US" sz="1800" dirty="0"/>
          </a:p>
        </p:txBody>
      </p:sp>
      <p:sp>
        <p:nvSpPr>
          <p:cNvPr id="13" name="Support icon circle"/>
          <p:cNvSpPr/>
          <p:nvPr/>
        </p:nvSpPr>
        <p:spPr>
          <a:xfrm>
            <a:off x="5266944" y="3977640"/>
            <a:ext cx="914400" cy="914400"/>
          </a:xfrm>
          <a:prstGeom prst="ellipse">
            <a:avLst/>
          </a:prstGeom>
          <a:solidFill>
            <a:schemeClr val="accent2"/>
          </a:solidFill>
          <a:ln/>
        </p:spPr>
      </p:sp>
      <p:pic>
        <p:nvPicPr>
          <p:cNvPr id="14" name="Support icon" descr="preencoded.png">    </p:cNvPr>
          <p:cNvPicPr>
            <a:picLocks noChangeAspect="1"/>
          </p:cNvPicPr>
          <p:nvPr/>
        </p:nvPicPr>
        <p:blipFill>
          <a:blip r:embed="rId5"/>
          <a:stretch>
            <a:fillRect/>
          </a:stretch>
        </p:blipFill>
        <p:spPr>
          <a:xfrm>
            <a:off x="5495544" y="4206240"/>
            <a:ext cx="457200" cy="457200"/>
          </a:xfrm>
          <a:prstGeom prst="rect">
            <a:avLst/>
          </a:prstGeom>
        </p:spPr>
      </p:pic>
      <p:sp>
        <p:nvSpPr>
          <p:cNvPr id="15" name="Text 8"/>
          <p:cNvSpPr txBox="1"/>
          <p:nvPr/>
        </p:nvSpPr>
        <p:spPr>
          <a:xfrm>
            <a:off x="5084064" y="4983480"/>
            <a:ext cx="1280160" cy="411480"/>
          </a:xfrm>
          <a:prstGeom prst="rect">
            <a:avLst/>
          </a:prstGeom>
          <a:noFill/>
          <a:ln/>
        </p:spPr>
        <p:txBody>
          <a:bodyPr wrap="square" lIns="0" tIns="0" rIns="0" bIns="0" rtlCol="0" anchor="t"/>
          <a:lstStyle/>
          <a:p>
            <a:pPr algn="ctr" indent="0" marL="0">
              <a:buNone/>
            </a:pPr>
            <a:r>
              <a:rPr lang="en-US" sz="1800" b="1" dirty="0">
                <a:solidFill>
                  <a:schemeClr val="bg1"/>
                </a:solidFill>
              </a:rPr>
              <a:t>Support</a:t>
            </a:r>
            <a:endParaRPr lang="en-US" sz="1800" dirty="0"/>
          </a:p>
        </p:txBody>
      </p:sp>
      <p:pic>
        <p:nvPicPr>
          <p:cNvPr id="16" name="WAMA CRM dashboard" descr="/tmp/claude-0/-home-user-Marketing-CRM/cda677d3-5399-55f3-b900-902225faa9ab/scratchpad/deck/img/dashboard.png">    </p:cNvPr>
          <p:cNvPicPr>
            <a:picLocks noChangeAspect="1"/>
          </p:cNvPicPr>
          <p:nvPr/>
        </p:nvPicPr>
        <p:blipFill>
          <a:blip r:embed="rId6"/>
          <a:stretch>
            <a:fillRect/>
          </a:stretch>
        </p:blipFill>
        <p:spPr>
          <a:xfrm>
            <a:off x="6400800" y="1737360"/>
            <a:ext cx="5577840" cy="2707293"/>
          </a:xfrm>
          <a:prstGeom prst="rect">
            <a:avLst/>
          </a:prstGeom>
        </p:spPr>
      </p:pic>
      <p:sp>
        <p:nvSpPr>
          <p:cNvPr id="18" name="Text 0"/>
          <p:cNvSpPr/>
          <p:nvPr>
            <p:ph idx="101" type="body" hasCustomPrompt="1"/>
          </p:nvPr>
        </p:nvSpPr>
        <p:spPr>
          <a:xfrm>
            <a:off x="640080" y="3794760"/>
            <a:ext cx="6035040" cy="82296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AI replies in seconds, in their language</a:t>
            </a:r>
            <a:endParaRPr lang="en-US" sz="3600" dirty="0"/>
          </a:p>
        </p:txBody>
      </p:sp>
      <p:sp>
        <p:nvSpPr>
          <p:cNvPr id="3" name="English chip"/>
          <p:cNvSpPr/>
          <p:nvPr/>
        </p:nvSpPr>
        <p:spPr>
          <a:xfrm>
            <a:off x="548640" y="1600200"/>
            <a:ext cx="1965960" cy="530352"/>
          </a:xfrm>
          <a:prstGeom prst="roundRect">
            <a:avLst>
              <a:gd name="adj" fmla="val 50000"/>
            </a:avLst>
          </a:prstGeom>
          <a:solidFill>
            <a:srgbClr val="EEF3FE"/>
          </a:solidFill>
          <a:ln/>
        </p:spPr>
      </p:sp>
      <p:sp>
        <p:nvSpPr>
          <p:cNvPr id="4" name="Text 2"/>
          <p:cNvSpPr txBox="1"/>
          <p:nvPr/>
        </p:nvSpPr>
        <p:spPr>
          <a:xfrm>
            <a:off x="548640" y="1600200"/>
            <a:ext cx="1965960" cy="530352"/>
          </a:xfrm>
          <a:prstGeom prst="rect">
            <a:avLst/>
          </a:prstGeom>
          <a:noFill/>
          <a:ln/>
        </p:spPr>
        <p:txBody>
          <a:bodyPr wrap="square" lIns="0" tIns="0" rIns="0" bIns="0" rtlCol="0" anchor="ctr"/>
          <a:lstStyle/>
          <a:p>
            <a:pPr algn="ctr" indent="0" marL="0">
              <a:buNone/>
            </a:pPr>
            <a:r>
              <a:rPr lang="en-US" sz="1800" b="1" dirty="0">
                <a:solidFill>
                  <a:schemeClr val="accent1"/>
                </a:solidFill>
              </a:rPr>
              <a:t>English</a:t>
            </a:r>
            <a:endParaRPr lang="en-US" sz="1800" dirty="0"/>
          </a:p>
        </p:txBody>
      </p:sp>
      <p:sp>
        <p:nvSpPr>
          <p:cNvPr id="5" name="తెలుగు chip"/>
          <p:cNvSpPr/>
          <p:nvPr/>
        </p:nvSpPr>
        <p:spPr>
          <a:xfrm>
            <a:off x="2697480" y="1600200"/>
            <a:ext cx="1965960" cy="530352"/>
          </a:xfrm>
          <a:prstGeom prst="roundRect">
            <a:avLst>
              <a:gd name="adj" fmla="val 50000"/>
            </a:avLst>
          </a:prstGeom>
          <a:solidFill>
            <a:srgbClr val="EEF3FE"/>
          </a:solidFill>
          <a:ln/>
        </p:spPr>
      </p:sp>
      <p:sp>
        <p:nvSpPr>
          <p:cNvPr id="6" name="Text 4"/>
          <p:cNvSpPr txBox="1"/>
          <p:nvPr/>
        </p:nvSpPr>
        <p:spPr>
          <a:xfrm>
            <a:off x="2697480" y="1600200"/>
            <a:ext cx="1965960" cy="530352"/>
          </a:xfrm>
          <a:prstGeom prst="rect">
            <a:avLst/>
          </a:prstGeom>
          <a:noFill/>
          <a:ln/>
        </p:spPr>
        <p:txBody>
          <a:bodyPr wrap="square" lIns="0" tIns="0" rIns="0" bIns="0" rtlCol="0" anchor="ctr"/>
          <a:lstStyle/>
          <a:p>
            <a:pPr algn="ctr" indent="0" marL="0">
              <a:buNone/>
            </a:pPr>
            <a:r>
              <a:rPr lang="en-US" sz="1800" b="1" dirty="0">
                <a:solidFill>
                  <a:schemeClr val="accent1"/>
                </a:solidFill>
              </a:rPr>
              <a:t>తెలుగు</a:t>
            </a:r>
            <a:endParaRPr lang="en-US" sz="1800" dirty="0"/>
          </a:p>
        </p:txBody>
      </p:sp>
      <p:sp>
        <p:nvSpPr>
          <p:cNvPr id="7" name="हिंदी chip"/>
          <p:cNvSpPr/>
          <p:nvPr/>
        </p:nvSpPr>
        <p:spPr>
          <a:xfrm>
            <a:off x="4846320" y="1600200"/>
            <a:ext cx="1965960" cy="530352"/>
          </a:xfrm>
          <a:prstGeom prst="roundRect">
            <a:avLst>
              <a:gd name="adj" fmla="val 50000"/>
            </a:avLst>
          </a:prstGeom>
          <a:solidFill>
            <a:srgbClr val="EEF3FE"/>
          </a:solidFill>
          <a:ln/>
        </p:spPr>
      </p:sp>
      <p:sp>
        <p:nvSpPr>
          <p:cNvPr id="8" name="Text 6"/>
          <p:cNvSpPr txBox="1"/>
          <p:nvPr/>
        </p:nvSpPr>
        <p:spPr>
          <a:xfrm>
            <a:off x="4846320" y="1600200"/>
            <a:ext cx="1965960" cy="530352"/>
          </a:xfrm>
          <a:prstGeom prst="rect">
            <a:avLst/>
          </a:prstGeom>
          <a:noFill/>
          <a:ln/>
        </p:spPr>
        <p:txBody>
          <a:bodyPr wrap="square" lIns="0" tIns="0" rIns="0" bIns="0" rtlCol="0" anchor="ctr"/>
          <a:lstStyle/>
          <a:p>
            <a:pPr algn="ctr" indent="0" marL="0">
              <a:buNone/>
            </a:pPr>
            <a:r>
              <a:rPr lang="en-US" sz="1800" b="1" dirty="0">
                <a:solidFill>
                  <a:schemeClr val="accent1"/>
                </a:solidFill>
              </a:rPr>
              <a:t>हिंदी</a:t>
            </a:r>
            <a:endParaRPr lang="en-US" sz="1800" dirty="0"/>
          </a:p>
        </p:txBody>
      </p:sp>
      <p:sp>
        <p:nvSpPr>
          <p:cNvPr id="9" name="Tenglish chip"/>
          <p:cNvSpPr/>
          <p:nvPr/>
        </p:nvSpPr>
        <p:spPr>
          <a:xfrm>
            <a:off x="548640" y="2286000"/>
            <a:ext cx="1965960" cy="530352"/>
          </a:xfrm>
          <a:prstGeom prst="roundRect">
            <a:avLst>
              <a:gd name="adj" fmla="val 50000"/>
            </a:avLst>
          </a:prstGeom>
          <a:solidFill>
            <a:srgbClr val="EEF3FE"/>
          </a:solidFill>
          <a:ln/>
        </p:spPr>
      </p:sp>
      <p:sp>
        <p:nvSpPr>
          <p:cNvPr id="10" name="Text 8"/>
          <p:cNvSpPr txBox="1"/>
          <p:nvPr/>
        </p:nvSpPr>
        <p:spPr>
          <a:xfrm>
            <a:off x="548640" y="2286000"/>
            <a:ext cx="1965960" cy="530352"/>
          </a:xfrm>
          <a:prstGeom prst="rect">
            <a:avLst/>
          </a:prstGeom>
          <a:noFill/>
          <a:ln/>
        </p:spPr>
        <p:txBody>
          <a:bodyPr wrap="square" lIns="0" tIns="0" rIns="0" bIns="0" rtlCol="0" anchor="ctr"/>
          <a:lstStyle/>
          <a:p>
            <a:pPr algn="ctr" indent="0" marL="0">
              <a:buNone/>
            </a:pPr>
            <a:r>
              <a:rPr lang="en-US" sz="1800" b="1" dirty="0">
                <a:solidFill>
                  <a:schemeClr val="accent1"/>
                </a:solidFill>
              </a:rPr>
              <a:t>Tenglish</a:t>
            </a:r>
            <a:endParaRPr lang="en-US" sz="1800" dirty="0"/>
          </a:p>
        </p:txBody>
      </p:sp>
      <p:sp>
        <p:nvSpPr>
          <p:cNvPr id="11" name="Hinglish chip"/>
          <p:cNvSpPr/>
          <p:nvPr/>
        </p:nvSpPr>
        <p:spPr>
          <a:xfrm>
            <a:off x="2697480" y="2286000"/>
            <a:ext cx="1965960" cy="530352"/>
          </a:xfrm>
          <a:prstGeom prst="roundRect">
            <a:avLst>
              <a:gd name="adj" fmla="val 50000"/>
            </a:avLst>
          </a:prstGeom>
          <a:solidFill>
            <a:srgbClr val="EEF3FE"/>
          </a:solidFill>
          <a:ln/>
        </p:spPr>
      </p:sp>
      <p:sp>
        <p:nvSpPr>
          <p:cNvPr id="12" name="Text 10"/>
          <p:cNvSpPr txBox="1"/>
          <p:nvPr/>
        </p:nvSpPr>
        <p:spPr>
          <a:xfrm>
            <a:off x="2697480" y="2286000"/>
            <a:ext cx="1965960" cy="530352"/>
          </a:xfrm>
          <a:prstGeom prst="rect">
            <a:avLst/>
          </a:prstGeom>
          <a:noFill/>
          <a:ln/>
        </p:spPr>
        <p:txBody>
          <a:bodyPr wrap="square" lIns="0" tIns="0" rIns="0" bIns="0" rtlCol="0" anchor="ctr"/>
          <a:lstStyle/>
          <a:p>
            <a:pPr algn="ctr" indent="0" marL="0">
              <a:buNone/>
            </a:pPr>
            <a:r>
              <a:rPr lang="en-US" sz="1800" b="1" dirty="0">
                <a:solidFill>
                  <a:schemeClr val="accent1"/>
                </a:solidFill>
              </a:rPr>
              <a:t>Hinglish</a:t>
            </a:r>
            <a:endParaRPr lang="en-US" sz="1800" dirty="0"/>
          </a:p>
        </p:txBody>
      </p:sp>
      <p:sp>
        <p:nvSpPr>
          <p:cNvPr id="13" name="24 × 7 circle"/>
          <p:cNvSpPr/>
          <p:nvPr/>
        </p:nvSpPr>
        <p:spPr>
          <a:xfrm>
            <a:off x="548640" y="3200400"/>
            <a:ext cx="731520" cy="731520"/>
          </a:xfrm>
          <a:prstGeom prst="ellipse">
            <a:avLst/>
          </a:prstGeom>
          <a:solidFill>
            <a:schemeClr val="accent1"/>
          </a:solidFill>
          <a:ln/>
        </p:spPr>
      </p:sp>
      <p:pic>
        <p:nvPicPr>
          <p:cNvPr id="14" name="24 × 7"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15" name="Text 12"/>
          <p:cNvSpPr txBox="1"/>
          <p:nvPr/>
        </p:nvSpPr>
        <p:spPr>
          <a:xfrm>
            <a:off x="1463040" y="3182112"/>
            <a:ext cx="4937760" cy="402336"/>
          </a:xfrm>
          <a:prstGeom prst="rect">
            <a:avLst/>
          </a:prstGeom>
          <a:noFill/>
          <a:ln/>
        </p:spPr>
        <p:txBody>
          <a:bodyPr wrap="square" lIns="0" tIns="0" rIns="0" bIns="0" rtlCol="0" anchor="t"/>
          <a:lstStyle/>
          <a:p>
            <a:pPr indent="0" marL="0">
              <a:buNone/>
            </a:pPr>
            <a:r>
              <a:rPr lang="en-US" sz="2100" b="1" dirty="0">
                <a:solidFill>
                  <a:schemeClr val="tx1"/>
                </a:solidFill>
              </a:rPr>
              <a:t>24 × 7</a:t>
            </a:r>
            <a:endParaRPr lang="en-US" sz="2100" dirty="0"/>
          </a:p>
        </p:txBody>
      </p:sp>
      <p:sp>
        <p:nvSpPr>
          <p:cNvPr id="16" name="Text 13"/>
          <p:cNvSpPr txBox="1"/>
          <p:nvPr/>
        </p:nvSpPr>
        <p:spPr>
          <a:xfrm>
            <a:off x="1463040" y="3584448"/>
            <a:ext cx="4937760" cy="365760"/>
          </a:xfrm>
          <a:prstGeom prst="rect">
            <a:avLst/>
          </a:prstGeom>
          <a:noFill/>
          <a:ln/>
        </p:spPr>
        <p:txBody>
          <a:bodyPr wrap="square" lIns="0" tIns="0" rIns="0" bIns="0" rtlCol="0" anchor="t"/>
          <a:lstStyle/>
          <a:p>
            <a:pPr indent="0" marL="0">
              <a:buNone/>
            </a:pPr>
            <a:r>
              <a:rPr lang="en-US" sz="1600" dirty="0">
                <a:solidFill>
                  <a:schemeClr val="tx2"/>
                </a:solidFill>
              </a:rPr>
              <a:t>Even at 2 AM</a:t>
            </a:r>
            <a:endParaRPr lang="en-US" sz="1600" dirty="0"/>
          </a:p>
        </p:txBody>
      </p:sp>
      <p:sp>
        <p:nvSpPr>
          <p:cNvPr id="17" name="Knows your business circle"/>
          <p:cNvSpPr/>
          <p:nvPr/>
        </p:nvSpPr>
        <p:spPr>
          <a:xfrm>
            <a:off x="548640" y="4187952"/>
            <a:ext cx="731520" cy="731520"/>
          </a:xfrm>
          <a:prstGeom prst="ellipse">
            <a:avLst/>
          </a:prstGeom>
          <a:solidFill>
            <a:schemeClr val="accent2"/>
          </a:solidFill>
          <a:ln/>
        </p:spPr>
      </p:sp>
      <p:pic>
        <p:nvPicPr>
          <p:cNvPr id="18" name="Knows your business" descr="preencoded.png">    </p:cNvPr>
          <p:cNvPicPr>
            <a:picLocks noChangeAspect="1"/>
          </p:cNvPicPr>
          <p:nvPr/>
        </p:nvPicPr>
        <p:blipFill>
          <a:blip r:embed="rId2"/>
          <a:stretch>
            <a:fillRect/>
          </a:stretch>
        </p:blipFill>
        <p:spPr>
          <a:xfrm>
            <a:off x="731520" y="4370832"/>
            <a:ext cx="365760" cy="365760"/>
          </a:xfrm>
          <a:prstGeom prst="rect">
            <a:avLst/>
          </a:prstGeom>
        </p:spPr>
      </p:pic>
      <p:sp>
        <p:nvSpPr>
          <p:cNvPr id="19" name="Text 15"/>
          <p:cNvSpPr txBox="1"/>
          <p:nvPr/>
        </p:nvSpPr>
        <p:spPr>
          <a:xfrm>
            <a:off x="1463040" y="4169664"/>
            <a:ext cx="4937760" cy="402336"/>
          </a:xfrm>
          <a:prstGeom prst="rect">
            <a:avLst/>
          </a:prstGeom>
          <a:noFill/>
          <a:ln/>
        </p:spPr>
        <p:txBody>
          <a:bodyPr wrap="square" lIns="0" tIns="0" rIns="0" bIns="0" rtlCol="0" anchor="t"/>
          <a:lstStyle/>
          <a:p>
            <a:pPr indent="0" marL="0">
              <a:buNone/>
            </a:pPr>
            <a:r>
              <a:rPr lang="en-US" sz="2100" b="1" dirty="0">
                <a:solidFill>
                  <a:schemeClr val="tx1"/>
                </a:solidFill>
              </a:rPr>
              <a:t>Knows your business</a:t>
            </a:r>
            <a:endParaRPr lang="en-US" sz="2100" dirty="0"/>
          </a:p>
        </p:txBody>
      </p:sp>
      <p:sp>
        <p:nvSpPr>
          <p:cNvPr id="20" name="Text 16"/>
          <p:cNvSpPr txBox="1"/>
          <p:nvPr/>
        </p:nvSpPr>
        <p:spPr>
          <a:xfrm>
            <a:off x="1463040" y="4572000"/>
            <a:ext cx="4937760" cy="365760"/>
          </a:xfrm>
          <a:prstGeom prst="rect">
            <a:avLst/>
          </a:prstGeom>
          <a:noFill/>
          <a:ln/>
        </p:spPr>
        <p:txBody>
          <a:bodyPr wrap="square" lIns="0" tIns="0" rIns="0" bIns="0" rtlCol="0" anchor="t"/>
          <a:lstStyle/>
          <a:p>
            <a:pPr indent="0" marL="0">
              <a:buNone/>
            </a:pPr>
            <a:r>
              <a:rPr lang="en-US" sz="1600" dirty="0">
                <a:solidFill>
                  <a:schemeClr val="tx2"/>
                </a:solidFill>
              </a:rPr>
              <a:t>Products, prices, FAQs</a:t>
            </a:r>
            <a:endParaRPr lang="en-US" sz="1600" dirty="0"/>
          </a:p>
        </p:txBody>
      </p:sp>
      <p:sp>
        <p:nvSpPr>
          <p:cNvPr id="21" name="Hands over circle"/>
          <p:cNvSpPr/>
          <p:nvPr/>
        </p:nvSpPr>
        <p:spPr>
          <a:xfrm>
            <a:off x="548640" y="5175504"/>
            <a:ext cx="731520" cy="731520"/>
          </a:xfrm>
          <a:prstGeom prst="ellipse">
            <a:avLst/>
          </a:prstGeom>
          <a:solidFill>
            <a:schemeClr val="accent1"/>
          </a:solidFill>
          <a:ln/>
        </p:spPr>
      </p:sp>
      <p:pic>
        <p:nvPicPr>
          <p:cNvPr id="22" name="Hands over" descr="preencoded.png">    </p:cNvPr>
          <p:cNvPicPr>
            <a:picLocks noChangeAspect="1"/>
          </p:cNvPicPr>
          <p:nvPr/>
        </p:nvPicPr>
        <p:blipFill>
          <a:blip r:embed="rId3"/>
          <a:stretch>
            <a:fillRect/>
          </a:stretch>
        </p:blipFill>
        <p:spPr>
          <a:xfrm>
            <a:off x="731520" y="5358384"/>
            <a:ext cx="365760" cy="365760"/>
          </a:xfrm>
          <a:prstGeom prst="rect">
            <a:avLst/>
          </a:prstGeom>
        </p:spPr>
      </p:pic>
      <p:sp>
        <p:nvSpPr>
          <p:cNvPr id="23" name="Text 18"/>
          <p:cNvSpPr txBox="1"/>
          <p:nvPr/>
        </p:nvSpPr>
        <p:spPr>
          <a:xfrm>
            <a:off x="1463040" y="5157216"/>
            <a:ext cx="4937760" cy="402336"/>
          </a:xfrm>
          <a:prstGeom prst="rect">
            <a:avLst/>
          </a:prstGeom>
          <a:noFill/>
          <a:ln/>
        </p:spPr>
        <p:txBody>
          <a:bodyPr wrap="square" lIns="0" tIns="0" rIns="0" bIns="0" rtlCol="0" anchor="t"/>
          <a:lstStyle/>
          <a:p>
            <a:pPr indent="0" marL="0">
              <a:buNone/>
            </a:pPr>
            <a:r>
              <a:rPr lang="en-US" sz="2100" b="1" dirty="0">
                <a:solidFill>
                  <a:schemeClr val="tx1"/>
                </a:solidFill>
              </a:rPr>
              <a:t>Hands over</a:t>
            </a:r>
            <a:endParaRPr lang="en-US" sz="2100" dirty="0"/>
          </a:p>
        </p:txBody>
      </p:sp>
      <p:sp>
        <p:nvSpPr>
          <p:cNvPr id="24" name="Text 19"/>
          <p:cNvSpPr txBox="1"/>
          <p:nvPr/>
        </p:nvSpPr>
        <p:spPr>
          <a:xfrm>
            <a:off x="1463040" y="5559552"/>
            <a:ext cx="4937760" cy="365760"/>
          </a:xfrm>
          <a:prstGeom prst="rect">
            <a:avLst/>
          </a:prstGeom>
          <a:noFill/>
          <a:ln/>
        </p:spPr>
        <p:txBody>
          <a:bodyPr wrap="square" lIns="0" tIns="0" rIns="0" bIns="0" rtlCol="0" anchor="t"/>
          <a:lstStyle/>
          <a:p>
            <a:pPr indent="0" marL="0">
              <a:buNone/>
            </a:pPr>
            <a:r>
              <a:rPr lang="en-US" sz="1600" dirty="0">
                <a:solidFill>
                  <a:schemeClr val="tx2"/>
                </a:solidFill>
              </a:rPr>
              <a:t>Hot leads to your team</a:t>
            </a:r>
            <a:endParaRPr lang="en-US" sz="1600" dirty="0"/>
          </a:p>
        </p:txBody>
      </p:sp>
      <p:sp>
        <p:nvSpPr>
          <p:cNvPr id="25" name="phone halo"/>
          <p:cNvSpPr/>
          <p:nvPr/>
        </p:nvSpPr>
        <p:spPr>
          <a:xfrm>
            <a:off x="7589520" y="1234440"/>
            <a:ext cx="4206240" cy="4206240"/>
          </a:xfrm>
          <a:prstGeom prst="ellipse">
            <a:avLst/>
          </a:prstGeom>
          <a:solidFill>
            <a:srgbClr val="EEF3FE"/>
          </a:solidFill>
          <a:ln/>
        </p:spPr>
      </p:sp>
      <p:pic>
        <p:nvPicPr>
          <p:cNvPr id="26" name="AI chat phone" descr="/tmp/claude-0/-home-user-Marketing-CRM/cda677d3-5399-55f3-b900-902225faa9ab/scratchpad/deck/img/phone-ai.png">    </p:cNvPr>
          <p:cNvPicPr>
            <a:picLocks noChangeAspect="1"/>
          </p:cNvPicPr>
          <p:nvPr/>
        </p:nvPicPr>
        <p:blipFill>
          <a:blip r:embed="rId4"/>
          <a:stretch>
            <a:fillRect/>
          </a:stretch>
        </p:blipFill>
        <p:spPr>
          <a:xfrm>
            <a:off x="7863840" y="1143000"/>
            <a:ext cx="2688336" cy="5120640"/>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New launch? Tell every customer in one click</a:t>
            </a:r>
            <a:endParaRPr lang="en-US" sz="3600" dirty="0"/>
          </a:p>
        </p:txBody>
      </p:sp>
      <p:sp>
        <p:nvSpPr>
          <p:cNvPr id="3" name="phone halo"/>
          <p:cNvSpPr/>
          <p:nvPr/>
        </p:nvSpPr>
        <p:spPr>
          <a:xfrm>
            <a:off x="411480" y="1280160"/>
            <a:ext cx="4206240" cy="4206240"/>
          </a:xfrm>
          <a:prstGeom prst="ellipse">
            <a:avLst/>
          </a:prstGeom>
          <a:solidFill>
            <a:srgbClr val="E8F7F1"/>
          </a:solidFill>
          <a:ln/>
        </p:spPr>
      </p:sp>
      <p:pic>
        <p:nvPicPr>
          <p:cNvPr id="4" name="launch phone" descr="/tmp/claude-0/-home-user-Marketing-CRM/cda677d3-5399-55f3-b900-902225faa9ab/scratchpad/deck/img/phone-launch.png">    </p:cNvPr>
          <p:cNvPicPr>
            <a:picLocks noChangeAspect="1"/>
          </p:cNvPicPr>
          <p:nvPr/>
        </p:nvPicPr>
        <p:blipFill>
          <a:blip r:embed="rId1"/>
          <a:stretch>
            <a:fillRect/>
          </a:stretch>
        </p:blipFill>
        <p:spPr>
          <a:xfrm>
            <a:off x="685800" y="1188720"/>
            <a:ext cx="2688336" cy="5120640"/>
          </a:xfrm>
          <a:prstGeom prst="rect">
            <a:avLst/>
          </a:prstGeom>
        </p:spPr>
      </p:pic>
      <p:sp>
        <p:nvSpPr>
          <p:cNvPr id="5" name="All your customers, one list circle"/>
          <p:cNvSpPr/>
          <p:nvPr/>
        </p:nvSpPr>
        <p:spPr>
          <a:xfrm>
            <a:off x="5394960" y="1463040"/>
            <a:ext cx="731520" cy="731520"/>
          </a:xfrm>
          <a:prstGeom prst="ellipse">
            <a:avLst/>
          </a:prstGeom>
          <a:solidFill>
            <a:schemeClr val="accent1"/>
          </a:solidFill>
          <a:ln/>
        </p:spPr>
      </p:sp>
      <p:pic>
        <p:nvPicPr>
          <p:cNvPr id="6" name="All your customers, one list" descr="preencoded.png">    </p:cNvPr>
          <p:cNvPicPr>
            <a:picLocks noChangeAspect="1"/>
          </p:cNvPicPr>
          <p:nvPr/>
        </p:nvPicPr>
        <p:blipFill>
          <a:blip r:embed="rId2"/>
          <a:stretch>
            <a:fillRect/>
          </a:stretch>
        </p:blipFill>
        <p:spPr>
          <a:xfrm>
            <a:off x="5577840" y="1645920"/>
            <a:ext cx="365760" cy="365760"/>
          </a:xfrm>
          <a:prstGeom prst="rect">
            <a:avLst/>
          </a:prstGeom>
        </p:spPr>
      </p:pic>
      <p:sp>
        <p:nvSpPr>
          <p:cNvPr id="7" name="Text 3"/>
          <p:cNvSpPr txBox="1"/>
          <p:nvPr/>
        </p:nvSpPr>
        <p:spPr>
          <a:xfrm>
            <a:off x="6309360" y="1444752"/>
            <a:ext cx="4937760" cy="402336"/>
          </a:xfrm>
          <a:prstGeom prst="rect">
            <a:avLst/>
          </a:prstGeom>
          <a:noFill/>
          <a:ln/>
        </p:spPr>
        <p:txBody>
          <a:bodyPr wrap="square" lIns="0" tIns="0" rIns="0" bIns="0" rtlCol="0" anchor="t"/>
          <a:lstStyle/>
          <a:p>
            <a:pPr indent="0" marL="0">
              <a:buNone/>
            </a:pPr>
            <a:r>
              <a:rPr lang="en-US" sz="2100" b="1" dirty="0">
                <a:solidFill>
                  <a:schemeClr val="tx1"/>
                </a:solidFill>
              </a:rPr>
              <a:t>All your customers, one list</a:t>
            </a:r>
            <a:endParaRPr lang="en-US" sz="2100" dirty="0"/>
          </a:p>
        </p:txBody>
      </p:sp>
      <p:sp>
        <p:nvSpPr>
          <p:cNvPr id="8" name="Text 4"/>
          <p:cNvSpPr txBox="1"/>
          <p:nvPr/>
        </p:nvSpPr>
        <p:spPr>
          <a:xfrm>
            <a:off x="6309360" y="1847088"/>
            <a:ext cx="4937760" cy="365760"/>
          </a:xfrm>
          <a:prstGeom prst="rect">
            <a:avLst/>
          </a:prstGeom>
          <a:noFill/>
          <a:ln/>
        </p:spPr>
        <p:txBody>
          <a:bodyPr wrap="square" lIns="0" tIns="0" rIns="0" bIns="0" rtlCol="0" anchor="t"/>
          <a:lstStyle/>
          <a:p>
            <a:pPr indent="0" marL="0">
              <a:buNone/>
            </a:pPr>
            <a:r>
              <a:rPr lang="en-US" sz="1600" dirty="0">
                <a:solidFill>
                  <a:schemeClr val="tx2"/>
                </a:solidFill>
              </a:rPr>
              <a:t>From every chat, order and Excel sheet</a:t>
            </a:r>
            <a:endParaRPr lang="en-US" sz="1600" dirty="0"/>
          </a:p>
        </p:txBody>
      </p:sp>
      <p:sp>
        <p:nvSpPr>
          <p:cNvPr id="9" name="Pick who gets it circle"/>
          <p:cNvSpPr/>
          <p:nvPr/>
        </p:nvSpPr>
        <p:spPr>
          <a:xfrm>
            <a:off x="5394960" y="2514600"/>
            <a:ext cx="731520" cy="731520"/>
          </a:xfrm>
          <a:prstGeom prst="ellipse">
            <a:avLst/>
          </a:prstGeom>
          <a:solidFill>
            <a:schemeClr val="accent2"/>
          </a:solidFill>
          <a:ln/>
        </p:spPr>
      </p:sp>
      <p:pic>
        <p:nvPicPr>
          <p:cNvPr id="10" name="Pick who gets it" descr="preencoded.png">    </p:cNvPr>
          <p:cNvPicPr>
            <a:picLocks noChangeAspect="1"/>
          </p:cNvPicPr>
          <p:nvPr/>
        </p:nvPicPr>
        <p:blipFill>
          <a:blip r:embed="rId3"/>
          <a:stretch>
            <a:fillRect/>
          </a:stretch>
        </p:blipFill>
        <p:spPr>
          <a:xfrm>
            <a:off x="5577840" y="2697480"/>
            <a:ext cx="365760" cy="365760"/>
          </a:xfrm>
          <a:prstGeom prst="rect">
            <a:avLst/>
          </a:prstGeom>
        </p:spPr>
      </p:pic>
      <p:sp>
        <p:nvSpPr>
          <p:cNvPr id="11" name="Text 6"/>
          <p:cNvSpPr txBox="1"/>
          <p:nvPr/>
        </p:nvSpPr>
        <p:spPr>
          <a:xfrm>
            <a:off x="6309360" y="2496312"/>
            <a:ext cx="4937760" cy="402336"/>
          </a:xfrm>
          <a:prstGeom prst="rect">
            <a:avLst/>
          </a:prstGeom>
          <a:noFill/>
          <a:ln/>
        </p:spPr>
        <p:txBody>
          <a:bodyPr wrap="square" lIns="0" tIns="0" rIns="0" bIns="0" rtlCol="0" anchor="t"/>
          <a:lstStyle/>
          <a:p>
            <a:pPr indent="0" marL="0">
              <a:buNone/>
            </a:pPr>
            <a:r>
              <a:rPr lang="en-US" sz="2100" b="1" dirty="0">
                <a:solidFill>
                  <a:schemeClr val="tx1"/>
                </a:solidFill>
              </a:rPr>
              <a:t>Pick who gets it</a:t>
            </a:r>
            <a:endParaRPr lang="en-US" sz="2100" dirty="0"/>
          </a:p>
        </p:txBody>
      </p:sp>
      <p:sp>
        <p:nvSpPr>
          <p:cNvPr id="12" name="Text 7"/>
          <p:cNvSpPr txBox="1"/>
          <p:nvPr/>
        </p:nvSpPr>
        <p:spPr>
          <a:xfrm>
            <a:off x="6309360" y="2898648"/>
            <a:ext cx="4937760" cy="365760"/>
          </a:xfrm>
          <a:prstGeom prst="rect">
            <a:avLst/>
          </a:prstGeom>
          <a:noFill/>
          <a:ln/>
        </p:spPr>
        <p:txBody>
          <a:bodyPr wrap="square" lIns="0" tIns="0" rIns="0" bIns="0" rtlCol="0" anchor="t"/>
          <a:lstStyle/>
          <a:p>
            <a:pPr indent="0" marL="0">
              <a:buNone/>
            </a:pPr>
            <a:r>
              <a:rPr lang="en-US" sz="1600" dirty="0">
                <a:solidFill>
                  <a:schemeClr val="tx2"/>
                </a:solidFill>
              </a:rPr>
              <a:t>Past buyers, city, interest, tags</a:t>
            </a:r>
            <a:endParaRPr lang="en-US" sz="1600" dirty="0"/>
          </a:p>
        </p:txBody>
      </p:sp>
      <p:sp>
        <p:nvSpPr>
          <p:cNvPr id="13" name="Photo, offer code, Shop button circle"/>
          <p:cNvSpPr/>
          <p:nvPr/>
        </p:nvSpPr>
        <p:spPr>
          <a:xfrm>
            <a:off x="5394960" y="3566160"/>
            <a:ext cx="731520" cy="731520"/>
          </a:xfrm>
          <a:prstGeom prst="ellipse">
            <a:avLst/>
          </a:prstGeom>
          <a:solidFill>
            <a:schemeClr val="accent1"/>
          </a:solidFill>
          <a:ln/>
        </p:spPr>
      </p:sp>
      <p:pic>
        <p:nvPicPr>
          <p:cNvPr id="14" name="Photo, offer code, Shop button" descr="preencoded.png">    </p:cNvPr>
          <p:cNvPicPr>
            <a:picLocks noChangeAspect="1"/>
          </p:cNvPicPr>
          <p:nvPr/>
        </p:nvPicPr>
        <p:blipFill>
          <a:blip r:embed="rId4"/>
          <a:stretch>
            <a:fillRect/>
          </a:stretch>
        </p:blipFill>
        <p:spPr>
          <a:xfrm>
            <a:off x="5577840" y="3749040"/>
            <a:ext cx="365760" cy="365760"/>
          </a:xfrm>
          <a:prstGeom prst="rect">
            <a:avLst/>
          </a:prstGeom>
        </p:spPr>
      </p:pic>
      <p:sp>
        <p:nvSpPr>
          <p:cNvPr id="15" name="Text 9"/>
          <p:cNvSpPr txBox="1"/>
          <p:nvPr/>
        </p:nvSpPr>
        <p:spPr>
          <a:xfrm>
            <a:off x="6309360" y="3547872"/>
            <a:ext cx="4937760" cy="402336"/>
          </a:xfrm>
          <a:prstGeom prst="rect">
            <a:avLst/>
          </a:prstGeom>
          <a:noFill/>
          <a:ln/>
        </p:spPr>
        <p:txBody>
          <a:bodyPr wrap="square" lIns="0" tIns="0" rIns="0" bIns="0" rtlCol="0" anchor="t"/>
          <a:lstStyle/>
          <a:p>
            <a:pPr indent="0" marL="0">
              <a:buNone/>
            </a:pPr>
            <a:r>
              <a:rPr lang="en-US" sz="2100" b="1" dirty="0">
                <a:solidFill>
                  <a:schemeClr val="tx1"/>
                </a:solidFill>
              </a:rPr>
              <a:t>Photo, offer code, Shop button</a:t>
            </a:r>
            <a:endParaRPr lang="en-US" sz="2100" dirty="0"/>
          </a:p>
        </p:txBody>
      </p:sp>
      <p:sp>
        <p:nvSpPr>
          <p:cNvPr id="16" name="Text 10"/>
          <p:cNvSpPr txBox="1"/>
          <p:nvPr/>
        </p:nvSpPr>
        <p:spPr>
          <a:xfrm>
            <a:off x="6309360" y="3950208"/>
            <a:ext cx="4937760" cy="365760"/>
          </a:xfrm>
          <a:prstGeom prst="rect">
            <a:avLst/>
          </a:prstGeom>
          <a:noFill/>
          <a:ln/>
        </p:spPr>
        <p:txBody>
          <a:bodyPr wrap="square" lIns="0" tIns="0" rIns="0" bIns="0" rtlCol="0" anchor="t"/>
          <a:lstStyle/>
          <a:p>
            <a:pPr indent="0" marL="0">
              <a:buNone/>
            </a:pPr>
            <a:r>
              <a:rPr lang="en-US" sz="1600" dirty="0">
                <a:solidFill>
                  <a:schemeClr val="tx2"/>
                </a:solidFill>
              </a:rPr>
              <a:t>They can buy straight from the message</a:t>
            </a:r>
            <a:endParaRPr lang="en-US" sz="1600" dirty="0"/>
          </a:p>
        </p:txBody>
      </p:sp>
      <p:sp>
        <p:nvSpPr>
          <p:cNvPr id="17" name="See who read and bought circle"/>
          <p:cNvSpPr/>
          <p:nvPr/>
        </p:nvSpPr>
        <p:spPr>
          <a:xfrm>
            <a:off x="5394960" y="4617720"/>
            <a:ext cx="731520" cy="731520"/>
          </a:xfrm>
          <a:prstGeom prst="ellipse">
            <a:avLst/>
          </a:prstGeom>
          <a:solidFill>
            <a:schemeClr val="accent2"/>
          </a:solidFill>
          <a:ln/>
        </p:spPr>
      </p:sp>
      <p:pic>
        <p:nvPicPr>
          <p:cNvPr id="18" name="See who read and bought" descr="preencoded.png">    </p:cNvPr>
          <p:cNvPicPr>
            <a:picLocks noChangeAspect="1"/>
          </p:cNvPicPr>
          <p:nvPr/>
        </p:nvPicPr>
        <p:blipFill>
          <a:blip r:embed="rId5"/>
          <a:stretch>
            <a:fillRect/>
          </a:stretch>
        </p:blipFill>
        <p:spPr>
          <a:xfrm>
            <a:off x="5577840" y="4800600"/>
            <a:ext cx="365760" cy="365760"/>
          </a:xfrm>
          <a:prstGeom prst="rect">
            <a:avLst/>
          </a:prstGeom>
        </p:spPr>
      </p:pic>
      <p:sp>
        <p:nvSpPr>
          <p:cNvPr id="19" name="Text 12"/>
          <p:cNvSpPr txBox="1"/>
          <p:nvPr/>
        </p:nvSpPr>
        <p:spPr>
          <a:xfrm>
            <a:off x="6309360" y="4599432"/>
            <a:ext cx="4937760" cy="402336"/>
          </a:xfrm>
          <a:prstGeom prst="rect">
            <a:avLst/>
          </a:prstGeom>
          <a:noFill/>
          <a:ln/>
        </p:spPr>
        <p:txBody>
          <a:bodyPr wrap="square" lIns="0" tIns="0" rIns="0" bIns="0" rtlCol="0" anchor="t"/>
          <a:lstStyle/>
          <a:p>
            <a:pPr indent="0" marL="0">
              <a:buNone/>
            </a:pPr>
            <a:r>
              <a:rPr lang="en-US" sz="2100" b="1" dirty="0">
                <a:solidFill>
                  <a:schemeClr val="tx1"/>
                </a:solidFill>
              </a:rPr>
              <a:t>See who read and bought</a:t>
            </a:r>
            <a:endParaRPr lang="en-US" sz="2100" dirty="0"/>
          </a:p>
        </p:txBody>
      </p:sp>
      <p:sp>
        <p:nvSpPr>
          <p:cNvPr id="20" name="Text 13"/>
          <p:cNvSpPr txBox="1"/>
          <p:nvPr/>
        </p:nvSpPr>
        <p:spPr>
          <a:xfrm>
            <a:off x="6309360" y="5001768"/>
            <a:ext cx="4937760" cy="365760"/>
          </a:xfrm>
          <a:prstGeom prst="rect">
            <a:avLst/>
          </a:prstGeom>
          <a:noFill/>
          <a:ln/>
        </p:spPr>
        <p:txBody>
          <a:bodyPr wrap="square" lIns="0" tIns="0" rIns="0" bIns="0" rtlCol="0" anchor="t"/>
          <a:lstStyle/>
          <a:p>
            <a:pPr indent="0" marL="0">
              <a:buNone/>
            </a:pPr>
            <a:r>
              <a:rPr lang="en-US" sz="1600" dirty="0">
                <a:solidFill>
                  <a:schemeClr val="tx2"/>
                </a:solidFill>
              </a:rPr>
              <a:t>Delivered, read, replied, ordered</a:t>
            </a:r>
            <a:endParaRPr lang="en-US" sz="16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Offers that bring customers back</a:t>
            </a:r>
            <a:endParaRPr lang="en-US" sz="3600" dirty="0"/>
          </a:p>
        </p:txBody>
      </p:sp>
      <p:sp>
        <p:nvSpPr>
          <p:cNvPr id="3" name="Customer list step circle"/>
          <p:cNvSpPr/>
          <p:nvPr/>
        </p:nvSpPr>
        <p:spPr>
          <a:xfrm>
            <a:off x="868680" y="1554480"/>
            <a:ext cx="822960" cy="822960"/>
          </a:xfrm>
          <a:prstGeom prst="ellipse">
            <a:avLst/>
          </a:prstGeom>
          <a:solidFill>
            <a:schemeClr val="accent1"/>
          </a:solidFill>
          <a:ln/>
        </p:spPr>
      </p:sp>
      <p:pic>
        <p:nvPicPr>
          <p:cNvPr id="4" name="Customer list step" descr="preencoded.png">    </p:cNvPr>
          <p:cNvPicPr>
            <a:picLocks noChangeAspect="1"/>
          </p:cNvPicPr>
          <p:nvPr/>
        </p:nvPicPr>
        <p:blipFill>
          <a:blip r:embed="rId1"/>
          <a:stretch>
            <a:fillRect/>
          </a:stretch>
        </p:blipFill>
        <p:spPr>
          <a:xfrm>
            <a:off x="1074420" y="1760220"/>
            <a:ext cx="411480" cy="411480"/>
          </a:xfrm>
          <a:prstGeom prst="rect">
            <a:avLst/>
          </a:prstGeom>
        </p:spPr>
      </p:pic>
      <p:sp>
        <p:nvSpPr>
          <p:cNvPr id="5" name="Text 2"/>
          <p:cNvSpPr txBox="1"/>
          <p:nvPr/>
        </p:nvSpPr>
        <p:spPr>
          <a:xfrm>
            <a:off x="548640" y="2487168"/>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Customer list</a:t>
            </a:r>
            <a:endParaRPr lang="en-US" sz="1500" dirty="0"/>
          </a:p>
        </p:txBody>
      </p:sp>
      <p:sp>
        <p:nvSpPr>
          <p:cNvPr id="6" name="flow arrow 1"/>
          <p:cNvSpPr/>
          <p:nvPr/>
        </p:nvSpPr>
        <p:spPr>
          <a:xfrm>
            <a:off x="1847088" y="1828800"/>
            <a:ext cx="292608" cy="274320"/>
          </a:xfrm>
          <a:prstGeom prst="rightArrow">
            <a:avLst/>
          </a:prstGeom>
          <a:solidFill>
            <a:srgbClr val="C9D3E6"/>
          </a:solidFill>
          <a:ln/>
        </p:spPr>
      </p:sp>
      <p:sp>
        <p:nvSpPr>
          <p:cNvPr id="7" name="Choose group step circle"/>
          <p:cNvSpPr/>
          <p:nvPr/>
        </p:nvSpPr>
        <p:spPr>
          <a:xfrm>
            <a:off x="2532888" y="1554480"/>
            <a:ext cx="822960" cy="822960"/>
          </a:xfrm>
          <a:prstGeom prst="ellipse">
            <a:avLst/>
          </a:prstGeom>
          <a:solidFill>
            <a:schemeClr val="accent1"/>
          </a:solidFill>
          <a:ln/>
        </p:spPr>
      </p:sp>
      <p:pic>
        <p:nvPicPr>
          <p:cNvPr id="8" name="Choose group step" descr="preencoded.png">    </p:cNvPr>
          <p:cNvPicPr>
            <a:picLocks noChangeAspect="1"/>
          </p:cNvPicPr>
          <p:nvPr/>
        </p:nvPicPr>
        <p:blipFill>
          <a:blip r:embed="rId2"/>
          <a:stretch>
            <a:fillRect/>
          </a:stretch>
        </p:blipFill>
        <p:spPr>
          <a:xfrm>
            <a:off x="2738628" y="1760220"/>
            <a:ext cx="411480" cy="411480"/>
          </a:xfrm>
          <a:prstGeom prst="rect">
            <a:avLst/>
          </a:prstGeom>
        </p:spPr>
      </p:pic>
      <p:sp>
        <p:nvSpPr>
          <p:cNvPr id="9" name="Text 5"/>
          <p:cNvSpPr txBox="1"/>
          <p:nvPr/>
        </p:nvSpPr>
        <p:spPr>
          <a:xfrm>
            <a:off x="2212848" y="2487168"/>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Choose group</a:t>
            </a:r>
            <a:endParaRPr lang="en-US" sz="1500" dirty="0"/>
          </a:p>
        </p:txBody>
      </p:sp>
      <p:sp>
        <p:nvSpPr>
          <p:cNvPr id="10" name="flow arrow 2"/>
          <p:cNvSpPr/>
          <p:nvPr/>
        </p:nvSpPr>
        <p:spPr>
          <a:xfrm>
            <a:off x="3511296" y="1828800"/>
            <a:ext cx="292608" cy="274320"/>
          </a:xfrm>
          <a:prstGeom prst="rightArrow">
            <a:avLst/>
          </a:prstGeom>
          <a:solidFill>
            <a:srgbClr val="C9D3E6"/>
          </a:solidFill>
          <a:ln/>
        </p:spPr>
      </p:sp>
      <p:sp>
        <p:nvSpPr>
          <p:cNvPr id="11" name="Send offer step circle"/>
          <p:cNvSpPr/>
          <p:nvPr/>
        </p:nvSpPr>
        <p:spPr>
          <a:xfrm>
            <a:off x="4197096" y="1554480"/>
            <a:ext cx="822960" cy="822960"/>
          </a:xfrm>
          <a:prstGeom prst="ellipse">
            <a:avLst/>
          </a:prstGeom>
          <a:solidFill>
            <a:schemeClr val="accent1"/>
          </a:solidFill>
          <a:ln/>
        </p:spPr>
      </p:sp>
      <p:pic>
        <p:nvPicPr>
          <p:cNvPr id="12" name="Send offer step" descr="preencoded.png">    </p:cNvPr>
          <p:cNvPicPr>
            <a:picLocks noChangeAspect="1"/>
          </p:cNvPicPr>
          <p:nvPr/>
        </p:nvPicPr>
        <p:blipFill>
          <a:blip r:embed="rId3"/>
          <a:stretch>
            <a:fillRect/>
          </a:stretch>
        </p:blipFill>
        <p:spPr>
          <a:xfrm>
            <a:off x="4402836" y="1760220"/>
            <a:ext cx="411480" cy="411480"/>
          </a:xfrm>
          <a:prstGeom prst="rect">
            <a:avLst/>
          </a:prstGeom>
        </p:spPr>
      </p:pic>
      <p:sp>
        <p:nvSpPr>
          <p:cNvPr id="13" name="Text 8"/>
          <p:cNvSpPr txBox="1"/>
          <p:nvPr/>
        </p:nvSpPr>
        <p:spPr>
          <a:xfrm>
            <a:off x="3877056" y="2487168"/>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Send offer</a:t>
            </a:r>
            <a:endParaRPr lang="en-US" sz="1500" dirty="0"/>
          </a:p>
        </p:txBody>
      </p:sp>
      <p:sp>
        <p:nvSpPr>
          <p:cNvPr id="14" name="flow arrow 3"/>
          <p:cNvSpPr/>
          <p:nvPr/>
        </p:nvSpPr>
        <p:spPr>
          <a:xfrm>
            <a:off x="5175504" y="1828800"/>
            <a:ext cx="292608" cy="274320"/>
          </a:xfrm>
          <a:prstGeom prst="rightArrow">
            <a:avLst/>
          </a:prstGeom>
          <a:solidFill>
            <a:srgbClr val="C9D3E6"/>
          </a:solidFill>
          <a:ln/>
        </p:spPr>
      </p:sp>
      <p:sp>
        <p:nvSpPr>
          <p:cNvPr id="15" name="Orders come in step circle"/>
          <p:cNvSpPr/>
          <p:nvPr/>
        </p:nvSpPr>
        <p:spPr>
          <a:xfrm>
            <a:off x="5861304" y="1554480"/>
            <a:ext cx="822960" cy="822960"/>
          </a:xfrm>
          <a:prstGeom prst="ellipse">
            <a:avLst/>
          </a:prstGeom>
          <a:solidFill>
            <a:schemeClr val="accent2"/>
          </a:solidFill>
          <a:ln/>
        </p:spPr>
      </p:sp>
      <p:pic>
        <p:nvPicPr>
          <p:cNvPr id="16" name="Orders come in step" descr="preencoded.png">    </p:cNvPr>
          <p:cNvPicPr>
            <a:picLocks noChangeAspect="1"/>
          </p:cNvPicPr>
          <p:nvPr/>
        </p:nvPicPr>
        <p:blipFill>
          <a:blip r:embed="rId4"/>
          <a:stretch>
            <a:fillRect/>
          </a:stretch>
        </p:blipFill>
        <p:spPr>
          <a:xfrm>
            <a:off x="6067044" y="1760220"/>
            <a:ext cx="411480" cy="411480"/>
          </a:xfrm>
          <a:prstGeom prst="rect">
            <a:avLst/>
          </a:prstGeom>
        </p:spPr>
      </p:pic>
      <p:sp>
        <p:nvSpPr>
          <p:cNvPr id="17" name="Text 11"/>
          <p:cNvSpPr txBox="1"/>
          <p:nvPr/>
        </p:nvSpPr>
        <p:spPr>
          <a:xfrm>
            <a:off x="5541264" y="2487168"/>
            <a:ext cx="1463040" cy="411480"/>
          </a:xfrm>
          <a:prstGeom prst="rect">
            <a:avLst/>
          </a:prstGeom>
          <a:noFill/>
          <a:ln/>
        </p:spPr>
        <p:txBody>
          <a:bodyPr wrap="square" lIns="0" tIns="0" rIns="0" bIns="0" rtlCol="0" anchor="t"/>
          <a:lstStyle/>
          <a:p>
            <a:pPr algn="ctr" indent="0" marL="0">
              <a:buNone/>
            </a:pPr>
            <a:r>
              <a:rPr lang="en-US" sz="1500" b="1" dirty="0">
                <a:solidFill>
                  <a:schemeClr val="tx1"/>
                </a:solidFill>
              </a:rPr>
              <a:t>Orders come in</a:t>
            </a:r>
            <a:endParaRPr lang="en-US" sz="1500" dirty="0"/>
          </a:p>
        </p:txBody>
      </p:sp>
      <p:sp>
        <p:nvSpPr>
          <p:cNvPr id="18" name="offer 1"/>
          <p:cNvSpPr/>
          <p:nvPr/>
        </p:nvSpPr>
        <p:spPr>
          <a:xfrm>
            <a:off x="548640" y="3200400"/>
            <a:ext cx="3154680" cy="1234440"/>
          </a:xfrm>
          <a:prstGeom prst="roundRect">
            <a:avLst>
              <a:gd name="adj" fmla="val 11852"/>
            </a:avLst>
          </a:prstGeom>
          <a:solidFill>
            <a:srgbClr val="EEF3FE"/>
          </a:solidFill>
          <a:ln/>
        </p:spPr>
      </p:sp>
      <p:sp>
        <p:nvSpPr>
          <p:cNvPr id="19" name="offer 1 icon circle"/>
          <p:cNvSpPr/>
          <p:nvPr/>
        </p:nvSpPr>
        <p:spPr>
          <a:xfrm>
            <a:off x="777240" y="3474720"/>
            <a:ext cx="685800" cy="685800"/>
          </a:xfrm>
          <a:prstGeom prst="ellipse">
            <a:avLst/>
          </a:prstGeom>
          <a:solidFill>
            <a:schemeClr val="accent1"/>
          </a:solidFill>
          <a:ln/>
        </p:spPr>
      </p:sp>
      <p:pic>
        <p:nvPicPr>
          <p:cNvPr id="20" name="offer 1 icon" descr="preencoded.png">    </p:cNvPr>
          <p:cNvPicPr>
            <a:picLocks noChangeAspect="1"/>
          </p:cNvPicPr>
          <p:nvPr/>
        </p:nvPicPr>
        <p:blipFill>
          <a:blip r:embed="rId5"/>
          <a:stretch>
            <a:fillRect/>
          </a:stretch>
        </p:blipFill>
        <p:spPr>
          <a:xfrm>
            <a:off x="948690" y="3646170"/>
            <a:ext cx="342900" cy="342900"/>
          </a:xfrm>
          <a:prstGeom prst="rect">
            <a:avLst/>
          </a:prstGeom>
        </p:spPr>
      </p:pic>
      <p:sp>
        <p:nvSpPr>
          <p:cNvPr id="21" name="Text 14"/>
          <p:cNvSpPr txBox="1"/>
          <p:nvPr/>
        </p:nvSpPr>
        <p:spPr>
          <a:xfrm>
            <a:off x="1600200" y="3401568"/>
            <a:ext cx="2011680" cy="384048"/>
          </a:xfrm>
          <a:prstGeom prst="rect">
            <a:avLst/>
          </a:prstGeom>
          <a:noFill/>
          <a:ln/>
        </p:spPr>
        <p:txBody>
          <a:bodyPr wrap="square" lIns="0" tIns="0" rIns="0" bIns="0" rtlCol="0" anchor="t"/>
          <a:lstStyle/>
          <a:p>
            <a:pPr indent="0" marL="0">
              <a:buNone/>
            </a:pPr>
            <a:r>
              <a:rPr lang="en-US" sz="1800" b="1" dirty="0">
                <a:solidFill>
                  <a:schemeClr val="tx1"/>
                </a:solidFill>
              </a:rPr>
              <a:t>Festival offers</a:t>
            </a:r>
            <a:endParaRPr lang="en-US" sz="1800" dirty="0"/>
          </a:p>
        </p:txBody>
      </p:sp>
      <p:sp>
        <p:nvSpPr>
          <p:cNvPr id="22" name="Text 15"/>
          <p:cNvSpPr txBox="1"/>
          <p:nvPr/>
        </p:nvSpPr>
        <p:spPr>
          <a:xfrm>
            <a:off x="1600200" y="3803904"/>
            <a:ext cx="2011680" cy="502920"/>
          </a:xfrm>
          <a:prstGeom prst="rect">
            <a:avLst/>
          </a:prstGeom>
          <a:noFill/>
          <a:ln/>
        </p:spPr>
        <p:txBody>
          <a:bodyPr wrap="square" lIns="0" tIns="0" rIns="0" bIns="0" rtlCol="0" anchor="t"/>
          <a:lstStyle/>
          <a:p>
            <a:pPr indent="0" marL="0">
              <a:buNone/>
            </a:pPr>
            <a:r>
              <a:rPr lang="en-US" sz="1400" dirty="0">
                <a:solidFill>
                  <a:schemeClr val="tx2"/>
                </a:solidFill>
              </a:rPr>
              <a:t>Diwali, Sankranti, Ugadi</a:t>
            </a:r>
            <a:endParaRPr lang="en-US" sz="1400" dirty="0"/>
          </a:p>
        </p:txBody>
      </p:sp>
      <p:sp>
        <p:nvSpPr>
          <p:cNvPr id="23" name="offer 2"/>
          <p:cNvSpPr/>
          <p:nvPr/>
        </p:nvSpPr>
        <p:spPr>
          <a:xfrm>
            <a:off x="3886200" y="3200400"/>
            <a:ext cx="3154680" cy="1234440"/>
          </a:xfrm>
          <a:prstGeom prst="roundRect">
            <a:avLst>
              <a:gd name="adj" fmla="val 11852"/>
            </a:avLst>
          </a:prstGeom>
          <a:solidFill>
            <a:srgbClr val="E8F7F1"/>
          </a:solidFill>
          <a:ln/>
        </p:spPr>
      </p:sp>
      <p:sp>
        <p:nvSpPr>
          <p:cNvPr id="24" name="offer 2 icon circle"/>
          <p:cNvSpPr/>
          <p:nvPr/>
        </p:nvSpPr>
        <p:spPr>
          <a:xfrm>
            <a:off x="4114800" y="3474720"/>
            <a:ext cx="685800" cy="685800"/>
          </a:xfrm>
          <a:prstGeom prst="ellipse">
            <a:avLst/>
          </a:prstGeom>
          <a:solidFill>
            <a:schemeClr val="accent2"/>
          </a:solidFill>
          <a:ln/>
        </p:spPr>
      </p:sp>
      <p:pic>
        <p:nvPicPr>
          <p:cNvPr id="25" name="offer 2 icon" descr="preencoded.png">    </p:cNvPr>
          <p:cNvPicPr>
            <a:picLocks noChangeAspect="1"/>
          </p:cNvPicPr>
          <p:nvPr/>
        </p:nvPicPr>
        <p:blipFill>
          <a:blip r:embed="rId6"/>
          <a:stretch>
            <a:fillRect/>
          </a:stretch>
        </p:blipFill>
        <p:spPr>
          <a:xfrm>
            <a:off x="4286250" y="3646170"/>
            <a:ext cx="342900" cy="342900"/>
          </a:xfrm>
          <a:prstGeom prst="rect">
            <a:avLst/>
          </a:prstGeom>
        </p:spPr>
      </p:pic>
      <p:sp>
        <p:nvSpPr>
          <p:cNvPr id="26" name="Text 18"/>
          <p:cNvSpPr txBox="1"/>
          <p:nvPr/>
        </p:nvSpPr>
        <p:spPr>
          <a:xfrm>
            <a:off x="4937760" y="3401568"/>
            <a:ext cx="2011680" cy="384048"/>
          </a:xfrm>
          <a:prstGeom prst="rect">
            <a:avLst/>
          </a:prstGeom>
          <a:noFill/>
          <a:ln/>
        </p:spPr>
        <p:txBody>
          <a:bodyPr wrap="square" lIns="0" tIns="0" rIns="0" bIns="0" rtlCol="0" anchor="t"/>
          <a:lstStyle/>
          <a:p>
            <a:pPr indent="0" marL="0">
              <a:buNone/>
            </a:pPr>
            <a:r>
              <a:rPr lang="en-US" sz="1800" b="1" dirty="0">
                <a:solidFill>
                  <a:schemeClr val="tx1"/>
                </a:solidFill>
              </a:rPr>
              <a:t>Reminders</a:t>
            </a:r>
            <a:endParaRPr lang="en-US" sz="1800" dirty="0"/>
          </a:p>
        </p:txBody>
      </p:sp>
      <p:sp>
        <p:nvSpPr>
          <p:cNvPr id="27" name="Text 19"/>
          <p:cNvSpPr txBox="1"/>
          <p:nvPr/>
        </p:nvSpPr>
        <p:spPr>
          <a:xfrm>
            <a:off x="4937760" y="3803904"/>
            <a:ext cx="2011680" cy="502920"/>
          </a:xfrm>
          <a:prstGeom prst="rect">
            <a:avLst/>
          </a:prstGeom>
          <a:noFill/>
          <a:ln/>
        </p:spPr>
        <p:txBody>
          <a:bodyPr wrap="square" lIns="0" tIns="0" rIns="0" bIns="0" rtlCol="0" anchor="t"/>
          <a:lstStyle/>
          <a:p>
            <a:pPr indent="0" marL="0">
              <a:buNone/>
            </a:pPr>
            <a:r>
              <a:rPr lang="en-US" sz="1400" dirty="0">
                <a:solidFill>
                  <a:schemeClr val="tx2"/>
                </a:solidFill>
              </a:rPr>
              <a:t>Appointments, renewals, stock back</a:t>
            </a:r>
            <a:endParaRPr lang="en-US" sz="1400" dirty="0"/>
          </a:p>
        </p:txBody>
      </p:sp>
      <p:sp>
        <p:nvSpPr>
          <p:cNvPr id="28" name="offer 3"/>
          <p:cNvSpPr/>
          <p:nvPr/>
        </p:nvSpPr>
        <p:spPr>
          <a:xfrm>
            <a:off x="548640" y="4617720"/>
            <a:ext cx="3154680" cy="1234440"/>
          </a:xfrm>
          <a:prstGeom prst="roundRect">
            <a:avLst>
              <a:gd name="adj" fmla="val 11852"/>
            </a:avLst>
          </a:prstGeom>
          <a:solidFill>
            <a:srgbClr val="EEF3FE"/>
          </a:solidFill>
          <a:ln/>
        </p:spPr>
      </p:sp>
      <p:sp>
        <p:nvSpPr>
          <p:cNvPr id="29" name="offer 3 icon circle"/>
          <p:cNvSpPr/>
          <p:nvPr/>
        </p:nvSpPr>
        <p:spPr>
          <a:xfrm>
            <a:off x="777240" y="4892040"/>
            <a:ext cx="685800" cy="685800"/>
          </a:xfrm>
          <a:prstGeom prst="ellipse">
            <a:avLst/>
          </a:prstGeom>
          <a:solidFill>
            <a:schemeClr val="accent1"/>
          </a:solidFill>
          <a:ln/>
        </p:spPr>
      </p:sp>
      <p:pic>
        <p:nvPicPr>
          <p:cNvPr id="30" name="offer 3 icon" descr="preencoded.png">    </p:cNvPr>
          <p:cNvPicPr>
            <a:picLocks noChangeAspect="1"/>
          </p:cNvPicPr>
          <p:nvPr/>
        </p:nvPicPr>
        <p:blipFill>
          <a:blip r:embed="rId7"/>
          <a:stretch>
            <a:fillRect/>
          </a:stretch>
        </p:blipFill>
        <p:spPr>
          <a:xfrm>
            <a:off x="948690" y="5063490"/>
            <a:ext cx="342900" cy="342900"/>
          </a:xfrm>
          <a:prstGeom prst="rect">
            <a:avLst/>
          </a:prstGeom>
        </p:spPr>
      </p:pic>
      <p:sp>
        <p:nvSpPr>
          <p:cNvPr id="31" name="Text 22"/>
          <p:cNvSpPr txBox="1"/>
          <p:nvPr/>
        </p:nvSpPr>
        <p:spPr>
          <a:xfrm>
            <a:off x="1600200" y="4818888"/>
            <a:ext cx="2011680" cy="384048"/>
          </a:xfrm>
          <a:prstGeom prst="rect">
            <a:avLst/>
          </a:prstGeom>
          <a:noFill/>
          <a:ln/>
        </p:spPr>
        <p:txBody>
          <a:bodyPr wrap="square" lIns="0" tIns="0" rIns="0" bIns="0" rtlCol="0" anchor="t"/>
          <a:lstStyle/>
          <a:p>
            <a:pPr indent="0" marL="0">
              <a:buNone/>
            </a:pPr>
            <a:r>
              <a:rPr lang="en-US" sz="1800" b="1" dirty="0">
                <a:solidFill>
                  <a:schemeClr val="tx1"/>
                </a:solidFill>
              </a:rPr>
              <a:t>Schedule once</a:t>
            </a:r>
            <a:endParaRPr lang="en-US" sz="1800" dirty="0"/>
          </a:p>
        </p:txBody>
      </p:sp>
      <p:sp>
        <p:nvSpPr>
          <p:cNvPr id="32" name="Text 23"/>
          <p:cNvSpPr txBox="1"/>
          <p:nvPr/>
        </p:nvSpPr>
        <p:spPr>
          <a:xfrm>
            <a:off x="1600200" y="5221224"/>
            <a:ext cx="2011680" cy="502920"/>
          </a:xfrm>
          <a:prstGeom prst="rect">
            <a:avLst/>
          </a:prstGeom>
          <a:noFill/>
          <a:ln/>
        </p:spPr>
        <p:txBody>
          <a:bodyPr wrap="square" lIns="0" tIns="0" rIns="0" bIns="0" rtlCol="0" anchor="t"/>
          <a:lstStyle/>
          <a:p>
            <a:pPr indent="0" marL="0">
              <a:buNone/>
            </a:pPr>
            <a:r>
              <a:rPr lang="en-US" sz="1400" dirty="0">
                <a:solidFill>
                  <a:schemeClr val="tx2"/>
                </a:solidFill>
              </a:rPr>
              <a:t>Sends at the right time</a:t>
            </a:r>
            <a:endParaRPr lang="en-US" sz="1400" dirty="0"/>
          </a:p>
        </p:txBody>
      </p:sp>
      <p:sp>
        <p:nvSpPr>
          <p:cNvPr id="33" name="offer 4"/>
          <p:cNvSpPr/>
          <p:nvPr/>
        </p:nvSpPr>
        <p:spPr>
          <a:xfrm>
            <a:off x="3886200" y="4617720"/>
            <a:ext cx="3154680" cy="1234440"/>
          </a:xfrm>
          <a:prstGeom prst="roundRect">
            <a:avLst>
              <a:gd name="adj" fmla="val 11852"/>
            </a:avLst>
          </a:prstGeom>
          <a:solidFill>
            <a:srgbClr val="E8F7F1"/>
          </a:solidFill>
          <a:ln/>
        </p:spPr>
      </p:sp>
      <p:sp>
        <p:nvSpPr>
          <p:cNvPr id="34" name="offer 4 icon circle"/>
          <p:cNvSpPr/>
          <p:nvPr/>
        </p:nvSpPr>
        <p:spPr>
          <a:xfrm>
            <a:off x="4114800" y="4892040"/>
            <a:ext cx="685800" cy="685800"/>
          </a:xfrm>
          <a:prstGeom prst="ellipse">
            <a:avLst/>
          </a:prstGeom>
          <a:solidFill>
            <a:schemeClr val="accent2"/>
          </a:solidFill>
          <a:ln/>
        </p:spPr>
      </p:sp>
      <p:pic>
        <p:nvPicPr>
          <p:cNvPr id="35" name="offer 4 icon" descr="preencoded.png">    </p:cNvPr>
          <p:cNvPicPr>
            <a:picLocks noChangeAspect="1"/>
          </p:cNvPicPr>
          <p:nvPr/>
        </p:nvPicPr>
        <p:blipFill>
          <a:blip r:embed="rId8"/>
          <a:stretch>
            <a:fillRect/>
          </a:stretch>
        </p:blipFill>
        <p:spPr>
          <a:xfrm>
            <a:off x="4286250" y="5063490"/>
            <a:ext cx="342900" cy="342900"/>
          </a:xfrm>
          <a:prstGeom prst="rect">
            <a:avLst/>
          </a:prstGeom>
        </p:spPr>
      </p:pic>
      <p:sp>
        <p:nvSpPr>
          <p:cNvPr id="36" name="Text 26"/>
          <p:cNvSpPr txBox="1"/>
          <p:nvPr/>
        </p:nvSpPr>
        <p:spPr>
          <a:xfrm>
            <a:off x="4937760" y="4818888"/>
            <a:ext cx="2011680" cy="384048"/>
          </a:xfrm>
          <a:prstGeom prst="rect">
            <a:avLst/>
          </a:prstGeom>
          <a:noFill/>
          <a:ln/>
        </p:spPr>
        <p:txBody>
          <a:bodyPr wrap="square" lIns="0" tIns="0" rIns="0" bIns="0" rtlCol="0" anchor="t"/>
          <a:lstStyle/>
          <a:p>
            <a:pPr indent="0" marL="0">
              <a:buNone/>
            </a:pPr>
            <a:r>
              <a:rPr lang="en-US" sz="1800" b="1" dirty="0">
                <a:solidFill>
                  <a:schemeClr val="tx1"/>
                </a:solidFill>
              </a:rPr>
              <a:t>Meta approved</a:t>
            </a:r>
            <a:endParaRPr lang="en-US" sz="1800" dirty="0"/>
          </a:p>
        </p:txBody>
      </p:sp>
      <p:sp>
        <p:nvSpPr>
          <p:cNvPr id="37" name="Text 27"/>
          <p:cNvSpPr txBox="1"/>
          <p:nvPr/>
        </p:nvSpPr>
        <p:spPr>
          <a:xfrm>
            <a:off x="4937760" y="5221224"/>
            <a:ext cx="2011680" cy="502920"/>
          </a:xfrm>
          <a:prstGeom prst="rect">
            <a:avLst/>
          </a:prstGeom>
          <a:noFill/>
          <a:ln/>
        </p:spPr>
        <p:txBody>
          <a:bodyPr wrap="square" lIns="0" tIns="0" rIns="0" bIns="0" rtlCol="0" anchor="t"/>
          <a:lstStyle/>
          <a:p>
            <a:pPr indent="0" marL="0">
              <a:buNone/>
            </a:pPr>
            <a:r>
              <a:rPr lang="en-US" sz="1400" dirty="0">
                <a:solidFill>
                  <a:schemeClr val="tx2"/>
                </a:solidFill>
              </a:rPr>
              <a:t>Your number stays safe</a:t>
            </a:r>
            <a:endParaRPr lang="en-US" sz="1400" dirty="0"/>
          </a:p>
        </p:txBody>
      </p:sp>
      <p:sp>
        <p:nvSpPr>
          <p:cNvPr id="38" name="phone halo"/>
          <p:cNvSpPr/>
          <p:nvPr/>
        </p:nvSpPr>
        <p:spPr>
          <a:xfrm>
            <a:off x="7589520" y="1234440"/>
            <a:ext cx="4206240" cy="4206240"/>
          </a:xfrm>
          <a:prstGeom prst="ellipse">
            <a:avLst/>
          </a:prstGeom>
          <a:solidFill>
            <a:srgbClr val="EEF3FE"/>
          </a:solidFill>
          <a:ln/>
        </p:spPr>
      </p:sp>
      <p:pic>
        <p:nvPicPr>
          <p:cNvPr id="39" name="offer phone" descr="/tmp/claude-0/-home-user-Marketing-CRM/cda677d3-5399-55f3-b900-902225faa9ab/scratchpad/deck/img/phone-campaign.png">    </p:cNvPr>
          <p:cNvPicPr>
            <a:picLocks noChangeAspect="1"/>
          </p:cNvPicPr>
          <p:nvPr/>
        </p:nvPicPr>
        <p:blipFill>
          <a:blip r:embed="rId9"/>
          <a:stretch>
            <a:fillRect/>
          </a:stretch>
        </p:blipFill>
        <p:spPr>
          <a:xfrm>
            <a:off x="7863840" y="1143000"/>
            <a:ext cx="2688336" cy="5120640"/>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NEW · WhatsApp Commerce chip"/>
          <p:cNvSpPr/>
          <p:nvPr/>
        </p:nvSpPr>
        <p:spPr>
          <a:xfrm>
            <a:off x="640080" y="685800"/>
            <a:ext cx="3291840" cy="438912"/>
          </a:xfrm>
          <a:prstGeom prst="roundRect">
            <a:avLst>
              <a:gd name="adj" fmla="val 50000"/>
            </a:avLst>
          </a:prstGeom>
          <a:solidFill>
            <a:schemeClr val="accent2"/>
          </a:solidFill>
          <a:ln/>
        </p:spPr>
      </p:sp>
      <p:sp>
        <p:nvSpPr>
          <p:cNvPr id="3" name="Text 1"/>
          <p:cNvSpPr txBox="1"/>
          <p:nvPr/>
        </p:nvSpPr>
        <p:spPr>
          <a:xfrm>
            <a:off x="640080" y="685800"/>
            <a:ext cx="3291840" cy="438912"/>
          </a:xfrm>
          <a:prstGeom prst="rect">
            <a:avLst/>
          </a:prstGeom>
          <a:noFill/>
          <a:ln/>
        </p:spPr>
        <p:txBody>
          <a:bodyPr wrap="square" lIns="0" tIns="0" rIns="0" bIns="0" rtlCol="0" anchor="ctr"/>
          <a:lstStyle/>
          <a:p>
            <a:pPr algn="ctr" indent="0" marL="0">
              <a:buNone/>
            </a:pPr>
            <a:r>
              <a:rPr lang="en-US" sz="1500" b="1" dirty="0">
                <a:solidFill>
                  <a:schemeClr val="bg1"/>
                </a:solidFill>
              </a:rPr>
              <a:t>NEW · WhatsApp Commerce</a:t>
            </a:r>
            <a:endParaRPr lang="en-US" sz="1500" dirty="0"/>
          </a:p>
        </p:txBody>
      </p:sp>
      <p:sp>
        <p:nvSpPr>
          <p:cNvPr id="4" name="Text 0"/>
          <p:cNvSpPr/>
          <p:nvPr>
            <p:ph idx="100" type="title" hasCustomPrompt="1"/>
          </p:nvPr>
        </p:nvSpPr>
        <p:spPr>
          <a:xfrm>
            <a:off x="640080" y="1737360"/>
            <a:ext cx="6035040" cy="1920240"/>
          </a:xfrm>
          <a:prstGeom prst="rect">
            <a:avLst/>
          </a:prstGeom>
          <a:noFill/>
          <a:ln/>
        </p:spPr>
        <p:txBody>
          <a:bodyPr wrap="square" lIns="0" tIns="0" rIns="0" bIns="0" rtlCol="0" anchor="b"/>
          <a:lstStyle/>
          <a:p>
            <a:pPr algn="l" indent="0" marL="0">
              <a:buNone/>
            </a:pPr>
            <a:r>
              <a:rPr lang="en-US" sz="4600" b="1" dirty="0">
                <a:solidFill>
                  <a:schemeClr val="bg1"/>
                </a:solidFill>
              </a:rPr>
              <a:t>Your shop, inside WhatsApp</a:t>
            </a:r>
            <a:endParaRPr lang="en-US" sz="4600" dirty="0"/>
          </a:p>
        </p:txBody>
      </p:sp>
      <p:sp>
        <p:nvSpPr>
          <p:cNvPr id="5" name="Text 0"/>
          <p:cNvSpPr/>
          <p:nvPr>
            <p:ph idx="101" type="body" hasCustomPrompt="1"/>
          </p:nvPr>
        </p:nvSpPr>
        <p:spPr>
          <a:xfrm>
            <a:off x="640080" y="3794760"/>
            <a:ext cx="6035040" cy="822960"/>
          </a:xfrm>
          <a:prstGeom prst="rect">
            <a:avLst/>
          </a:prstGeom>
          <a:noFill/>
          <a:ln/>
        </p:spPr>
        <p:txBody>
          <a:bodyPr wrap="square" lIns="0" tIns="0" rIns="0" bIns="0" rtlCol="0" anchor="t"/>
          <a:lstStyle/>
          <a:p>
            <a:pPr algn="l" indent="0" marL="0">
              <a:buNone/>
            </a:pPr>
            <a:r>
              <a:rPr lang="en-US" sz="2000" dirty="0">
                <a:solidFill>
                  <a:srgbClr val="DCE6FF"/>
                </a:solidFill>
              </a:rPr>
              <a:t>No website. No app. Customers browse, order and pay in the chat.</a:t>
            </a:r>
            <a:endParaRPr lang="en-US" sz="2000" dirty="0"/>
          </a:p>
        </p:txBody>
      </p:sp>
      <p:sp>
        <p:nvSpPr>
          <p:cNvPr id="6" name="Catalog step circle"/>
          <p:cNvSpPr/>
          <p:nvPr/>
        </p:nvSpPr>
        <p:spPr>
          <a:xfrm>
            <a:off x="749808" y="4846320"/>
            <a:ext cx="777240" cy="777240"/>
          </a:xfrm>
          <a:prstGeom prst="ellipse">
            <a:avLst/>
          </a:prstGeom>
          <a:solidFill>
            <a:schemeClr val="accent1"/>
          </a:solidFill>
          <a:ln/>
        </p:spPr>
      </p:sp>
      <p:pic>
        <p:nvPicPr>
          <p:cNvPr id="7" name="Catalog step" descr="preencoded.png">    </p:cNvPr>
          <p:cNvPicPr>
            <a:picLocks noChangeAspect="1"/>
          </p:cNvPicPr>
          <p:nvPr/>
        </p:nvPicPr>
        <p:blipFill>
          <a:blip r:embed="rId2"/>
          <a:stretch>
            <a:fillRect/>
          </a:stretch>
        </p:blipFill>
        <p:spPr>
          <a:xfrm>
            <a:off x="944118" y="5040630"/>
            <a:ext cx="388620" cy="388620"/>
          </a:xfrm>
          <a:prstGeom prst="rect">
            <a:avLst/>
          </a:prstGeom>
        </p:spPr>
      </p:pic>
      <p:sp>
        <p:nvSpPr>
          <p:cNvPr id="8" name="Text 5"/>
          <p:cNvSpPr txBox="1"/>
          <p:nvPr/>
        </p:nvSpPr>
        <p:spPr>
          <a:xfrm>
            <a:off x="548640" y="5687568"/>
            <a:ext cx="1188720" cy="365760"/>
          </a:xfrm>
          <a:prstGeom prst="rect">
            <a:avLst/>
          </a:prstGeom>
          <a:noFill/>
          <a:ln/>
        </p:spPr>
        <p:txBody>
          <a:bodyPr wrap="square" lIns="0" tIns="0" rIns="0" bIns="0" rtlCol="0" anchor="t"/>
          <a:lstStyle/>
          <a:p>
            <a:pPr algn="ctr" indent="0" marL="0">
              <a:buNone/>
            </a:pPr>
            <a:r>
              <a:rPr lang="en-US" sz="1500" b="1" dirty="0">
                <a:solidFill>
                  <a:schemeClr val="bg1"/>
                </a:solidFill>
              </a:rPr>
              <a:t>Catalog</a:t>
            </a:r>
            <a:endParaRPr lang="en-US" sz="1500" dirty="0"/>
          </a:p>
        </p:txBody>
      </p:sp>
      <p:sp>
        <p:nvSpPr>
          <p:cNvPr id="9" name="Cart step circle"/>
          <p:cNvSpPr/>
          <p:nvPr/>
        </p:nvSpPr>
        <p:spPr>
          <a:xfrm>
            <a:off x="1938528" y="4846320"/>
            <a:ext cx="777240" cy="777240"/>
          </a:xfrm>
          <a:prstGeom prst="ellipse">
            <a:avLst/>
          </a:prstGeom>
          <a:solidFill>
            <a:schemeClr val="accent2"/>
          </a:solidFill>
          <a:ln/>
        </p:spPr>
      </p:sp>
      <p:pic>
        <p:nvPicPr>
          <p:cNvPr id="10" name="Cart step" descr="preencoded.png">    </p:cNvPr>
          <p:cNvPicPr>
            <a:picLocks noChangeAspect="1"/>
          </p:cNvPicPr>
          <p:nvPr/>
        </p:nvPicPr>
        <p:blipFill>
          <a:blip r:embed="rId3"/>
          <a:stretch>
            <a:fillRect/>
          </a:stretch>
        </p:blipFill>
        <p:spPr>
          <a:xfrm>
            <a:off x="2132838" y="5040630"/>
            <a:ext cx="388620" cy="388620"/>
          </a:xfrm>
          <a:prstGeom prst="rect">
            <a:avLst/>
          </a:prstGeom>
        </p:spPr>
      </p:pic>
      <p:sp>
        <p:nvSpPr>
          <p:cNvPr id="11" name="Text 7"/>
          <p:cNvSpPr txBox="1"/>
          <p:nvPr/>
        </p:nvSpPr>
        <p:spPr>
          <a:xfrm>
            <a:off x="1737360" y="5687568"/>
            <a:ext cx="1188720" cy="365760"/>
          </a:xfrm>
          <a:prstGeom prst="rect">
            <a:avLst/>
          </a:prstGeom>
          <a:noFill/>
          <a:ln/>
        </p:spPr>
        <p:txBody>
          <a:bodyPr wrap="square" lIns="0" tIns="0" rIns="0" bIns="0" rtlCol="0" anchor="t"/>
          <a:lstStyle/>
          <a:p>
            <a:pPr algn="ctr" indent="0" marL="0">
              <a:buNone/>
            </a:pPr>
            <a:r>
              <a:rPr lang="en-US" sz="1500" b="1" dirty="0">
                <a:solidFill>
                  <a:schemeClr val="bg1"/>
                </a:solidFill>
              </a:rPr>
              <a:t>Cart</a:t>
            </a:r>
            <a:endParaRPr lang="en-US" sz="1500" dirty="0"/>
          </a:p>
        </p:txBody>
      </p:sp>
      <p:sp>
        <p:nvSpPr>
          <p:cNvPr id="12" name="Address step circle"/>
          <p:cNvSpPr/>
          <p:nvPr/>
        </p:nvSpPr>
        <p:spPr>
          <a:xfrm>
            <a:off x="3127248" y="4846320"/>
            <a:ext cx="777240" cy="777240"/>
          </a:xfrm>
          <a:prstGeom prst="ellipse">
            <a:avLst/>
          </a:prstGeom>
          <a:solidFill>
            <a:schemeClr val="accent1"/>
          </a:solidFill>
          <a:ln/>
        </p:spPr>
      </p:sp>
      <p:pic>
        <p:nvPicPr>
          <p:cNvPr id="13" name="Address step" descr="preencoded.png">    </p:cNvPr>
          <p:cNvPicPr>
            <a:picLocks noChangeAspect="1"/>
          </p:cNvPicPr>
          <p:nvPr/>
        </p:nvPicPr>
        <p:blipFill>
          <a:blip r:embed="rId4"/>
          <a:stretch>
            <a:fillRect/>
          </a:stretch>
        </p:blipFill>
        <p:spPr>
          <a:xfrm>
            <a:off x="3321558" y="5040630"/>
            <a:ext cx="388620" cy="388620"/>
          </a:xfrm>
          <a:prstGeom prst="rect">
            <a:avLst/>
          </a:prstGeom>
        </p:spPr>
      </p:pic>
      <p:sp>
        <p:nvSpPr>
          <p:cNvPr id="14" name="Text 9"/>
          <p:cNvSpPr txBox="1"/>
          <p:nvPr/>
        </p:nvSpPr>
        <p:spPr>
          <a:xfrm>
            <a:off x="2926080" y="5687568"/>
            <a:ext cx="1188720" cy="365760"/>
          </a:xfrm>
          <a:prstGeom prst="rect">
            <a:avLst/>
          </a:prstGeom>
          <a:noFill/>
          <a:ln/>
        </p:spPr>
        <p:txBody>
          <a:bodyPr wrap="square" lIns="0" tIns="0" rIns="0" bIns="0" rtlCol="0" anchor="t"/>
          <a:lstStyle/>
          <a:p>
            <a:pPr algn="ctr" indent="0" marL="0">
              <a:buNone/>
            </a:pPr>
            <a:r>
              <a:rPr lang="en-US" sz="1500" b="1" dirty="0">
                <a:solidFill>
                  <a:schemeClr val="bg1"/>
                </a:solidFill>
              </a:rPr>
              <a:t>Address</a:t>
            </a:r>
            <a:endParaRPr lang="en-US" sz="1500" dirty="0"/>
          </a:p>
        </p:txBody>
      </p:sp>
      <p:sp>
        <p:nvSpPr>
          <p:cNvPr id="15" name="Pay step circle"/>
          <p:cNvSpPr/>
          <p:nvPr/>
        </p:nvSpPr>
        <p:spPr>
          <a:xfrm>
            <a:off x="4315968" y="4846320"/>
            <a:ext cx="777240" cy="777240"/>
          </a:xfrm>
          <a:prstGeom prst="ellipse">
            <a:avLst/>
          </a:prstGeom>
          <a:solidFill>
            <a:schemeClr val="accent2"/>
          </a:solidFill>
          <a:ln/>
        </p:spPr>
      </p:sp>
      <p:pic>
        <p:nvPicPr>
          <p:cNvPr id="16" name="Pay step" descr="preencoded.png">    </p:cNvPr>
          <p:cNvPicPr>
            <a:picLocks noChangeAspect="1"/>
          </p:cNvPicPr>
          <p:nvPr/>
        </p:nvPicPr>
        <p:blipFill>
          <a:blip r:embed="rId5"/>
          <a:stretch>
            <a:fillRect/>
          </a:stretch>
        </p:blipFill>
        <p:spPr>
          <a:xfrm>
            <a:off x="4510278" y="5040630"/>
            <a:ext cx="388620" cy="388620"/>
          </a:xfrm>
          <a:prstGeom prst="rect">
            <a:avLst/>
          </a:prstGeom>
        </p:spPr>
      </p:pic>
      <p:sp>
        <p:nvSpPr>
          <p:cNvPr id="17" name="Text 11"/>
          <p:cNvSpPr txBox="1"/>
          <p:nvPr/>
        </p:nvSpPr>
        <p:spPr>
          <a:xfrm>
            <a:off x="4114800" y="5687568"/>
            <a:ext cx="1188720" cy="365760"/>
          </a:xfrm>
          <a:prstGeom prst="rect">
            <a:avLst/>
          </a:prstGeom>
          <a:noFill/>
          <a:ln/>
        </p:spPr>
        <p:txBody>
          <a:bodyPr wrap="square" lIns="0" tIns="0" rIns="0" bIns="0" rtlCol="0" anchor="t"/>
          <a:lstStyle/>
          <a:p>
            <a:pPr algn="ctr" indent="0" marL="0">
              <a:buNone/>
            </a:pPr>
            <a:r>
              <a:rPr lang="en-US" sz="1500" b="1" dirty="0">
                <a:solidFill>
                  <a:schemeClr val="bg1"/>
                </a:solidFill>
              </a:rPr>
              <a:t>Pay</a:t>
            </a:r>
            <a:endParaRPr lang="en-US" sz="1500" dirty="0"/>
          </a:p>
        </p:txBody>
      </p:sp>
      <p:sp>
        <p:nvSpPr>
          <p:cNvPr id="18" name="Delivery step circle"/>
          <p:cNvSpPr/>
          <p:nvPr/>
        </p:nvSpPr>
        <p:spPr>
          <a:xfrm>
            <a:off x="5504688" y="4846320"/>
            <a:ext cx="777240" cy="777240"/>
          </a:xfrm>
          <a:prstGeom prst="ellipse">
            <a:avLst/>
          </a:prstGeom>
          <a:solidFill>
            <a:schemeClr val="accent1"/>
          </a:solidFill>
          <a:ln/>
        </p:spPr>
      </p:sp>
      <p:pic>
        <p:nvPicPr>
          <p:cNvPr id="19" name="Delivery step" descr="preencoded.png">    </p:cNvPr>
          <p:cNvPicPr>
            <a:picLocks noChangeAspect="1"/>
          </p:cNvPicPr>
          <p:nvPr/>
        </p:nvPicPr>
        <p:blipFill>
          <a:blip r:embed="rId6"/>
          <a:stretch>
            <a:fillRect/>
          </a:stretch>
        </p:blipFill>
        <p:spPr>
          <a:xfrm>
            <a:off x="5698998" y="5040630"/>
            <a:ext cx="388620" cy="388620"/>
          </a:xfrm>
          <a:prstGeom prst="rect">
            <a:avLst/>
          </a:prstGeom>
        </p:spPr>
      </p:pic>
      <p:sp>
        <p:nvSpPr>
          <p:cNvPr id="20" name="Text 13"/>
          <p:cNvSpPr txBox="1"/>
          <p:nvPr/>
        </p:nvSpPr>
        <p:spPr>
          <a:xfrm>
            <a:off x="5303520" y="5687568"/>
            <a:ext cx="1188720" cy="365760"/>
          </a:xfrm>
          <a:prstGeom prst="rect">
            <a:avLst/>
          </a:prstGeom>
          <a:noFill/>
          <a:ln/>
        </p:spPr>
        <p:txBody>
          <a:bodyPr wrap="square" lIns="0" tIns="0" rIns="0" bIns="0" rtlCol="0" anchor="t"/>
          <a:lstStyle/>
          <a:p>
            <a:pPr algn="ctr" indent="0" marL="0">
              <a:buNone/>
            </a:pPr>
            <a:r>
              <a:rPr lang="en-US" sz="1500" b="1" dirty="0">
                <a:solidFill>
                  <a:schemeClr val="bg1"/>
                </a:solidFill>
              </a:rPr>
              <a:t>Delivery</a:t>
            </a:r>
            <a:endParaRPr lang="en-US" sz="1500" dirty="0"/>
          </a:p>
        </p:txBody>
      </p:sp>
      <p:pic>
        <p:nvPicPr>
          <p:cNvPr id="21" name="shop phone" descr="/tmp/claude-0/-home-user-Marketing-CRM/cda677d3-5399-55f3-b900-902225faa9ab/scratchpad/deck/img/phone-shop.png">    </p:cNvPr>
          <p:cNvPicPr>
            <a:picLocks noChangeAspect="1"/>
          </p:cNvPicPr>
          <p:nvPr/>
        </p:nvPicPr>
        <p:blipFill>
          <a:blip r:embed="rId7"/>
          <a:stretch>
            <a:fillRect/>
          </a:stretch>
        </p:blipFill>
        <p:spPr>
          <a:xfrm>
            <a:off x="6766560" y="457200"/>
            <a:ext cx="3168396" cy="6035040"/>
          </a:xfrm>
          <a:prstGeom prst="rect">
            <a:avLst/>
          </a:prstGeom>
        </p:spPr>
      </p:pic>
      <p:pic>
        <p:nvPicPr>
          <p:cNvPr id="22" name="payment phone" descr="/tmp/claude-0/-home-user-Marketing-CRM/cda677d3-5399-55f3-b900-902225faa9ab/scratchpad/deck/img/phone-pay.png">    </p:cNvPr>
          <p:cNvPicPr>
            <a:picLocks noChangeAspect="1"/>
          </p:cNvPicPr>
          <p:nvPr/>
        </p:nvPicPr>
        <p:blipFill>
          <a:blip r:embed="rId8"/>
          <a:stretch>
            <a:fillRect/>
          </a:stretch>
        </p:blipFill>
        <p:spPr>
          <a:xfrm>
            <a:off x="9098280" y="822960"/>
            <a:ext cx="2976372" cy="5669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Everything a WhatsApp shop needs</a:t>
            </a:r>
            <a:endParaRPr lang="en-US" sz="3600" dirty="0"/>
          </a:p>
        </p:txBody>
      </p:sp>
      <p:sp>
        <p:nvSpPr>
          <p:cNvPr id="3" name="shop tile 1"/>
          <p:cNvSpPr/>
          <p:nvPr/>
        </p:nvSpPr>
        <p:spPr>
          <a:xfrm>
            <a:off x="548640" y="1417320"/>
            <a:ext cx="3520440" cy="2148840"/>
          </a:xfrm>
          <a:prstGeom prst="roundRect">
            <a:avLst>
              <a:gd name="adj" fmla="val 6809"/>
            </a:avLst>
          </a:prstGeom>
          <a:solidFill>
            <a:srgbClr val="EEF3FE"/>
          </a:solidFill>
          <a:ln/>
        </p:spPr>
      </p:sp>
      <p:sp>
        <p:nvSpPr>
          <p:cNvPr id="4" name="shop tile 1 icon circle"/>
          <p:cNvSpPr/>
          <p:nvPr/>
        </p:nvSpPr>
        <p:spPr>
          <a:xfrm>
            <a:off x="822960" y="1737360"/>
            <a:ext cx="731520" cy="731520"/>
          </a:xfrm>
          <a:prstGeom prst="ellipse">
            <a:avLst/>
          </a:prstGeom>
          <a:solidFill>
            <a:schemeClr val="accent1"/>
          </a:solidFill>
          <a:ln/>
        </p:spPr>
      </p:sp>
      <p:pic>
        <p:nvPicPr>
          <p:cNvPr id="5" name="shop tile 1 icon"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822960" y="2606040"/>
            <a:ext cx="3017520" cy="411480"/>
          </a:xfrm>
          <a:prstGeom prst="rect">
            <a:avLst/>
          </a:prstGeom>
          <a:noFill/>
          <a:ln/>
        </p:spPr>
        <p:txBody>
          <a:bodyPr wrap="square" lIns="0" tIns="0" rIns="0" bIns="0" rtlCol="0" anchor="t"/>
          <a:lstStyle/>
          <a:p>
            <a:pPr indent="0" marL="0">
              <a:buNone/>
            </a:pPr>
            <a:r>
              <a:rPr lang="en-US" sz="2100" b="1" dirty="0">
                <a:solidFill>
                  <a:schemeClr val="tx1"/>
                </a:solidFill>
              </a:rPr>
              <a:t>Catalog sync</a:t>
            </a:r>
            <a:endParaRPr lang="en-US" sz="2100" dirty="0"/>
          </a:p>
        </p:txBody>
      </p:sp>
      <p:sp>
        <p:nvSpPr>
          <p:cNvPr id="7" name="Text 4"/>
          <p:cNvSpPr txBox="1"/>
          <p:nvPr/>
        </p:nvSpPr>
        <p:spPr>
          <a:xfrm>
            <a:off x="822960" y="3044952"/>
            <a:ext cx="3017520" cy="365760"/>
          </a:xfrm>
          <a:prstGeom prst="rect">
            <a:avLst/>
          </a:prstGeom>
          <a:noFill/>
          <a:ln/>
        </p:spPr>
        <p:txBody>
          <a:bodyPr wrap="square" lIns="0" tIns="0" rIns="0" bIns="0" rtlCol="0" anchor="t"/>
          <a:lstStyle/>
          <a:p>
            <a:pPr indent="0" marL="0">
              <a:buNone/>
            </a:pPr>
            <a:r>
              <a:rPr lang="en-US" sz="1600" dirty="0">
                <a:solidFill>
                  <a:schemeClr val="tx2"/>
                </a:solidFill>
              </a:rPr>
              <a:t>With your Meta catalog</a:t>
            </a:r>
            <a:endParaRPr lang="en-US" sz="1600" dirty="0"/>
          </a:p>
        </p:txBody>
      </p:sp>
      <p:sp>
        <p:nvSpPr>
          <p:cNvPr id="8" name="shop tile 2"/>
          <p:cNvSpPr/>
          <p:nvPr/>
        </p:nvSpPr>
        <p:spPr>
          <a:xfrm>
            <a:off x="4297680" y="1417320"/>
            <a:ext cx="3520440" cy="2148840"/>
          </a:xfrm>
          <a:prstGeom prst="roundRect">
            <a:avLst>
              <a:gd name="adj" fmla="val 6809"/>
            </a:avLst>
          </a:prstGeom>
          <a:solidFill>
            <a:srgbClr val="E8F7F1"/>
          </a:solidFill>
          <a:ln/>
        </p:spPr>
      </p:sp>
      <p:sp>
        <p:nvSpPr>
          <p:cNvPr id="9" name="shop tile 2 icon circle"/>
          <p:cNvSpPr/>
          <p:nvPr/>
        </p:nvSpPr>
        <p:spPr>
          <a:xfrm>
            <a:off x="4572000" y="1737360"/>
            <a:ext cx="731520" cy="731520"/>
          </a:xfrm>
          <a:prstGeom prst="ellipse">
            <a:avLst/>
          </a:prstGeom>
          <a:solidFill>
            <a:schemeClr val="accent2"/>
          </a:solidFill>
          <a:ln/>
        </p:spPr>
      </p:sp>
      <p:pic>
        <p:nvPicPr>
          <p:cNvPr id="10" name="shop tile 2 icon" descr="preencoded.png">    </p:cNvPr>
          <p:cNvPicPr>
            <a:picLocks noChangeAspect="1"/>
          </p:cNvPicPr>
          <p:nvPr/>
        </p:nvPicPr>
        <p:blipFill>
          <a:blip r:embed="rId2"/>
          <a:stretch>
            <a:fillRect/>
          </a:stretch>
        </p:blipFill>
        <p:spPr>
          <a:xfrm>
            <a:off x="4754880" y="1920240"/>
            <a:ext cx="365760" cy="365760"/>
          </a:xfrm>
          <a:prstGeom prst="rect">
            <a:avLst/>
          </a:prstGeom>
        </p:spPr>
      </p:pic>
      <p:sp>
        <p:nvSpPr>
          <p:cNvPr id="11" name="Text 7"/>
          <p:cNvSpPr txBox="1"/>
          <p:nvPr/>
        </p:nvSpPr>
        <p:spPr>
          <a:xfrm>
            <a:off x="4572000" y="2606040"/>
            <a:ext cx="3017520" cy="411480"/>
          </a:xfrm>
          <a:prstGeom prst="rect">
            <a:avLst/>
          </a:prstGeom>
          <a:noFill/>
          <a:ln/>
        </p:spPr>
        <p:txBody>
          <a:bodyPr wrap="square" lIns="0" tIns="0" rIns="0" bIns="0" rtlCol="0" anchor="t"/>
          <a:lstStyle/>
          <a:p>
            <a:pPr indent="0" marL="0">
              <a:buNone/>
            </a:pPr>
            <a:r>
              <a:rPr lang="en-US" sz="2100" b="1" dirty="0">
                <a:solidFill>
                  <a:schemeClr val="tx1"/>
                </a:solidFill>
              </a:rPr>
              <a:t>UPI · Cards · COD</a:t>
            </a:r>
            <a:endParaRPr lang="en-US" sz="2100" dirty="0"/>
          </a:p>
        </p:txBody>
      </p:sp>
      <p:sp>
        <p:nvSpPr>
          <p:cNvPr id="12" name="Text 8"/>
          <p:cNvSpPr txBox="1"/>
          <p:nvPr/>
        </p:nvSpPr>
        <p:spPr>
          <a:xfrm>
            <a:off x="4572000" y="3044952"/>
            <a:ext cx="3017520" cy="365760"/>
          </a:xfrm>
          <a:prstGeom prst="rect">
            <a:avLst/>
          </a:prstGeom>
          <a:noFill/>
          <a:ln/>
        </p:spPr>
        <p:txBody>
          <a:bodyPr wrap="square" lIns="0" tIns="0" rIns="0" bIns="0" rtlCol="0" anchor="t"/>
          <a:lstStyle/>
          <a:p>
            <a:pPr indent="0" marL="0">
              <a:buNone/>
            </a:pPr>
            <a:r>
              <a:rPr lang="en-US" sz="1600" dirty="0">
                <a:solidFill>
                  <a:schemeClr val="tx2"/>
                </a:solidFill>
              </a:rPr>
              <a:t>WhatsApp Pay built in</a:t>
            </a:r>
            <a:endParaRPr lang="en-US" sz="1600" dirty="0"/>
          </a:p>
        </p:txBody>
      </p:sp>
      <p:sp>
        <p:nvSpPr>
          <p:cNvPr id="13" name="shop tile 3"/>
          <p:cNvSpPr/>
          <p:nvPr/>
        </p:nvSpPr>
        <p:spPr>
          <a:xfrm>
            <a:off x="8046720" y="1417320"/>
            <a:ext cx="3520440" cy="2148840"/>
          </a:xfrm>
          <a:prstGeom prst="roundRect">
            <a:avLst>
              <a:gd name="adj" fmla="val 6809"/>
            </a:avLst>
          </a:prstGeom>
          <a:solidFill>
            <a:srgbClr val="EEF3FE"/>
          </a:solidFill>
          <a:ln/>
        </p:spPr>
      </p:sp>
      <p:sp>
        <p:nvSpPr>
          <p:cNvPr id="14" name="shop tile 3 icon circle"/>
          <p:cNvSpPr/>
          <p:nvPr/>
        </p:nvSpPr>
        <p:spPr>
          <a:xfrm>
            <a:off x="8321040" y="1737360"/>
            <a:ext cx="731520" cy="731520"/>
          </a:xfrm>
          <a:prstGeom prst="ellipse">
            <a:avLst/>
          </a:prstGeom>
          <a:solidFill>
            <a:schemeClr val="accent1"/>
          </a:solidFill>
          <a:ln/>
        </p:spPr>
      </p:sp>
      <p:pic>
        <p:nvPicPr>
          <p:cNvPr id="15" name="shop tile 3 icon" descr="preencoded.png">    </p:cNvPr>
          <p:cNvPicPr>
            <a:picLocks noChangeAspect="1"/>
          </p:cNvPicPr>
          <p:nvPr/>
        </p:nvPicPr>
        <p:blipFill>
          <a:blip r:embed="rId3"/>
          <a:stretch>
            <a:fillRect/>
          </a:stretch>
        </p:blipFill>
        <p:spPr>
          <a:xfrm>
            <a:off x="8503920" y="1920240"/>
            <a:ext cx="365760" cy="365760"/>
          </a:xfrm>
          <a:prstGeom prst="rect">
            <a:avLst/>
          </a:prstGeom>
        </p:spPr>
      </p:pic>
      <p:sp>
        <p:nvSpPr>
          <p:cNvPr id="16" name="Text 11"/>
          <p:cNvSpPr txBox="1"/>
          <p:nvPr/>
        </p:nvSpPr>
        <p:spPr>
          <a:xfrm>
            <a:off x="8321040" y="2606040"/>
            <a:ext cx="3017520" cy="411480"/>
          </a:xfrm>
          <a:prstGeom prst="rect">
            <a:avLst/>
          </a:prstGeom>
          <a:noFill/>
          <a:ln/>
        </p:spPr>
        <p:txBody>
          <a:bodyPr wrap="square" lIns="0" tIns="0" rIns="0" bIns="0" rtlCol="0" anchor="t"/>
          <a:lstStyle/>
          <a:p>
            <a:pPr indent="0" marL="0">
              <a:buNone/>
            </a:pPr>
            <a:r>
              <a:rPr lang="en-US" sz="2100" b="1" dirty="0">
                <a:solidFill>
                  <a:schemeClr val="tx1"/>
                </a:solidFill>
              </a:rPr>
              <a:t>AI shop assistant</a:t>
            </a:r>
            <a:endParaRPr lang="en-US" sz="2100" dirty="0"/>
          </a:p>
        </p:txBody>
      </p:sp>
      <p:sp>
        <p:nvSpPr>
          <p:cNvPr id="17" name="Text 12"/>
          <p:cNvSpPr txBox="1"/>
          <p:nvPr/>
        </p:nvSpPr>
        <p:spPr>
          <a:xfrm>
            <a:off x="8321040" y="3044952"/>
            <a:ext cx="3017520" cy="365760"/>
          </a:xfrm>
          <a:prstGeom prst="rect">
            <a:avLst/>
          </a:prstGeom>
          <a:noFill/>
          <a:ln/>
        </p:spPr>
        <p:txBody>
          <a:bodyPr wrap="square" lIns="0" tIns="0" rIns="0" bIns="0" rtlCol="0" anchor="t"/>
          <a:lstStyle/>
          <a:p>
            <a:pPr indent="0" marL="0">
              <a:buNone/>
            </a:pPr>
            <a:r>
              <a:rPr lang="en-US" sz="1600" dirty="0">
                <a:solidFill>
                  <a:schemeClr val="tx2"/>
                </a:solidFill>
              </a:rPr>
              <a:t>“Where is my order?”</a:t>
            </a:r>
            <a:endParaRPr lang="en-US" sz="1600" dirty="0"/>
          </a:p>
        </p:txBody>
      </p:sp>
      <p:sp>
        <p:nvSpPr>
          <p:cNvPr id="18" name="shop tile 4"/>
          <p:cNvSpPr/>
          <p:nvPr/>
        </p:nvSpPr>
        <p:spPr>
          <a:xfrm>
            <a:off x="548640" y="3794760"/>
            <a:ext cx="3520440" cy="2148840"/>
          </a:xfrm>
          <a:prstGeom prst="roundRect">
            <a:avLst>
              <a:gd name="adj" fmla="val 6809"/>
            </a:avLst>
          </a:prstGeom>
          <a:solidFill>
            <a:srgbClr val="EEF3FE"/>
          </a:solidFill>
          <a:ln/>
        </p:spPr>
      </p:sp>
      <p:sp>
        <p:nvSpPr>
          <p:cNvPr id="19" name="shop tile 4 icon circle"/>
          <p:cNvSpPr/>
          <p:nvPr/>
        </p:nvSpPr>
        <p:spPr>
          <a:xfrm>
            <a:off x="822960" y="4114800"/>
            <a:ext cx="731520" cy="731520"/>
          </a:xfrm>
          <a:prstGeom prst="ellipse">
            <a:avLst/>
          </a:prstGeom>
          <a:solidFill>
            <a:schemeClr val="accent1"/>
          </a:solidFill>
          <a:ln/>
        </p:spPr>
      </p:sp>
      <p:pic>
        <p:nvPicPr>
          <p:cNvPr id="20" name="shop tile 4 icon" descr="preencoded.png">    </p:cNvPr>
          <p:cNvPicPr>
            <a:picLocks noChangeAspect="1"/>
          </p:cNvPicPr>
          <p:nvPr/>
        </p:nvPicPr>
        <p:blipFill>
          <a:blip r:embed="rId4"/>
          <a:stretch>
            <a:fillRect/>
          </a:stretch>
        </p:blipFill>
        <p:spPr>
          <a:xfrm>
            <a:off x="1005840" y="4297680"/>
            <a:ext cx="365760" cy="365760"/>
          </a:xfrm>
          <a:prstGeom prst="rect">
            <a:avLst/>
          </a:prstGeom>
        </p:spPr>
      </p:pic>
      <p:sp>
        <p:nvSpPr>
          <p:cNvPr id="21" name="Text 15"/>
          <p:cNvSpPr txBox="1"/>
          <p:nvPr/>
        </p:nvSpPr>
        <p:spPr>
          <a:xfrm>
            <a:off x="822960" y="4983480"/>
            <a:ext cx="3017520" cy="411480"/>
          </a:xfrm>
          <a:prstGeom prst="rect">
            <a:avLst/>
          </a:prstGeom>
          <a:noFill/>
          <a:ln/>
        </p:spPr>
        <p:txBody>
          <a:bodyPr wrap="square" lIns="0" tIns="0" rIns="0" bIns="0" rtlCol="0" anchor="t"/>
          <a:lstStyle/>
          <a:p>
            <a:pPr indent="0" marL="0">
              <a:buNone/>
            </a:pPr>
            <a:r>
              <a:rPr lang="en-US" sz="2100" b="1" dirty="0">
                <a:solidFill>
                  <a:schemeClr val="tx1"/>
                </a:solidFill>
              </a:rPr>
              <a:t>Auto order updates</a:t>
            </a:r>
            <a:endParaRPr lang="en-US" sz="2100" dirty="0"/>
          </a:p>
        </p:txBody>
      </p:sp>
      <p:sp>
        <p:nvSpPr>
          <p:cNvPr id="22" name="Text 16"/>
          <p:cNvSpPr txBox="1"/>
          <p:nvPr/>
        </p:nvSpPr>
        <p:spPr>
          <a:xfrm>
            <a:off x="822960" y="5422392"/>
            <a:ext cx="3017520" cy="365760"/>
          </a:xfrm>
          <a:prstGeom prst="rect">
            <a:avLst/>
          </a:prstGeom>
          <a:noFill/>
          <a:ln/>
        </p:spPr>
        <p:txBody>
          <a:bodyPr wrap="square" lIns="0" tIns="0" rIns="0" bIns="0" rtlCol="0" anchor="t"/>
          <a:lstStyle/>
          <a:p>
            <a:pPr indent="0" marL="0">
              <a:buNone/>
            </a:pPr>
            <a:r>
              <a:rPr lang="en-US" sz="1600" dirty="0">
                <a:solidFill>
                  <a:schemeClr val="tx2"/>
                </a:solidFill>
              </a:rPr>
              <a:t>Paid, packed, shipped</a:t>
            </a:r>
            <a:endParaRPr lang="en-US" sz="1600" dirty="0"/>
          </a:p>
        </p:txBody>
      </p:sp>
      <p:sp>
        <p:nvSpPr>
          <p:cNvPr id="23" name="shop tile 5"/>
          <p:cNvSpPr/>
          <p:nvPr/>
        </p:nvSpPr>
        <p:spPr>
          <a:xfrm>
            <a:off x="4297680" y="3794760"/>
            <a:ext cx="3520440" cy="2148840"/>
          </a:xfrm>
          <a:prstGeom prst="roundRect">
            <a:avLst>
              <a:gd name="adj" fmla="val 6809"/>
            </a:avLst>
          </a:prstGeom>
          <a:solidFill>
            <a:srgbClr val="E8F7F1"/>
          </a:solidFill>
          <a:ln/>
        </p:spPr>
      </p:sp>
      <p:sp>
        <p:nvSpPr>
          <p:cNvPr id="24" name="shop tile 5 icon circle"/>
          <p:cNvSpPr/>
          <p:nvPr/>
        </p:nvSpPr>
        <p:spPr>
          <a:xfrm>
            <a:off x="4572000" y="4114800"/>
            <a:ext cx="731520" cy="731520"/>
          </a:xfrm>
          <a:prstGeom prst="ellipse">
            <a:avLst/>
          </a:prstGeom>
          <a:solidFill>
            <a:schemeClr val="accent2"/>
          </a:solidFill>
          <a:ln/>
        </p:spPr>
      </p:sp>
      <p:pic>
        <p:nvPicPr>
          <p:cNvPr id="25" name="shop tile 5 icon" descr="preencoded.png">    </p:cNvPr>
          <p:cNvPicPr>
            <a:picLocks noChangeAspect="1"/>
          </p:cNvPicPr>
          <p:nvPr/>
        </p:nvPicPr>
        <p:blipFill>
          <a:blip r:embed="rId5"/>
          <a:stretch>
            <a:fillRect/>
          </a:stretch>
        </p:blipFill>
        <p:spPr>
          <a:xfrm>
            <a:off x="4754880" y="4297680"/>
            <a:ext cx="365760" cy="365760"/>
          </a:xfrm>
          <a:prstGeom prst="rect">
            <a:avLst/>
          </a:prstGeom>
        </p:spPr>
      </p:pic>
      <p:sp>
        <p:nvSpPr>
          <p:cNvPr id="26" name="Text 19"/>
          <p:cNvSpPr txBox="1"/>
          <p:nvPr/>
        </p:nvSpPr>
        <p:spPr>
          <a:xfrm>
            <a:off x="4572000" y="4983480"/>
            <a:ext cx="3017520" cy="411480"/>
          </a:xfrm>
          <a:prstGeom prst="rect">
            <a:avLst/>
          </a:prstGeom>
          <a:noFill/>
          <a:ln/>
        </p:spPr>
        <p:txBody>
          <a:bodyPr wrap="square" lIns="0" tIns="0" rIns="0" bIns="0" rtlCol="0" anchor="t"/>
          <a:lstStyle/>
          <a:p>
            <a:pPr indent="0" marL="0">
              <a:buNone/>
            </a:pPr>
            <a:r>
              <a:rPr lang="en-US" sz="2100" b="1" dirty="0">
                <a:solidFill>
                  <a:schemeClr val="tx1"/>
                </a:solidFill>
              </a:rPr>
              <a:t>Orders in CRM</a:t>
            </a:r>
            <a:endParaRPr lang="en-US" sz="2100" dirty="0"/>
          </a:p>
        </p:txBody>
      </p:sp>
      <p:sp>
        <p:nvSpPr>
          <p:cNvPr id="27" name="Text 20"/>
          <p:cNvSpPr txBox="1"/>
          <p:nvPr/>
        </p:nvSpPr>
        <p:spPr>
          <a:xfrm>
            <a:off x="4572000" y="5422392"/>
            <a:ext cx="3017520" cy="365760"/>
          </a:xfrm>
          <a:prstGeom prst="rect">
            <a:avLst/>
          </a:prstGeom>
          <a:noFill/>
          <a:ln/>
        </p:spPr>
        <p:txBody>
          <a:bodyPr wrap="square" lIns="0" tIns="0" rIns="0" bIns="0" rtlCol="0" anchor="t"/>
          <a:lstStyle/>
          <a:p>
            <a:pPr indent="0" marL="0">
              <a:buNone/>
            </a:pPr>
            <a:r>
              <a:rPr lang="en-US" sz="1600" dirty="0">
                <a:solidFill>
                  <a:schemeClr val="tx2"/>
                </a:solidFill>
              </a:rPr>
              <a:t>Every order, one screen</a:t>
            </a:r>
            <a:endParaRPr lang="en-US" sz="1600" dirty="0"/>
          </a:p>
        </p:txBody>
      </p:sp>
      <p:sp>
        <p:nvSpPr>
          <p:cNvPr id="28" name="shop tile 6"/>
          <p:cNvSpPr/>
          <p:nvPr/>
        </p:nvSpPr>
        <p:spPr>
          <a:xfrm>
            <a:off x="8046720" y="3794760"/>
            <a:ext cx="3520440" cy="2148840"/>
          </a:xfrm>
          <a:prstGeom prst="roundRect">
            <a:avLst>
              <a:gd name="adj" fmla="val 6809"/>
            </a:avLst>
          </a:prstGeom>
          <a:solidFill>
            <a:srgbClr val="EEF3FE"/>
          </a:solidFill>
          <a:ln/>
        </p:spPr>
      </p:sp>
      <p:sp>
        <p:nvSpPr>
          <p:cNvPr id="29" name="shop tile 6 icon circle"/>
          <p:cNvSpPr/>
          <p:nvPr/>
        </p:nvSpPr>
        <p:spPr>
          <a:xfrm>
            <a:off x="8321040" y="4114800"/>
            <a:ext cx="731520" cy="731520"/>
          </a:xfrm>
          <a:prstGeom prst="ellipse">
            <a:avLst/>
          </a:prstGeom>
          <a:solidFill>
            <a:schemeClr val="accent1"/>
          </a:solidFill>
          <a:ln/>
        </p:spPr>
      </p:sp>
      <p:pic>
        <p:nvPicPr>
          <p:cNvPr id="30" name="shop tile 6 icon" descr="preencoded.png">    </p:cNvPr>
          <p:cNvPicPr>
            <a:picLocks noChangeAspect="1"/>
          </p:cNvPicPr>
          <p:nvPr/>
        </p:nvPicPr>
        <p:blipFill>
          <a:blip r:embed="rId6"/>
          <a:stretch>
            <a:fillRect/>
          </a:stretch>
        </p:blipFill>
        <p:spPr>
          <a:xfrm>
            <a:off x="8503920" y="4297680"/>
            <a:ext cx="365760" cy="365760"/>
          </a:xfrm>
          <a:prstGeom prst="rect">
            <a:avLst/>
          </a:prstGeom>
        </p:spPr>
      </p:pic>
      <p:sp>
        <p:nvSpPr>
          <p:cNvPr id="31" name="Text 23"/>
          <p:cNvSpPr txBox="1"/>
          <p:nvPr/>
        </p:nvSpPr>
        <p:spPr>
          <a:xfrm>
            <a:off x="8321040" y="4983480"/>
            <a:ext cx="3017520" cy="411480"/>
          </a:xfrm>
          <a:prstGeom prst="rect">
            <a:avLst/>
          </a:prstGeom>
          <a:noFill/>
          <a:ln/>
        </p:spPr>
        <p:txBody>
          <a:bodyPr wrap="square" lIns="0" tIns="0" rIns="0" bIns="0" rtlCol="0" anchor="t"/>
          <a:lstStyle/>
          <a:p>
            <a:pPr indent="0" marL="0">
              <a:buNone/>
            </a:pPr>
            <a:r>
              <a:rPr lang="en-US" sz="2100" b="1" dirty="0">
                <a:solidFill>
                  <a:schemeClr val="tx1"/>
                </a:solidFill>
              </a:rPr>
              <a:t>Repeat sales</a:t>
            </a:r>
            <a:endParaRPr lang="en-US" sz="2100" dirty="0"/>
          </a:p>
        </p:txBody>
      </p:sp>
      <p:sp>
        <p:nvSpPr>
          <p:cNvPr id="32" name="Text 24"/>
          <p:cNvSpPr txBox="1"/>
          <p:nvPr/>
        </p:nvSpPr>
        <p:spPr>
          <a:xfrm>
            <a:off x="8321040" y="5422392"/>
            <a:ext cx="3017520" cy="365760"/>
          </a:xfrm>
          <a:prstGeom prst="rect">
            <a:avLst/>
          </a:prstGeom>
          <a:noFill/>
          <a:ln/>
        </p:spPr>
        <p:txBody>
          <a:bodyPr wrap="square" lIns="0" tIns="0" rIns="0" bIns="0" rtlCol="0" anchor="t"/>
          <a:lstStyle/>
          <a:p>
            <a:pPr indent="0" marL="0">
              <a:buNone/>
            </a:pPr>
            <a:r>
              <a:rPr lang="en-US" sz="1600" dirty="0">
                <a:solidFill>
                  <a:schemeClr val="tx2"/>
                </a:solidFill>
              </a:rPr>
              <a:t>Thank-you and offers</a:t>
            </a:r>
            <a:endParaRPr lang="en-US" sz="16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Support that never sleeps</a:t>
            </a:r>
            <a:endParaRPr lang="en-US" sz="3600" dirty="0"/>
          </a:p>
        </p:txBody>
      </p:sp>
      <p:sp>
        <p:nvSpPr>
          <p:cNvPr id="3" name="AI answers first circle"/>
          <p:cNvSpPr/>
          <p:nvPr/>
        </p:nvSpPr>
        <p:spPr>
          <a:xfrm>
            <a:off x="548640" y="1508760"/>
            <a:ext cx="731520" cy="731520"/>
          </a:xfrm>
          <a:prstGeom prst="ellipse">
            <a:avLst/>
          </a:prstGeom>
          <a:solidFill>
            <a:schemeClr val="accent1"/>
          </a:solidFill>
          <a:ln/>
        </p:spPr>
      </p:sp>
      <p:pic>
        <p:nvPicPr>
          <p:cNvPr id="4" name="AI answers first" descr="preencoded.png">    </p:cNvPr>
          <p:cNvPicPr>
            <a:picLocks noChangeAspect="1"/>
          </p:cNvPicPr>
          <p:nvPr/>
        </p:nvPicPr>
        <p:blipFill>
          <a:blip r:embed="rId1"/>
          <a:stretch>
            <a:fillRect/>
          </a:stretch>
        </p:blipFill>
        <p:spPr>
          <a:xfrm>
            <a:off x="731520" y="1691640"/>
            <a:ext cx="365760" cy="365760"/>
          </a:xfrm>
          <a:prstGeom prst="rect">
            <a:avLst/>
          </a:prstGeom>
        </p:spPr>
      </p:pic>
      <p:sp>
        <p:nvSpPr>
          <p:cNvPr id="5" name="Text 2"/>
          <p:cNvSpPr txBox="1"/>
          <p:nvPr/>
        </p:nvSpPr>
        <p:spPr>
          <a:xfrm>
            <a:off x="1463040" y="1490472"/>
            <a:ext cx="5852160" cy="402336"/>
          </a:xfrm>
          <a:prstGeom prst="rect">
            <a:avLst/>
          </a:prstGeom>
          <a:noFill/>
          <a:ln/>
        </p:spPr>
        <p:txBody>
          <a:bodyPr wrap="square" lIns="0" tIns="0" rIns="0" bIns="0" rtlCol="0" anchor="t"/>
          <a:lstStyle/>
          <a:p>
            <a:pPr indent="0" marL="0">
              <a:buNone/>
            </a:pPr>
            <a:r>
              <a:rPr lang="en-US" sz="2100" b="1" dirty="0">
                <a:solidFill>
                  <a:schemeClr val="tx1"/>
                </a:solidFill>
              </a:rPr>
              <a:t>AI answers first</a:t>
            </a:r>
            <a:endParaRPr lang="en-US" sz="2100" dirty="0"/>
          </a:p>
        </p:txBody>
      </p:sp>
      <p:sp>
        <p:nvSpPr>
          <p:cNvPr id="6" name="Text 3"/>
          <p:cNvSpPr txBox="1"/>
          <p:nvPr/>
        </p:nvSpPr>
        <p:spPr>
          <a:xfrm>
            <a:off x="1463040" y="1892808"/>
            <a:ext cx="5852160" cy="365760"/>
          </a:xfrm>
          <a:prstGeom prst="rect">
            <a:avLst/>
          </a:prstGeom>
          <a:noFill/>
          <a:ln/>
        </p:spPr>
        <p:txBody>
          <a:bodyPr wrap="square" lIns="0" tIns="0" rIns="0" bIns="0" rtlCol="0" anchor="t"/>
          <a:lstStyle/>
          <a:p>
            <a:pPr indent="0" marL="0">
              <a:buNone/>
            </a:pPr>
            <a:r>
              <a:rPr lang="en-US" sz="1600" dirty="0">
                <a:solidFill>
                  <a:schemeClr val="tx2"/>
                </a:solidFill>
              </a:rPr>
              <a:t>24 × 7, instantly</a:t>
            </a:r>
            <a:endParaRPr lang="en-US" sz="1600" dirty="0"/>
          </a:p>
        </p:txBody>
      </p:sp>
      <p:sp>
        <p:nvSpPr>
          <p:cNvPr id="7" name="A ticket for every request circle"/>
          <p:cNvSpPr/>
          <p:nvPr/>
        </p:nvSpPr>
        <p:spPr>
          <a:xfrm>
            <a:off x="548640" y="2606040"/>
            <a:ext cx="731520" cy="731520"/>
          </a:xfrm>
          <a:prstGeom prst="ellipse">
            <a:avLst/>
          </a:prstGeom>
          <a:solidFill>
            <a:schemeClr val="accent2"/>
          </a:solidFill>
          <a:ln/>
        </p:spPr>
      </p:sp>
      <p:pic>
        <p:nvPicPr>
          <p:cNvPr id="8" name="A ticket for every request" descr="preencoded.png">    </p:cNvPr>
          <p:cNvPicPr>
            <a:picLocks noChangeAspect="1"/>
          </p:cNvPicPr>
          <p:nvPr/>
        </p:nvPicPr>
        <p:blipFill>
          <a:blip r:embed="rId2"/>
          <a:stretch>
            <a:fillRect/>
          </a:stretch>
        </p:blipFill>
        <p:spPr>
          <a:xfrm>
            <a:off x="731520" y="2788920"/>
            <a:ext cx="365760" cy="365760"/>
          </a:xfrm>
          <a:prstGeom prst="rect">
            <a:avLst/>
          </a:prstGeom>
        </p:spPr>
      </p:pic>
      <p:sp>
        <p:nvSpPr>
          <p:cNvPr id="9" name="Text 5"/>
          <p:cNvSpPr txBox="1"/>
          <p:nvPr/>
        </p:nvSpPr>
        <p:spPr>
          <a:xfrm>
            <a:off x="1463040" y="2587752"/>
            <a:ext cx="5852160" cy="402336"/>
          </a:xfrm>
          <a:prstGeom prst="rect">
            <a:avLst/>
          </a:prstGeom>
          <a:noFill/>
          <a:ln/>
        </p:spPr>
        <p:txBody>
          <a:bodyPr wrap="square" lIns="0" tIns="0" rIns="0" bIns="0" rtlCol="0" anchor="t"/>
          <a:lstStyle/>
          <a:p>
            <a:pPr indent="0" marL="0">
              <a:buNone/>
            </a:pPr>
            <a:r>
              <a:rPr lang="en-US" sz="2100" b="1" dirty="0">
                <a:solidFill>
                  <a:schemeClr val="tx1"/>
                </a:solidFill>
              </a:rPr>
              <a:t>A ticket for every request</a:t>
            </a:r>
            <a:endParaRPr lang="en-US" sz="2100" dirty="0"/>
          </a:p>
        </p:txBody>
      </p:sp>
      <p:sp>
        <p:nvSpPr>
          <p:cNvPr id="10" name="Text 6"/>
          <p:cNvSpPr txBox="1"/>
          <p:nvPr/>
        </p:nvSpPr>
        <p:spPr>
          <a:xfrm>
            <a:off x="1463040" y="2990088"/>
            <a:ext cx="5852160" cy="365760"/>
          </a:xfrm>
          <a:prstGeom prst="rect">
            <a:avLst/>
          </a:prstGeom>
          <a:noFill/>
          <a:ln/>
        </p:spPr>
        <p:txBody>
          <a:bodyPr wrap="square" lIns="0" tIns="0" rIns="0" bIns="0" rtlCol="0" anchor="t"/>
          <a:lstStyle/>
          <a:p>
            <a:pPr indent="0" marL="0">
              <a:buNone/>
            </a:pPr>
            <a:r>
              <a:rPr lang="en-US" sz="1600" dirty="0">
                <a:solidFill>
                  <a:schemeClr val="tx2"/>
                </a:solidFill>
              </a:rPr>
              <a:t>Nothing gets lost</a:t>
            </a:r>
            <a:endParaRPr lang="en-US" sz="1600" dirty="0"/>
          </a:p>
        </p:txBody>
      </p:sp>
      <p:sp>
        <p:nvSpPr>
          <p:cNvPr id="11" name="Smooth hand-over circle"/>
          <p:cNvSpPr/>
          <p:nvPr/>
        </p:nvSpPr>
        <p:spPr>
          <a:xfrm>
            <a:off x="548640" y="3703320"/>
            <a:ext cx="731520" cy="731520"/>
          </a:xfrm>
          <a:prstGeom prst="ellipse">
            <a:avLst/>
          </a:prstGeom>
          <a:solidFill>
            <a:schemeClr val="accent1"/>
          </a:solidFill>
          <a:ln/>
        </p:spPr>
      </p:sp>
      <p:pic>
        <p:nvPicPr>
          <p:cNvPr id="12" name="Smooth hand-over" descr="preencoded.png">    </p:cNvPr>
          <p:cNvPicPr>
            <a:picLocks noChangeAspect="1"/>
          </p:cNvPicPr>
          <p:nvPr/>
        </p:nvPicPr>
        <p:blipFill>
          <a:blip r:embed="rId3"/>
          <a:stretch>
            <a:fillRect/>
          </a:stretch>
        </p:blipFill>
        <p:spPr>
          <a:xfrm>
            <a:off x="731520" y="3886200"/>
            <a:ext cx="365760" cy="365760"/>
          </a:xfrm>
          <a:prstGeom prst="rect">
            <a:avLst/>
          </a:prstGeom>
        </p:spPr>
      </p:pic>
      <p:sp>
        <p:nvSpPr>
          <p:cNvPr id="13" name="Text 8"/>
          <p:cNvSpPr txBox="1"/>
          <p:nvPr/>
        </p:nvSpPr>
        <p:spPr>
          <a:xfrm>
            <a:off x="1463040" y="3685032"/>
            <a:ext cx="5852160" cy="402336"/>
          </a:xfrm>
          <a:prstGeom prst="rect">
            <a:avLst/>
          </a:prstGeom>
          <a:noFill/>
          <a:ln/>
        </p:spPr>
        <p:txBody>
          <a:bodyPr wrap="square" lIns="0" tIns="0" rIns="0" bIns="0" rtlCol="0" anchor="t"/>
          <a:lstStyle/>
          <a:p>
            <a:pPr indent="0" marL="0">
              <a:buNone/>
            </a:pPr>
            <a:r>
              <a:rPr lang="en-US" sz="2100" b="1" dirty="0">
                <a:solidFill>
                  <a:schemeClr val="tx1"/>
                </a:solidFill>
              </a:rPr>
              <a:t>Smooth hand-over</a:t>
            </a:r>
            <a:endParaRPr lang="en-US" sz="2100" dirty="0"/>
          </a:p>
        </p:txBody>
      </p:sp>
      <p:sp>
        <p:nvSpPr>
          <p:cNvPr id="14" name="Text 9"/>
          <p:cNvSpPr txBox="1"/>
          <p:nvPr/>
        </p:nvSpPr>
        <p:spPr>
          <a:xfrm>
            <a:off x="1463040" y="4087368"/>
            <a:ext cx="5852160" cy="365760"/>
          </a:xfrm>
          <a:prstGeom prst="rect">
            <a:avLst/>
          </a:prstGeom>
          <a:noFill/>
          <a:ln/>
        </p:spPr>
        <p:txBody>
          <a:bodyPr wrap="square" lIns="0" tIns="0" rIns="0" bIns="0" rtlCol="0" anchor="t"/>
          <a:lstStyle/>
          <a:p>
            <a:pPr indent="0" marL="0">
              <a:buNone/>
            </a:pPr>
            <a:r>
              <a:rPr lang="en-US" sz="1600" dirty="0">
                <a:solidFill>
                  <a:schemeClr val="tx2"/>
                </a:solidFill>
              </a:rPr>
              <a:t>To the right person</a:t>
            </a:r>
            <a:endParaRPr lang="en-US" sz="1600" dirty="0"/>
          </a:p>
        </p:txBody>
      </p:sp>
      <p:sp>
        <p:nvSpPr>
          <p:cNvPr id="15" name="Reply time limits circle"/>
          <p:cNvSpPr/>
          <p:nvPr/>
        </p:nvSpPr>
        <p:spPr>
          <a:xfrm>
            <a:off x="548640" y="4800600"/>
            <a:ext cx="731520" cy="731520"/>
          </a:xfrm>
          <a:prstGeom prst="ellipse">
            <a:avLst/>
          </a:prstGeom>
          <a:solidFill>
            <a:schemeClr val="accent2"/>
          </a:solidFill>
          <a:ln/>
        </p:spPr>
      </p:sp>
      <p:pic>
        <p:nvPicPr>
          <p:cNvPr id="16" name="Reply time limits" descr="preencoded.png">    </p:cNvPr>
          <p:cNvPicPr>
            <a:picLocks noChangeAspect="1"/>
          </p:cNvPicPr>
          <p:nvPr/>
        </p:nvPicPr>
        <p:blipFill>
          <a:blip r:embed="rId4"/>
          <a:stretch>
            <a:fillRect/>
          </a:stretch>
        </p:blipFill>
        <p:spPr>
          <a:xfrm>
            <a:off x="731520" y="4983480"/>
            <a:ext cx="365760" cy="365760"/>
          </a:xfrm>
          <a:prstGeom prst="rect">
            <a:avLst/>
          </a:prstGeom>
        </p:spPr>
      </p:pic>
      <p:sp>
        <p:nvSpPr>
          <p:cNvPr id="17" name="Text 11"/>
          <p:cNvSpPr txBox="1"/>
          <p:nvPr/>
        </p:nvSpPr>
        <p:spPr>
          <a:xfrm>
            <a:off x="1463040" y="4782312"/>
            <a:ext cx="5852160" cy="402336"/>
          </a:xfrm>
          <a:prstGeom prst="rect">
            <a:avLst/>
          </a:prstGeom>
          <a:noFill/>
          <a:ln/>
        </p:spPr>
        <p:txBody>
          <a:bodyPr wrap="square" lIns="0" tIns="0" rIns="0" bIns="0" rtlCol="0" anchor="t"/>
          <a:lstStyle/>
          <a:p>
            <a:pPr indent="0" marL="0">
              <a:buNone/>
            </a:pPr>
            <a:r>
              <a:rPr lang="en-US" sz="2100" b="1" dirty="0">
                <a:solidFill>
                  <a:schemeClr val="tx1"/>
                </a:solidFill>
              </a:rPr>
              <a:t>Reply time limits</a:t>
            </a:r>
            <a:endParaRPr lang="en-US" sz="2100" dirty="0"/>
          </a:p>
        </p:txBody>
      </p:sp>
      <p:sp>
        <p:nvSpPr>
          <p:cNvPr id="18" name="Text 12"/>
          <p:cNvSpPr txBox="1"/>
          <p:nvPr/>
        </p:nvSpPr>
        <p:spPr>
          <a:xfrm>
            <a:off x="1463040" y="5184648"/>
            <a:ext cx="5852160" cy="365760"/>
          </a:xfrm>
          <a:prstGeom prst="rect">
            <a:avLst/>
          </a:prstGeom>
          <a:noFill/>
          <a:ln/>
        </p:spPr>
        <p:txBody>
          <a:bodyPr wrap="square" lIns="0" tIns="0" rIns="0" bIns="0" rtlCol="0" anchor="t"/>
          <a:lstStyle/>
          <a:p>
            <a:pPr indent="0" marL="0">
              <a:buNone/>
            </a:pPr>
            <a:r>
              <a:rPr lang="en-US" sz="1600" dirty="0">
                <a:solidFill>
                  <a:schemeClr val="tx2"/>
                </a:solidFill>
              </a:rPr>
              <a:t>Alerts before delays</a:t>
            </a:r>
            <a:endParaRPr lang="en-US" sz="1600" dirty="0"/>
          </a:p>
        </p:txBody>
      </p:sp>
      <p:sp>
        <p:nvSpPr>
          <p:cNvPr id="19" name="phone halo"/>
          <p:cNvSpPr/>
          <p:nvPr/>
        </p:nvSpPr>
        <p:spPr>
          <a:xfrm>
            <a:off x="7589520" y="1234440"/>
            <a:ext cx="4206240" cy="4206240"/>
          </a:xfrm>
          <a:prstGeom prst="ellipse">
            <a:avLst/>
          </a:prstGeom>
          <a:solidFill>
            <a:srgbClr val="E8F7F1"/>
          </a:solidFill>
          <a:ln/>
        </p:spPr>
      </p:sp>
      <p:pic>
        <p:nvPicPr>
          <p:cNvPr id="20" name="support phone" descr="/tmp/claude-0/-home-user-Marketing-CRM/cda677d3-5399-55f3-b900-902225faa9ab/scratchpad/deck/img/phone-support.png">    </p:cNvPr>
          <p:cNvPicPr>
            <a:picLocks noChangeAspect="1"/>
          </p:cNvPicPr>
          <p:nvPr/>
        </p:nvPicPr>
        <p:blipFill>
          <a:blip r:embed="rId5"/>
          <a:stretch>
            <a:fillRect/>
          </a:stretch>
        </p:blipFill>
        <p:spPr>
          <a:xfrm>
            <a:off x="7863840" y="1143000"/>
            <a:ext cx="2688336" cy="5120640"/>
          </a:xfrm>
          <a:prstGeom prst="rect">
            <a:avLst/>
          </a:prstGeom>
        </p:spPr>
      </p:pic>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Before vs. after WAMA CRM</a:t>
            </a:r>
            <a:endParaRPr lang="en-US" sz="3600" dirty="0"/>
          </a:p>
        </p:txBody>
      </p:sp>
      <p:sp>
        <p:nvSpPr>
          <p:cNvPr id="3" name="before column"/>
          <p:cNvSpPr/>
          <p:nvPr/>
        </p:nvSpPr>
        <p:spPr>
          <a:xfrm>
            <a:off x="548640" y="1417320"/>
            <a:ext cx="5349240" cy="4617720"/>
          </a:xfrm>
          <a:prstGeom prst="roundRect">
            <a:avLst>
              <a:gd name="adj" fmla="val 3168"/>
            </a:avLst>
          </a:prstGeom>
          <a:solidFill>
            <a:schemeClr val="bg2"/>
          </a:solidFill>
          <a:ln/>
        </p:spPr>
      </p:sp>
      <p:sp>
        <p:nvSpPr>
          <p:cNvPr id="4" name="after column"/>
          <p:cNvSpPr/>
          <p:nvPr/>
        </p:nvSpPr>
        <p:spPr>
          <a:xfrm>
            <a:off x="6263640" y="1417320"/>
            <a:ext cx="5349240" cy="4617720"/>
          </a:xfrm>
          <a:prstGeom prst="roundRect">
            <a:avLst>
              <a:gd name="adj" fmla="val 3168"/>
            </a:avLst>
          </a:prstGeom>
          <a:solidFill>
            <a:srgbClr val="E8F7F1"/>
          </a:solidFill>
          <a:ln/>
        </p:spPr>
      </p:sp>
      <p:sp>
        <p:nvSpPr>
          <p:cNvPr id="5" name="Text 3"/>
          <p:cNvSpPr txBox="1"/>
          <p:nvPr/>
        </p:nvSpPr>
        <p:spPr>
          <a:xfrm>
            <a:off x="914400" y="1645920"/>
            <a:ext cx="4572000" cy="548640"/>
          </a:xfrm>
          <a:prstGeom prst="rect">
            <a:avLst/>
          </a:prstGeom>
          <a:noFill/>
          <a:ln/>
        </p:spPr>
        <p:txBody>
          <a:bodyPr wrap="square" lIns="0" tIns="0" rIns="0" bIns="0" rtlCol="0" anchor="t"/>
          <a:lstStyle/>
          <a:p>
            <a:pPr indent="0" marL="0">
              <a:buNone/>
            </a:pPr>
            <a:r>
              <a:rPr lang="en-US" sz="2600" b="1" dirty="0">
                <a:solidFill>
                  <a:schemeClr val="tx2"/>
                </a:solidFill>
              </a:rPr>
              <a:t>Before</a:t>
            </a:r>
            <a:endParaRPr lang="en-US" sz="2600" dirty="0"/>
          </a:p>
        </p:txBody>
      </p:sp>
      <p:sp>
        <p:nvSpPr>
          <p:cNvPr id="6" name="Text 4"/>
          <p:cNvSpPr txBox="1"/>
          <p:nvPr/>
        </p:nvSpPr>
        <p:spPr>
          <a:xfrm>
            <a:off x="6629400" y="1645920"/>
            <a:ext cx="4572000" cy="548640"/>
          </a:xfrm>
          <a:prstGeom prst="rect">
            <a:avLst/>
          </a:prstGeom>
          <a:noFill/>
          <a:ln/>
        </p:spPr>
        <p:txBody>
          <a:bodyPr wrap="square" lIns="0" tIns="0" rIns="0" bIns="0" rtlCol="0" anchor="t"/>
          <a:lstStyle/>
          <a:p>
            <a:pPr indent="0" marL="0">
              <a:buNone/>
            </a:pPr>
            <a:r>
              <a:rPr lang="en-US" sz="2600" b="1" dirty="0">
                <a:solidFill>
                  <a:schemeClr val="accent2"/>
                </a:solidFill>
              </a:rPr>
              <a:t>With WAMA CRM</a:t>
            </a:r>
            <a:endParaRPr lang="en-US" sz="2600" dirty="0"/>
          </a:p>
        </p:txBody>
      </p:sp>
      <p:sp>
        <p:nvSpPr>
          <p:cNvPr id="7" name="before 1 circle"/>
          <p:cNvSpPr/>
          <p:nvPr/>
        </p:nvSpPr>
        <p:spPr>
          <a:xfrm>
            <a:off x="914400" y="2395728"/>
            <a:ext cx="457200" cy="457200"/>
          </a:xfrm>
          <a:prstGeom prst="ellipse">
            <a:avLst/>
          </a:prstGeom>
          <a:solidFill>
            <a:srgbClr val="B8C0D0"/>
          </a:solidFill>
          <a:ln/>
        </p:spPr>
      </p:sp>
      <p:pic>
        <p:nvPicPr>
          <p:cNvPr id="8" name="before 1" descr="preencoded.png">    </p:cNvPr>
          <p:cNvPicPr>
            <a:picLocks noChangeAspect="1"/>
          </p:cNvPicPr>
          <p:nvPr/>
        </p:nvPicPr>
        <p:blipFill>
          <a:blip r:embed="rId1"/>
          <a:stretch>
            <a:fillRect/>
          </a:stretch>
        </p:blipFill>
        <p:spPr>
          <a:xfrm>
            <a:off x="1028700" y="2510028"/>
            <a:ext cx="228600" cy="228600"/>
          </a:xfrm>
          <a:prstGeom prst="rect">
            <a:avLst/>
          </a:prstGeom>
        </p:spPr>
      </p:pic>
      <p:sp>
        <p:nvSpPr>
          <p:cNvPr id="9" name="Text 6"/>
          <p:cNvSpPr txBox="1"/>
          <p:nvPr/>
        </p:nvSpPr>
        <p:spPr>
          <a:xfrm>
            <a:off x="1554480" y="2395728"/>
            <a:ext cx="4206240" cy="457200"/>
          </a:xfrm>
          <a:prstGeom prst="rect">
            <a:avLst/>
          </a:prstGeom>
          <a:noFill/>
          <a:ln/>
        </p:spPr>
        <p:txBody>
          <a:bodyPr wrap="square" lIns="0" tIns="0" rIns="0" bIns="0" rtlCol="0" anchor="ctr"/>
          <a:lstStyle/>
          <a:p>
            <a:pPr indent="0" marL="0">
              <a:buNone/>
            </a:pPr>
            <a:r>
              <a:rPr lang="en-US" sz="1900" dirty="0">
                <a:solidFill>
                  <a:schemeClr val="tx2"/>
                </a:solidFill>
              </a:rPr>
              <a:t>Reply next day</a:t>
            </a:r>
            <a:endParaRPr lang="en-US" sz="1900" dirty="0"/>
          </a:p>
        </p:txBody>
      </p:sp>
      <p:sp>
        <p:nvSpPr>
          <p:cNvPr id="10" name="before 2 circle"/>
          <p:cNvSpPr/>
          <p:nvPr/>
        </p:nvSpPr>
        <p:spPr>
          <a:xfrm>
            <a:off x="914400" y="3108960"/>
            <a:ext cx="457200" cy="457200"/>
          </a:xfrm>
          <a:prstGeom prst="ellipse">
            <a:avLst/>
          </a:prstGeom>
          <a:solidFill>
            <a:srgbClr val="B8C0D0"/>
          </a:solidFill>
          <a:ln/>
        </p:spPr>
      </p:sp>
      <p:pic>
        <p:nvPicPr>
          <p:cNvPr id="11" name="before 2" descr="preencoded.png">    </p:cNvPr>
          <p:cNvPicPr>
            <a:picLocks noChangeAspect="1"/>
          </p:cNvPicPr>
          <p:nvPr/>
        </p:nvPicPr>
        <p:blipFill>
          <a:blip r:embed="rId2"/>
          <a:stretch>
            <a:fillRect/>
          </a:stretch>
        </p:blipFill>
        <p:spPr>
          <a:xfrm>
            <a:off x="1028700" y="3223260"/>
            <a:ext cx="228600" cy="228600"/>
          </a:xfrm>
          <a:prstGeom prst="rect">
            <a:avLst/>
          </a:prstGeom>
        </p:spPr>
      </p:pic>
      <p:sp>
        <p:nvSpPr>
          <p:cNvPr id="12" name="Text 8"/>
          <p:cNvSpPr txBox="1"/>
          <p:nvPr/>
        </p:nvSpPr>
        <p:spPr>
          <a:xfrm>
            <a:off x="1554480" y="3108960"/>
            <a:ext cx="4206240" cy="457200"/>
          </a:xfrm>
          <a:prstGeom prst="rect">
            <a:avLst/>
          </a:prstGeom>
          <a:noFill/>
          <a:ln/>
        </p:spPr>
        <p:txBody>
          <a:bodyPr wrap="square" lIns="0" tIns="0" rIns="0" bIns="0" rtlCol="0" anchor="ctr"/>
          <a:lstStyle/>
          <a:p>
            <a:pPr indent="0" marL="0">
              <a:buNone/>
            </a:pPr>
            <a:r>
              <a:rPr lang="en-US" sz="1900" dirty="0">
                <a:solidFill>
                  <a:schemeClr val="tx2"/>
                </a:solidFill>
              </a:rPr>
              <a:t>Leads in staff phones</a:t>
            </a:r>
            <a:endParaRPr lang="en-US" sz="1900" dirty="0"/>
          </a:p>
        </p:txBody>
      </p:sp>
      <p:sp>
        <p:nvSpPr>
          <p:cNvPr id="13" name="before 3 circle"/>
          <p:cNvSpPr/>
          <p:nvPr/>
        </p:nvSpPr>
        <p:spPr>
          <a:xfrm>
            <a:off x="914400" y="3822192"/>
            <a:ext cx="457200" cy="457200"/>
          </a:xfrm>
          <a:prstGeom prst="ellipse">
            <a:avLst/>
          </a:prstGeom>
          <a:solidFill>
            <a:srgbClr val="B8C0D0"/>
          </a:solidFill>
          <a:ln/>
        </p:spPr>
      </p:sp>
      <p:pic>
        <p:nvPicPr>
          <p:cNvPr id="14" name="before 3" descr="preencoded.png">    </p:cNvPr>
          <p:cNvPicPr>
            <a:picLocks noChangeAspect="1"/>
          </p:cNvPicPr>
          <p:nvPr/>
        </p:nvPicPr>
        <p:blipFill>
          <a:blip r:embed="rId3"/>
          <a:stretch>
            <a:fillRect/>
          </a:stretch>
        </p:blipFill>
        <p:spPr>
          <a:xfrm>
            <a:off x="1028700" y="3936492"/>
            <a:ext cx="228600" cy="228600"/>
          </a:xfrm>
          <a:prstGeom prst="rect">
            <a:avLst/>
          </a:prstGeom>
        </p:spPr>
      </p:pic>
      <p:sp>
        <p:nvSpPr>
          <p:cNvPr id="15" name="Text 10"/>
          <p:cNvSpPr txBox="1"/>
          <p:nvPr/>
        </p:nvSpPr>
        <p:spPr>
          <a:xfrm>
            <a:off x="1554480" y="3822192"/>
            <a:ext cx="4206240" cy="457200"/>
          </a:xfrm>
          <a:prstGeom prst="rect">
            <a:avLst/>
          </a:prstGeom>
          <a:noFill/>
          <a:ln/>
        </p:spPr>
        <p:txBody>
          <a:bodyPr wrap="square" lIns="0" tIns="0" rIns="0" bIns="0" rtlCol="0" anchor="ctr"/>
          <a:lstStyle/>
          <a:p>
            <a:pPr indent="0" marL="0">
              <a:buNone/>
            </a:pPr>
            <a:r>
              <a:rPr lang="en-US" sz="1900" dirty="0">
                <a:solidFill>
                  <a:schemeClr val="tx2"/>
                </a:solidFill>
              </a:rPr>
              <a:t>Launches reach a few people</a:t>
            </a:r>
            <a:endParaRPr lang="en-US" sz="1900" dirty="0"/>
          </a:p>
        </p:txBody>
      </p:sp>
      <p:sp>
        <p:nvSpPr>
          <p:cNvPr id="16" name="before 4 circle"/>
          <p:cNvSpPr/>
          <p:nvPr/>
        </p:nvSpPr>
        <p:spPr>
          <a:xfrm>
            <a:off x="914400" y="4535424"/>
            <a:ext cx="457200" cy="457200"/>
          </a:xfrm>
          <a:prstGeom prst="ellipse">
            <a:avLst/>
          </a:prstGeom>
          <a:solidFill>
            <a:srgbClr val="B8C0D0"/>
          </a:solidFill>
          <a:ln/>
        </p:spPr>
      </p:sp>
      <p:pic>
        <p:nvPicPr>
          <p:cNvPr id="17" name="before 4" descr="preencoded.png">    </p:cNvPr>
          <p:cNvPicPr>
            <a:picLocks noChangeAspect="1"/>
          </p:cNvPicPr>
          <p:nvPr/>
        </p:nvPicPr>
        <p:blipFill>
          <a:blip r:embed="rId4"/>
          <a:stretch>
            <a:fillRect/>
          </a:stretch>
        </p:blipFill>
        <p:spPr>
          <a:xfrm>
            <a:off x="1028700" y="4649724"/>
            <a:ext cx="228600" cy="228600"/>
          </a:xfrm>
          <a:prstGeom prst="rect">
            <a:avLst/>
          </a:prstGeom>
        </p:spPr>
      </p:pic>
      <p:sp>
        <p:nvSpPr>
          <p:cNvPr id="18" name="Text 12"/>
          <p:cNvSpPr txBox="1"/>
          <p:nvPr/>
        </p:nvSpPr>
        <p:spPr>
          <a:xfrm>
            <a:off x="1554480" y="4535424"/>
            <a:ext cx="4206240" cy="457200"/>
          </a:xfrm>
          <a:prstGeom prst="rect">
            <a:avLst/>
          </a:prstGeom>
          <a:noFill/>
          <a:ln/>
        </p:spPr>
        <p:txBody>
          <a:bodyPr wrap="square" lIns="0" tIns="0" rIns="0" bIns="0" rtlCol="0" anchor="ctr"/>
          <a:lstStyle/>
          <a:p>
            <a:pPr indent="0" marL="0">
              <a:buNone/>
            </a:pPr>
            <a:r>
              <a:rPr lang="en-US" sz="1900" dirty="0">
                <a:solidFill>
                  <a:schemeClr val="tx2"/>
                </a:solidFill>
              </a:rPr>
              <a:t>Customers call to order</a:t>
            </a:r>
            <a:endParaRPr lang="en-US" sz="1900" dirty="0"/>
          </a:p>
        </p:txBody>
      </p:sp>
      <p:sp>
        <p:nvSpPr>
          <p:cNvPr id="19" name="before 5 circle"/>
          <p:cNvSpPr/>
          <p:nvPr/>
        </p:nvSpPr>
        <p:spPr>
          <a:xfrm>
            <a:off x="914400" y="5248656"/>
            <a:ext cx="457200" cy="457200"/>
          </a:xfrm>
          <a:prstGeom prst="ellipse">
            <a:avLst/>
          </a:prstGeom>
          <a:solidFill>
            <a:srgbClr val="B8C0D0"/>
          </a:solidFill>
          <a:ln/>
        </p:spPr>
      </p:sp>
      <p:pic>
        <p:nvPicPr>
          <p:cNvPr id="20" name="before 5" descr="preencoded.png">    </p:cNvPr>
          <p:cNvPicPr>
            <a:picLocks noChangeAspect="1"/>
          </p:cNvPicPr>
          <p:nvPr/>
        </p:nvPicPr>
        <p:blipFill>
          <a:blip r:embed="rId5"/>
          <a:stretch>
            <a:fillRect/>
          </a:stretch>
        </p:blipFill>
        <p:spPr>
          <a:xfrm>
            <a:off x="1028700" y="5362956"/>
            <a:ext cx="228600" cy="228600"/>
          </a:xfrm>
          <a:prstGeom prst="rect">
            <a:avLst/>
          </a:prstGeom>
        </p:spPr>
      </p:pic>
      <p:sp>
        <p:nvSpPr>
          <p:cNvPr id="21" name="Text 14"/>
          <p:cNvSpPr txBox="1"/>
          <p:nvPr/>
        </p:nvSpPr>
        <p:spPr>
          <a:xfrm>
            <a:off x="1554480" y="5248656"/>
            <a:ext cx="4206240" cy="457200"/>
          </a:xfrm>
          <a:prstGeom prst="rect">
            <a:avLst/>
          </a:prstGeom>
          <a:noFill/>
          <a:ln/>
        </p:spPr>
        <p:txBody>
          <a:bodyPr wrap="square" lIns="0" tIns="0" rIns="0" bIns="0" rtlCol="0" anchor="ctr"/>
          <a:lstStyle/>
          <a:p>
            <a:pPr indent="0" marL="0">
              <a:buNone/>
            </a:pPr>
            <a:r>
              <a:rPr lang="en-US" sz="1900" dirty="0">
                <a:solidFill>
                  <a:schemeClr val="tx2"/>
                </a:solidFill>
              </a:rPr>
              <a:t>Guess what works</a:t>
            </a:r>
            <a:endParaRPr lang="en-US" sz="1900" dirty="0"/>
          </a:p>
        </p:txBody>
      </p:sp>
      <p:sp>
        <p:nvSpPr>
          <p:cNvPr id="22" name="after 1 circle"/>
          <p:cNvSpPr/>
          <p:nvPr/>
        </p:nvSpPr>
        <p:spPr>
          <a:xfrm>
            <a:off x="6629400" y="2395728"/>
            <a:ext cx="457200" cy="457200"/>
          </a:xfrm>
          <a:prstGeom prst="ellipse">
            <a:avLst/>
          </a:prstGeom>
          <a:solidFill>
            <a:schemeClr val="accent2"/>
          </a:solidFill>
          <a:ln/>
        </p:spPr>
      </p:sp>
      <p:pic>
        <p:nvPicPr>
          <p:cNvPr id="23" name="after 1" descr="preencoded.png">    </p:cNvPr>
          <p:cNvPicPr>
            <a:picLocks noChangeAspect="1"/>
          </p:cNvPicPr>
          <p:nvPr/>
        </p:nvPicPr>
        <p:blipFill>
          <a:blip r:embed="rId6"/>
          <a:stretch>
            <a:fillRect/>
          </a:stretch>
        </p:blipFill>
        <p:spPr>
          <a:xfrm>
            <a:off x="6743700" y="2510028"/>
            <a:ext cx="228600" cy="228600"/>
          </a:xfrm>
          <a:prstGeom prst="rect">
            <a:avLst/>
          </a:prstGeom>
        </p:spPr>
      </p:pic>
      <p:sp>
        <p:nvSpPr>
          <p:cNvPr id="24" name="Text 16"/>
          <p:cNvSpPr txBox="1"/>
          <p:nvPr/>
        </p:nvSpPr>
        <p:spPr>
          <a:xfrm>
            <a:off x="7269480" y="2395728"/>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Reply in seconds</a:t>
            </a:r>
            <a:endParaRPr lang="en-US" sz="1900" dirty="0"/>
          </a:p>
        </p:txBody>
      </p:sp>
      <p:sp>
        <p:nvSpPr>
          <p:cNvPr id="25" name="after 2 circle"/>
          <p:cNvSpPr/>
          <p:nvPr/>
        </p:nvSpPr>
        <p:spPr>
          <a:xfrm>
            <a:off x="6629400" y="3108960"/>
            <a:ext cx="457200" cy="457200"/>
          </a:xfrm>
          <a:prstGeom prst="ellipse">
            <a:avLst/>
          </a:prstGeom>
          <a:solidFill>
            <a:schemeClr val="accent2"/>
          </a:solidFill>
          <a:ln/>
        </p:spPr>
      </p:sp>
      <p:pic>
        <p:nvPicPr>
          <p:cNvPr id="26" name="after 2" descr="preencoded.png">    </p:cNvPr>
          <p:cNvPicPr>
            <a:picLocks noChangeAspect="1"/>
          </p:cNvPicPr>
          <p:nvPr/>
        </p:nvPicPr>
        <p:blipFill>
          <a:blip r:embed="rId7"/>
          <a:stretch>
            <a:fillRect/>
          </a:stretch>
        </p:blipFill>
        <p:spPr>
          <a:xfrm>
            <a:off x="6743700" y="3223260"/>
            <a:ext cx="228600" cy="228600"/>
          </a:xfrm>
          <a:prstGeom prst="rect">
            <a:avLst/>
          </a:prstGeom>
        </p:spPr>
      </p:pic>
      <p:sp>
        <p:nvSpPr>
          <p:cNvPr id="27" name="Text 18"/>
          <p:cNvSpPr txBox="1"/>
          <p:nvPr/>
        </p:nvSpPr>
        <p:spPr>
          <a:xfrm>
            <a:off x="7269480" y="3108960"/>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Every lead in CRM</a:t>
            </a:r>
            <a:endParaRPr lang="en-US" sz="1900" dirty="0"/>
          </a:p>
        </p:txBody>
      </p:sp>
      <p:sp>
        <p:nvSpPr>
          <p:cNvPr id="28" name="after 3 circle"/>
          <p:cNvSpPr/>
          <p:nvPr/>
        </p:nvSpPr>
        <p:spPr>
          <a:xfrm>
            <a:off x="6629400" y="3822192"/>
            <a:ext cx="457200" cy="457200"/>
          </a:xfrm>
          <a:prstGeom prst="ellipse">
            <a:avLst/>
          </a:prstGeom>
          <a:solidFill>
            <a:schemeClr val="accent2"/>
          </a:solidFill>
          <a:ln/>
        </p:spPr>
      </p:sp>
      <p:pic>
        <p:nvPicPr>
          <p:cNvPr id="29" name="after 3" descr="preencoded.png">    </p:cNvPr>
          <p:cNvPicPr>
            <a:picLocks noChangeAspect="1"/>
          </p:cNvPicPr>
          <p:nvPr/>
        </p:nvPicPr>
        <p:blipFill>
          <a:blip r:embed="rId8"/>
          <a:stretch>
            <a:fillRect/>
          </a:stretch>
        </p:blipFill>
        <p:spPr>
          <a:xfrm>
            <a:off x="6743700" y="3936492"/>
            <a:ext cx="228600" cy="228600"/>
          </a:xfrm>
          <a:prstGeom prst="rect">
            <a:avLst/>
          </a:prstGeom>
        </p:spPr>
      </p:pic>
      <p:sp>
        <p:nvSpPr>
          <p:cNvPr id="30" name="Text 20"/>
          <p:cNvSpPr txBox="1"/>
          <p:nvPr/>
        </p:nvSpPr>
        <p:spPr>
          <a:xfrm>
            <a:off x="7269480" y="3822192"/>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Launches reach every customer</a:t>
            </a:r>
            <a:endParaRPr lang="en-US" sz="1900" dirty="0"/>
          </a:p>
        </p:txBody>
      </p:sp>
      <p:sp>
        <p:nvSpPr>
          <p:cNvPr id="31" name="after 4 circle"/>
          <p:cNvSpPr/>
          <p:nvPr/>
        </p:nvSpPr>
        <p:spPr>
          <a:xfrm>
            <a:off x="6629400" y="4535424"/>
            <a:ext cx="457200" cy="457200"/>
          </a:xfrm>
          <a:prstGeom prst="ellipse">
            <a:avLst/>
          </a:prstGeom>
          <a:solidFill>
            <a:schemeClr val="accent2"/>
          </a:solidFill>
          <a:ln/>
        </p:spPr>
      </p:sp>
      <p:pic>
        <p:nvPicPr>
          <p:cNvPr id="32" name="after 4" descr="preencoded.png">    </p:cNvPr>
          <p:cNvPicPr>
            <a:picLocks noChangeAspect="1"/>
          </p:cNvPicPr>
          <p:nvPr/>
        </p:nvPicPr>
        <p:blipFill>
          <a:blip r:embed="rId9"/>
          <a:stretch>
            <a:fillRect/>
          </a:stretch>
        </p:blipFill>
        <p:spPr>
          <a:xfrm>
            <a:off x="6743700" y="4649724"/>
            <a:ext cx="228600" cy="228600"/>
          </a:xfrm>
          <a:prstGeom prst="rect">
            <a:avLst/>
          </a:prstGeom>
        </p:spPr>
      </p:pic>
      <p:sp>
        <p:nvSpPr>
          <p:cNvPr id="33" name="Text 22"/>
          <p:cNvSpPr txBox="1"/>
          <p:nvPr/>
        </p:nvSpPr>
        <p:spPr>
          <a:xfrm>
            <a:off x="7269480" y="4535424"/>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Order and pay in chat</a:t>
            </a:r>
            <a:endParaRPr lang="en-US" sz="1900" dirty="0"/>
          </a:p>
        </p:txBody>
      </p:sp>
      <p:sp>
        <p:nvSpPr>
          <p:cNvPr id="34" name="after 5 circle"/>
          <p:cNvSpPr/>
          <p:nvPr/>
        </p:nvSpPr>
        <p:spPr>
          <a:xfrm>
            <a:off x="6629400" y="5248656"/>
            <a:ext cx="457200" cy="457200"/>
          </a:xfrm>
          <a:prstGeom prst="ellipse">
            <a:avLst/>
          </a:prstGeom>
          <a:solidFill>
            <a:schemeClr val="accent2"/>
          </a:solidFill>
          <a:ln/>
        </p:spPr>
      </p:sp>
      <p:pic>
        <p:nvPicPr>
          <p:cNvPr id="35" name="after 5" descr="preencoded.png">    </p:cNvPr>
          <p:cNvPicPr>
            <a:picLocks noChangeAspect="1"/>
          </p:cNvPicPr>
          <p:nvPr/>
        </p:nvPicPr>
        <p:blipFill>
          <a:blip r:embed="rId10"/>
          <a:stretch>
            <a:fillRect/>
          </a:stretch>
        </p:blipFill>
        <p:spPr>
          <a:xfrm>
            <a:off x="6743700" y="5362956"/>
            <a:ext cx="228600" cy="228600"/>
          </a:xfrm>
          <a:prstGeom prst="rect">
            <a:avLst/>
          </a:prstGeom>
        </p:spPr>
      </p:pic>
      <p:sp>
        <p:nvSpPr>
          <p:cNvPr id="36" name="Text 24"/>
          <p:cNvSpPr txBox="1"/>
          <p:nvPr/>
        </p:nvSpPr>
        <p:spPr>
          <a:xfrm>
            <a:off x="7269480" y="5248656"/>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Live reports</a:t>
            </a:r>
            <a:endParaRPr lang="en-US" sz="19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Trusted by organisations that serve people</a:t>
            </a:r>
            <a:endParaRPr lang="en-US" sz="3600" dirty="0"/>
          </a:p>
        </p:txBody>
      </p:sp>
      <p:sp>
        <p:nvSpPr>
          <p:cNvPr id="3" name="DEEP card"/>
          <p:cNvSpPr/>
          <p:nvPr/>
        </p:nvSpPr>
        <p:spPr>
          <a:xfrm>
            <a:off x="548640" y="1417320"/>
            <a:ext cx="5440680" cy="4526280"/>
          </a:xfrm>
          <a:prstGeom prst="roundRect">
            <a:avLst>
              <a:gd name="adj" fmla="val 3232"/>
            </a:avLst>
          </a:prstGeom>
          <a:solidFill>
            <a:schemeClr val="bg1"/>
          </a:solidFill>
          <a:ln w="12700">
            <a:solidFill>
              <a:srgbClr val="E3E8F2"/>
            </a:solidFill>
            <a:prstDash val="solid"/>
          </a:ln>
          <a:effectLst>
            <a:outerShdw sx="100000" sy="100000" kx="0" ky="0" algn="bl" rotWithShape="0" blurRad="127000" dist="38100" dir="5400000">
              <a:srgbClr val="0E1B3D">
                <a:alpha val="8000"/>
              </a:srgbClr>
            </a:outerShdw>
          </a:effectLst>
        </p:spPr>
      </p:sp>
      <p:pic>
        <p:nvPicPr>
          <p:cNvPr id="4" name="DEEP Trust logo" descr="/home/user/Marketing-CRM/docs/brand/customers/deep-trust-logo.png">    </p:cNvPr>
          <p:cNvPicPr>
            <a:picLocks noChangeAspect="1"/>
          </p:cNvPicPr>
          <p:nvPr/>
        </p:nvPicPr>
        <p:blipFill>
          <a:blip r:embed="rId1"/>
          <a:stretch>
            <a:fillRect/>
          </a:stretch>
        </p:blipFill>
        <p:spPr>
          <a:xfrm>
            <a:off x="868680" y="1828800"/>
            <a:ext cx="4800600" cy="1423434"/>
          </a:xfrm>
          <a:prstGeom prst="rect">
            <a:avLst/>
          </a:prstGeom>
        </p:spPr>
      </p:pic>
      <p:sp>
        <p:nvSpPr>
          <p:cNvPr id="5" name="Health screening campaigns chip"/>
          <p:cNvSpPr/>
          <p:nvPr/>
        </p:nvSpPr>
        <p:spPr>
          <a:xfrm>
            <a:off x="868680" y="3794760"/>
            <a:ext cx="4800600" cy="548640"/>
          </a:xfrm>
          <a:prstGeom prst="roundRect">
            <a:avLst>
              <a:gd name="adj" fmla="val 50000"/>
            </a:avLst>
          </a:prstGeom>
          <a:solidFill>
            <a:schemeClr val="bg2"/>
          </a:solidFill>
          <a:ln/>
        </p:spPr>
      </p:sp>
      <p:sp>
        <p:nvSpPr>
          <p:cNvPr id="6" name="Text 3"/>
          <p:cNvSpPr txBox="1"/>
          <p:nvPr/>
        </p:nvSpPr>
        <p:spPr>
          <a:xfrm>
            <a:off x="868680" y="3794760"/>
            <a:ext cx="4800600" cy="548640"/>
          </a:xfrm>
          <a:prstGeom prst="rect">
            <a:avLst/>
          </a:prstGeom>
          <a:noFill/>
          <a:ln/>
        </p:spPr>
        <p:txBody>
          <a:bodyPr wrap="square" lIns="0" tIns="0" rIns="0" bIns="0" rtlCol="0" anchor="ctr"/>
          <a:lstStyle/>
          <a:p>
            <a:pPr algn="ctr" indent="0" marL="0">
              <a:buNone/>
            </a:pPr>
            <a:r>
              <a:rPr lang="en-US" sz="1800" b="1" dirty="0">
                <a:solidFill>
                  <a:schemeClr val="tx1"/>
                </a:solidFill>
              </a:rPr>
              <a:t>Health screening campaigns</a:t>
            </a:r>
            <a:endParaRPr lang="en-US" sz="1800" dirty="0"/>
          </a:p>
        </p:txBody>
      </p:sp>
      <p:sp>
        <p:nvSpPr>
          <p:cNvPr id="7" name="Text 4"/>
          <p:cNvSpPr txBox="1"/>
          <p:nvPr/>
        </p:nvSpPr>
        <p:spPr>
          <a:xfrm>
            <a:off x="868680" y="4526280"/>
            <a:ext cx="4800600" cy="822960"/>
          </a:xfrm>
          <a:prstGeom prst="rect">
            <a:avLst/>
          </a:prstGeom>
          <a:noFill/>
          <a:ln/>
        </p:spPr>
        <p:txBody>
          <a:bodyPr wrap="square" lIns="0" tIns="0" rIns="0" bIns="0" rtlCol="0" anchor="t"/>
          <a:lstStyle/>
          <a:p>
            <a:pPr algn="ctr" indent="0" marL="0">
              <a:buNone/>
            </a:pPr>
            <a:r>
              <a:rPr lang="en-US" sz="1600" dirty="0">
                <a:solidFill>
                  <a:schemeClr val="tx2"/>
                </a:solidFill>
              </a:rPr>
              <a:t>WhatsApp campaigns for health camps, and support for people who reach out</a:t>
            </a:r>
            <a:endParaRPr lang="en-US" sz="1600" dirty="0"/>
          </a:p>
        </p:txBody>
      </p:sp>
      <p:sp>
        <p:nvSpPr>
          <p:cNvPr id="8" name="Text 5"/>
          <p:cNvSpPr txBox="1"/>
          <p:nvPr/>
        </p:nvSpPr>
        <p:spPr>
          <a:xfrm>
            <a:off x="868680" y="5394960"/>
            <a:ext cx="4800600" cy="320040"/>
          </a:xfrm>
          <a:prstGeom prst="rect">
            <a:avLst/>
          </a:prstGeom>
          <a:noFill/>
          <a:ln/>
        </p:spPr>
        <p:txBody>
          <a:bodyPr wrap="square" lIns="0" tIns="0" rIns="0" bIns="0" rtlCol="0" anchor="t"/>
          <a:lstStyle/>
          <a:p>
            <a:pPr algn="ctr" indent="0" marL="0">
              <a:buNone/>
            </a:pPr>
            <a:r>
              <a:rPr lang="en-US" sz="1400" b="1" dirty="0">
                <a:solidFill>
                  <a:schemeClr val="accent1"/>
                </a:solidFill>
              </a:rPr>
              <a:t>deepindia.org</a:t>
            </a:r>
            <a:endParaRPr lang="en-US" sz="1400" dirty="0"/>
          </a:p>
        </p:txBody>
      </p:sp>
      <p:sp>
        <p:nvSpPr>
          <p:cNvPr id="9" name="Consular Helpdesk card"/>
          <p:cNvSpPr/>
          <p:nvPr/>
        </p:nvSpPr>
        <p:spPr>
          <a:xfrm>
            <a:off x="6172200" y="1417320"/>
            <a:ext cx="5440680" cy="4526280"/>
          </a:xfrm>
          <a:prstGeom prst="roundRect">
            <a:avLst>
              <a:gd name="adj" fmla="val 3232"/>
            </a:avLst>
          </a:prstGeom>
          <a:solidFill>
            <a:schemeClr val="bg1"/>
          </a:solidFill>
          <a:ln w="12700">
            <a:solidFill>
              <a:srgbClr val="E3E8F2"/>
            </a:solidFill>
            <a:prstDash val="solid"/>
          </a:ln>
          <a:effectLst>
            <a:outerShdw sx="100000" sy="100000" kx="0" ky="0" algn="bl" rotWithShape="0" blurRad="127000" dist="38100" dir="5400000">
              <a:srgbClr val="0E1B3D">
                <a:alpha val="8000"/>
              </a:srgbClr>
            </a:outerShdw>
          </a:effectLst>
        </p:spPr>
      </p:sp>
      <p:pic>
        <p:nvPicPr>
          <p:cNvPr id="10" name="Consular Helpdesk logo" descr="/home/user/Marketing-CRM/docs/brand/customers/consular-helpdesk-logo.png">    </p:cNvPr>
          <p:cNvPicPr>
            <a:picLocks noChangeAspect="1"/>
          </p:cNvPicPr>
          <p:nvPr/>
        </p:nvPicPr>
        <p:blipFill>
          <a:blip r:embed="rId2"/>
          <a:stretch>
            <a:fillRect/>
          </a:stretch>
        </p:blipFill>
        <p:spPr>
          <a:xfrm>
            <a:off x="6537960" y="1691640"/>
            <a:ext cx="1828800" cy="1828800"/>
          </a:xfrm>
          <a:prstGeom prst="rect">
            <a:avLst/>
          </a:prstGeom>
        </p:spPr>
      </p:pic>
      <p:sp>
        <p:nvSpPr>
          <p:cNvPr id="11" name="Text 7"/>
          <p:cNvSpPr txBox="1"/>
          <p:nvPr/>
        </p:nvSpPr>
        <p:spPr>
          <a:xfrm>
            <a:off x="8503920" y="2148840"/>
            <a:ext cx="2926080" cy="502920"/>
          </a:xfrm>
          <a:prstGeom prst="rect">
            <a:avLst/>
          </a:prstGeom>
          <a:noFill/>
          <a:ln/>
        </p:spPr>
        <p:txBody>
          <a:bodyPr wrap="square" lIns="0" tIns="0" rIns="0" bIns="0" rtlCol="0" anchor="t"/>
          <a:lstStyle/>
          <a:p>
            <a:pPr indent="0" marL="0">
              <a:buNone/>
            </a:pPr>
            <a:r>
              <a:rPr lang="en-US" sz="2200" b="1" dirty="0">
                <a:solidFill>
                  <a:srgbClr val="7A1E2C"/>
                </a:solidFill>
              </a:rPr>
              <a:t>Consular Helpdesk</a:t>
            </a:r>
            <a:endParaRPr lang="en-US" sz="2200" dirty="0"/>
          </a:p>
        </p:txBody>
      </p:sp>
      <p:sp>
        <p:nvSpPr>
          <p:cNvPr id="12" name="Text 8"/>
          <p:cNvSpPr txBox="1"/>
          <p:nvPr/>
        </p:nvSpPr>
        <p:spPr>
          <a:xfrm>
            <a:off x="8503920" y="2651760"/>
            <a:ext cx="2926080" cy="365760"/>
          </a:xfrm>
          <a:prstGeom prst="rect">
            <a:avLst/>
          </a:prstGeom>
          <a:noFill/>
          <a:ln/>
        </p:spPr>
        <p:txBody>
          <a:bodyPr wrap="square" lIns="0" tIns="0" rIns="0" bIns="0" rtlCol="0" anchor="t"/>
          <a:lstStyle/>
          <a:p>
            <a:pPr indent="0" marL="0">
              <a:buNone/>
            </a:pPr>
            <a:r>
              <a:rPr lang="en-US" sz="1500" dirty="0">
                <a:solidFill>
                  <a:schemeClr val="tx2"/>
                </a:solidFill>
              </a:rPr>
              <a:t>Passport · OCI · PCC</a:t>
            </a:r>
            <a:endParaRPr lang="en-US" sz="1500" dirty="0"/>
          </a:p>
        </p:txBody>
      </p:sp>
      <p:sp>
        <p:nvSpPr>
          <p:cNvPr id="13" name="AI chat support + tickets chip"/>
          <p:cNvSpPr/>
          <p:nvPr/>
        </p:nvSpPr>
        <p:spPr>
          <a:xfrm>
            <a:off x="6492240" y="3794760"/>
            <a:ext cx="4800600" cy="548640"/>
          </a:xfrm>
          <a:prstGeom prst="roundRect">
            <a:avLst>
              <a:gd name="adj" fmla="val 50000"/>
            </a:avLst>
          </a:prstGeom>
          <a:solidFill>
            <a:schemeClr val="bg2"/>
          </a:solidFill>
          <a:ln/>
        </p:spPr>
      </p:sp>
      <p:sp>
        <p:nvSpPr>
          <p:cNvPr id="14" name="Text 10"/>
          <p:cNvSpPr txBox="1"/>
          <p:nvPr/>
        </p:nvSpPr>
        <p:spPr>
          <a:xfrm>
            <a:off x="6492240" y="3794760"/>
            <a:ext cx="4800600" cy="548640"/>
          </a:xfrm>
          <a:prstGeom prst="rect">
            <a:avLst/>
          </a:prstGeom>
          <a:noFill/>
          <a:ln/>
        </p:spPr>
        <p:txBody>
          <a:bodyPr wrap="square" lIns="0" tIns="0" rIns="0" bIns="0" rtlCol="0" anchor="ctr"/>
          <a:lstStyle/>
          <a:p>
            <a:pPr algn="ctr" indent="0" marL="0">
              <a:buNone/>
            </a:pPr>
            <a:r>
              <a:rPr lang="en-US" sz="1800" b="1" dirty="0">
                <a:solidFill>
                  <a:schemeClr val="tx1"/>
                </a:solidFill>
              </a:rPr>
              <a:t>AI chat support + tickets</a:t>
            </a:r>
            <a:endParaRPr lang="en-US" sz="1800" dirty="0"/>
          </a:p>
        </p:txBody>
      </p:sp>
      <p:sp>
        <p:nvSpPr>
          <p:cNvPr id="15" name="Text 11"/>
          <p:cNvSpPr txBox="1"/>
          <p:nvPr/>
        </p:nvSpPr>
        <p:spPr>
          <a:xfrm>
            <a:off x="6492240" y="4526280"/>
            <a:ext cx="4800600" cy="822960"/>
          </a:xfrm>
          <a:prstGeom prst="rect">
            <a:avLst/>
          </a:prstGeom>
          <a:noFill/>
          <a:ln/>
        </p:spPr>
        <p:txBody>
          <a:bodyPr wrap="square" lIns="0" tIns="0" rIns="0" bIns="0" rtlCol="0" anchor="t"/>
          <a:lstStyle/>
          <a:p>
            <a:pPr algn="ctr" indent="0" marL="0">
              <a:buNone/>
            </a:pPr>
            <a:r>
              <a:rPr lang="en-US" sz="1600" dirty="0">
                <a:solidFill>
                  <a:schemeClr val="tx2"/>
                </a:solidFill>
              </a:rPr>
              <a:t>AI answers questions 24 × 7 and every request becomes a tracked ticket</a:t>
            </a:r>
            <a:endParaRPr lang="en-US" sz="1600" dirty="0"/>
          </a:p>
        </p:txBody>
      </p:sp>
      <p:sp>
        <p:nvSpPr>
          <p:cNvPr id="16" name="Text 12"/>
          <p:cNvSpPr txBox="1"/>
          <p:nvPr/>
        </p:nvSpPr>
        <p:spPr>
          <a:xfrm>
            <a:off x="6492240" y="5394960"/>
            <a:ext cx="4800600" cy="320040"/>
          </a:xfrm>
          <a:prstGeom prst="rect">
            <a:avLst/>
          </a:prstGeom>
          <a:noFill/>
          <a:ln/>
        </p:spPr>
        <p:txBody>
          <a:bodyPr wrap="square" lIns="0" tIns="0" rIns="0" bIns="0" rtlCol="0" anchor="t"/>
          <a:lstStyle/>
          <a:p>
            <a:pPr algn="ctr" indent="0" marL="0">
              <a:buNone/>
            </a:pPr>
            <a:r>
              <a:rPr lang="en-US" sz="1400" b="1" dirty="0">
                <a:solidFill>
                  <a:schemeClr val="accent1"/>
                </a:solidFill>
              </a:rPr>
              <a:t>consularhelpdesk.com</a:t>
            </a:r>
            <a:endParaRPr lang="en-US" sz="14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Why WAMA CRM</a:t>
            </a:r>
            <a:endParaRPr lang="en-US" sz="3600" dirty="0"/>
          </a:p>
        </p:txBody>
      </p:sp>
      <p:sp>
        <p:nvSpPr>
          <p:cNvPr id="3" name="reason 1"/>
          <p:cNvSpPr/>
          <p:nvPr/>
        </p:nvSpPr>
        <p:spPr>
          <a:xfrm>
            <a:off x="548640" y="1463040"/>
            <a:ext cx="2615184" cy="3931920"/>
          </a:xfrm>
          <a:prstGeom prst="roundRect">
            <a:avLst>
              <a:gd name="adj" fmla="val 5594"/>
            </a:avLst>
          </a:prstGeom>
          <a:solidFill>
            <a:srgbClr val="EEF3FE"/>
          </a:solidFill>
          <a:ln/>
        </p:spPr>
      </p:sp>
      <p:sp>
        <p:nvSpPr>
          <p:cNvPr id="4" name="reason 1 icon circle"/>
          <p:cNvSpPr/>
          <p:nvPr/>
        </p:nvSpPr>
        <p:spPr>
          <a:xfrm>
            <a:off x="1216152" y="2148840"/>
            <a:ext cx="1280160" cy="1280160"/>
          </a:xfrm>
          <a:prstGeom prst="ellipse">
            <a:avLst/>
          </a:prstGeom>
          <a:solidFill>
            <a:schemeClr val="accent1"/>
          </a:solidFill>
          <a:ln/>
        </p:spPr>
      </p:sp>
      <p:pic>
        <p:nvPicPr>
          <p:cNvPr id="5" name="reason 1 icon" descr="preencoded.png">    </p:cNvPr>
          <p:cNvPicPr>
            <a:picLocks noChangeAspect="1"/>
          </p:cNvPicPr>
          <p:nvPr/>
        </p:nvPicPr>
        <p:blipFill>
          <a:blip r:embed="rId1"/>
          <a:stretch>
            <a:fillRect/>
          </a:stretch>
        </p:blipFill>
        <p:spPr>
          <a:xfrm>
            <a:off x="1536192" y="2468880"/>
            <a:ext cx="640080" cy="640080"/>
          </a:xfrm>
          <a:prstGeom prst="rect">
            <a:avLst/>
          </a:prstGeom>
        </p:spPr>
      </p:pic>
      <p:sp>
        <p:nvSpPr>
          <p:cNvPr id="6" name="Text 3"/>
          <p:cNvSpPr txBox="1"/>
          <p:nvPr/>
        </p:nvSpPr>
        <p:spPr>
          <a:xfrm>
            <a:off x="685800" y="3749040"/>
            <a:ext cx="2340864" cy="548640"/>
          </a:xfrm>
          <a:prstGeom prst="rect">
            <a:avLst/>
          </a:prstGeom>
          <a:noFill/>
          <a:ln/>
        </p:spPr>
        <p:txBody>
          <a:bodyPr wrap="square" lIns="0" tIns="0" rIns="0" bIns="0" rtlCol="0" anchor="t"/>
          <a:lstStyle/>
          <a:p>
            <a:pPr algn="ctr" indent="0" marL="0">
              <a:buNone/>
            </a:pPr>
            <a:r>
              <a:rPr lang="en-US" sz="2600" b="1" dirty="0">
                <a:solidFill>
                  <a:schemeClr val="tx1"/>
                </a:solidFill>
              </a:rPr>
              <a:t>Official</a:t>
            </a:r>
            <a:endParaRPr lang="en-US" sz="2600" dirty="0"/>
          </a:p>
        </p:txBody>
      </p:sp>
      <p:sp>
        <p:nvSpPr>
          <p:cNvPr id="7" name="Text 4"/>
          <p:cNvSpPr txBox="1"/>
          <p:nvPr/>
        </p:nvSpPr>
        <p:spPr>
          <a:xfrm>
            <a:off x="777240" y="4389120"/>
            <a:ext cx="2157984" cy="822960"/>
          </a:xfrm>
          <a:prstGeom prst="rect">
            <a:avLst/>
          </a:prstGeom>
          <a:noFill/>
          <a:ln/>
        </p:spPr>
        <p:txBody>
          <a:bodyPr wrap="square" lIns="0" tIns="0" rIns="0" bIns="0" rtlCol="0" anchor="t"/>
          <a:lstStyle/>
          <a:p>
            <a:pPr algn="ctr" indent="0" marL="0">
              <a:buNone/>
            </a:pPr>
            <a:r>
              <a:rPr lang="en-US" sz="1800" dirty="0">
                <a:solidFill>
                  <a:schemeClr val="tx2"/>
                </a:solidFill>
              </a:rPr>
              <a:t>Meta Tech Provider</a:t>
            </a:r>
            <a:endParaRPr lang="en-US" sz="1800" dirty="0"/>
          </a:p>
        </p:txBody>
      </p:sp>
      <p:sp>
        <p:nvSpPr>
          <p:cNvPr id="8" name="reason 2"/>
          <p:cNvSpPr/>
          <p:nvPr/>
        </p:nvSpPr>
        <p:spPr>
          <a:xfrm>
            <a:off x="3346704" y="1463040"/>
            <a:ext cx="2615184" cy="3931920"/>
          </a:xfrm>
          <a:prstGeom prst="roundRect">
            <a:avLst>
              <a:gd name="adj" fmla="val 5594"/>
            </a:avLst>
          </a:prstGeom>
          <a:solidFill>
            <a:srgbClr val="E8F7F1"/>
          </a:solidFill>
          <a:ln/>
        </p:spPr>
      </p:sp>
      <p:sp>
        <p:nvSpPr>
          <p:cNvPr id="9" name="reason 2 icon circle"/>
          <p:cNvSpPr/>
          <p:nvPr/>
        </p:nvSpPr>
        <p:spPr>
          <a:xfrm>
            <a:off x="4014216" y="2148840"/>
            <a:ext cx="1280160" cy="1280160"/>
          </a:xfrm>
          <a:prstGeom prst="ellipse">
            <a:avLst/>
          </a:prstGeom>
          <a:solidFill>
            <a:schemeClr val="accent2"/>
          </a:solidFill>
          <a:ln/>
        </p:spPr>
      </p:sp>
      <p:pic>
        <p:nvPicPr>
          <p:cNvPr id="10" name="reason 2 icon" descr="preencoded.png">    </p:cNvPr>
          <p:cNvPicPr>
            <a:picLocks noChangeAspect="1"/>
          </p:cNvPicPr>
          <p:nvPr/>
        </p:nvPicPr>
        <p:blipFill>
          <a:blip r:embed="rId2"/>
          <a:stretch>
            <a:fillRect/>
          </a:stretch>
        </p:blipFill>
        <p:spPr>
          <a:xfrm>
            <a:off x="4334256" y="2468880"/>
            <a:ext cx="640080" cy="640080"/>
          </a:xfrm>
          <a:prstGeom prst="rect">
            <a:avLst/>
          </a:prstGeom>
        </p:spPr>
      </p:pic>
      <p:sp>
        <p:nvSpPr>
          <p:cNvPr id="11" name="Text 7"/>
          <p:cNvSpPr txBox="1"/>
          <p:nvPr/>
        </p:nvSpPr>
        <p:spPr>
          <a:xfrm>
            <a:off x="3483864" y="3749040"/>
            <a:ext cx="2340864" cy="548640"/>
          </a:xfrm>
          <a:prstGeom prst="rect">
            <a:avLst/>
          </a:prstGeom>
          <a:noFill/>
          <a:ln/>
        </p:spPr>
        <p:txBody>
          <a:bodyPr wrap="square" lIns="0" tIns="0" rIns="0" bIns="0" rtlCol="0" anchor="t"/>
          <a:lstStyle/>
          <a:p>
            <a:pPr algn="ctr" indent="0" marL="0">
              <a:buNone/>
            </a:pPr>
            <a:r>
              <a:rPr lang="en-US" sz="2600" b="1" dirty="0">
                <a:solidFill>
                  <a:schemeClr val="tx1"/>
                </a:solidFill>
              </a:rPr>
              <a:t>0% markup</a:t>
            </a:r>
            <a:endParaRPr lang="en-US" sz="2600" dirty="0"/>
          </a:p>
        </p:txBody>
      </p:sp>
      <p:sp>
        <p:nvSpPr>
          <p:cNvPr id="12" name="Text 8"/>
          <p:cNvSpPr txBox="1"/>
          <p:nvPr/>
        </p:nvSpPr>
        <p:spPr>
          <a:xfrm>
            <a:off x="3575304" y="4389120"/>
            <a:ext cx="2157984" cy="822960"/>
          </a:xfrm>
          <a:prstGeom prst="rect">
            <a:avLst/>
          </a:prstGeom>
          <a:noFill/>
          <a:ln/>
        </p:spPr>
        <p:txBody>
          <a:bodyPr wrap="square" lIns="0" tIns="0" rIns="0" bIns="0" rtlCol="0" anchor="t"/>
          <a:lstStyle/>
          <a:p>
            <a:pPr algn="ctr" indent="0" marL="0">
              <a:buNone/>
            </a:pPr>
            <a:r>
              <a:rPr lang="en-US" sz="1800" dirty="0">
                <a:solidFill>
                  <a:schemeClr val="tx2"/>
                </a:solidFill>
              </a:rPr>
              <a:t>Pay Meta’s rates directly</a:t>
            </a:r>
            <a:endParaRPr lang="en-US" sz="1800" dirty="0"/>
          </a:p>
        </p:txBody>
      </p:sp>
      <p:sp>
        <p:nvSpPr>
          <p:cNvPr id="13" name="reason 3"/>
          <p:cNvSpPr/>
          <p:nvPr/>
        </p:nvSpPr>
        <p:spPr>
          <a:xfrm>
            <a:off x="6144768" y="1463040"/>
            <a:ext cx="2615184" cy="3931920"/>
          </a:xfrm>
          <a:prstGeom prst="roundRect">
            <a:avLst>
              <a:gd name="adj" fmla="val 5594"/>
            </a:avLst>
          </a:prstGeom>
          <a:solidFill>
            <a:srgbClr val="EEF3FE"/>
          </a:solidFill>
          <a:ln/>
        </p:spPr>
      </p:sp>
      <p:sp>
        <p:nvSpPr>
          <p:cNvPr id="14" name="reason 3 icon circle"/>
          <p:cNvSpPr/>
          <p:nvPr/>
        </p:nvSpPr>
        <p:spPr>
          <a:xfrm>
            <a:off x="6812280" y="2148840"/>
            <a:ext cx="1280160" cy="1280160"/>
          </a:xfrm>
          <a:prstGeom prst="ellipse">
            <a:avLst/>
          </a:prstGeom>
          <a:solidFill>
            <a:schemeClr val="accent1"/>
          </a:solidFill>
          <a:ln/>
        </p:spPr>
      </p:sp>
      <p:pic>
        <p:nvPicPr>
          <p:cNvPr id="15" name="reason 3 icon" descr="preencoded.png">    </p:cNvPr>
          <p:cNvPicPr>
            <a:picLocks noChangeAspect="1"/>
          </p:cNvPicPr>
          <p:nvPr/>
        </p:nvPicPr>
        <p:blipFill>
          <a:blip r:embed="rId3"/>
          <a:stretch>
            <a:fillRect/>
          </a:stretch>
        </p:blipFill>
        <p:spPr>
          <a:xfrm>
            <a:off x="7132320" y="2468880"/>
            <a:ext cx="640080" cy="640080"/>
          </a:xfrm>
          <a:prstGeom prst="rect">
            <a:avLst/>
          </a:prstGeom>
        </p:spPr>
      </p:pic>
      <p:sp>
        <p:nvSpPr>
          <p:cNvPr id="16" name="Text 11"/>
          <p:cNvSpPr txBox="1"/>
          <p:nvPr/>
        </p:nvSpPr>
        <p:spPr>
          <a:xfrm>
            <a:off x="6281928" y="3749040"/>
            <a:ext cx="2340864" cy="548640"/>
          </a:xfrm>
          <a:prstGeom prst="rect">
            <a:avLst/>
          </a:prstGeom>
          <a:noFill/>
          <a:ln/>
        </p:spPr>
        <p:txBody>
          <a:bodyPr wrap="square" lIns="0" tIns="0" rIns="0" bIns="0" rtlCol="0" anchor="t"/>
          <a:lstStyle/>
          <a:p>
            <a:pPr algn="ctr" indent="0" marL="0">
              <a:buNone/>
            </a:pPr>
            <a:r>
              <a:rPr lang="en-US" sz="2600" b="1" dirty="0">
                <a:solidFill>
                  <a:schemeClr val="tx1"/>
                </a:solidFill>
              </a:rPr>
              <a:t>Made for India</a:t>
            </a:r>
            <a:endParaRPr lang="en-US" sz="2600" dirty="0"/>
          </a:p>
        </p:txBody>
      </p:sp>
      <p:sp>
        <p:nvSpPr>
          <p:cNvPr id="17" name="Text 12"/>
          <p:cNvSpPr txBox="1"/>
          <p:nvPr/>
        </p:nvSpPr>
        <p:spPr>
          <a:xfrm>
            <a:off x="6373368" y="4389120"/>
            <a:ext cx="2157984" cy="822960"/>
          </a:xfrm>
          <a:prstGeom prst="rect">
            <a:avLst/>
          </a:prstGeom>
          <a:noFill/>
          <a:ln/>
        </p:spPr>
        <p:txBody>
          <a:bodyPr wrap="square" lIns="0" tIns="0" rIns="0" bIns="0" rtlCol="0" anchor="t"/>
          <a:lstStyle/>
          <a:p>
            <a:pPr algn="ctr" indent="0" marL="0">
              <a:buNone/>
            </a:pPr>
            <a:r>
              <a:rPr lang="en-US" sz="1800" dirty="0">
                <a:solidFill>
                  <a:schemeClr val="tx2"/>
                </a:solidFill>
              </a:rPr>
              <a:t>Languages, UPI, COD</a:t>
            </a:r>
            <a:endParaRPr lang="en-US" sz="1800" dirty="0"/>
          </a:p>
        </p:txBody>
      </p:sp>
      <p:sp>
        <p:nvSpPr>
          <p:cNvPr id="18" name="reason 4"/>
          <p:cNvSpPr/>
          <p:nvPr/>
        </p:nvSpPr>
        <p:spPr>
          <a:xfrm>
            <a:off x="8942832" y="1463040"/>
            <a:ext cx="2615184" cy="3931920"/>
          </a:xfrm>
          <a:prstGeom prst="roundRect">
            <a:avLst>
              <a:gd name="adj" fmla="val 5594"/>
            </a:avLst>
          </a:prstGeom>
          <a:solidFill>
            <a:srgbClr val="E8F7F1"/>
          </a:solidFill>
          <a:ln/>
        </p:spPr>
      </p:sp>
      <p:sp>
        <p:nvSpPr>
          <p:cNvPr id="19" name="reason 4 icon circle"/>
          <p:cNvSpPr/>
          <p:nvPr/>
        </p:nvSpPr>
        <p:spPr>
          <a:xfrm>
            <a:off x="9610344" y="2148840"/>
            <a:ext cx="1280160" cy="1280160"/>
          </a:xfrm>
          <a:prstGeom prst="ellipse">
            <a:avLst/>
          </a:prstGeom>
          <a:solidFill>
            <a:schemeClr val="accent2"/>
          </a:solidFill>
          <a:ln/>
        </p:spPr>
      </p:sp>
      <p:pic>
        <p:nvPicPr>
          <p:cNvPr id="20" name="reason 4 icon" descr="preencoded.png">    </p:cNvPr>
          <p:cNvPicPr>
            <a:picLocks noChangeAspect="1"/>
          </p:cNvPicPr>
          <p:nvPr/>
        </p:nvPicPr>
        <p:blipFill>
          <a:blip r:embed="rId4"/>
          <a:stretch>
            <a:fillRect/>
          </a:stretch>
        </p:blipFill>
        <p:spPr>
          <a:xfrm>
            <a:off x="9930384" y="2468880"/>
            <a:ext cx="640080" cy="640080"/>
          </a:xfrm>
          <a:prstGeom prst="rect">
            <a:avLst/>
          </a:prstGeom>
        </p:spPr>
      </p:pic>
      <p:sp>
        <p:nvSpPr>
          <p:cNvPr id="21" name="Text 15"/>
          <p:cNvSpPr txBox="1"/>
          <p:nvPr/>
        </p:nvSpPr>
        <p:spPr>
          <a:xfrm>
            <a:off x="9079992" y="3749040"/>
            <a:ext cx="2340864" cy="548640"/>
          </a:xfrm>
          <a:prstGeom prst="rect">
            <a:avLst/>
          </a:prstGeom>
          <a:noFill/>
          <a:ln/>
        </p:spPr>
        <p:txBody>
          <a:bodyPr wrap="square" lIns="0" tIns="0" rIns="0" bIns="0" rtlCol="0" anchor="t"/>
          <a:lstStyle/>
          <a:p>
            <a:pPr algn="ctr" indent="0" marL="0">
              <a:buNone/>
            </a:pPr>
            <a:r>
              <a:rPr lang="en-US" sz="2600" b="1" dirty="0">
                <a:solidFill>
                  <a:schemeClr val="tx1"/>
                </a:solidFill>
              </a:rPr>
              <a:t>Live in minutes</a:t>
            </a:r>
            <a:endParaRPr lang="en-US" sz="2600" dirty="0"/>
          </a:p>
        </p:txBody>
      </p:sp>
      <p:sp>
        <p:nvSpPr>
          <p:cNvPr id="22" name="Text 16"/>
          <p:cNvSpPr txBox="1"/>
          <p:nvPr/>
        </p:nvSpPr>
        <p:spPr>
          <a:xfrm>
            <a:off x="9171432" y="4389120"/>
            <a:ext cx="2157984" cy="822960"/>
          </a:xfrm>
          <a:prstGeom prst="rect">
            <a:avLst/>
          </a:prstGeom>
          <a:noFill/>
          <a:ln/>
        </p:spPr>
        <p:txBody>
          <a:bodyPr wrap="square" lIns="0" tIns="0" rIns="0" bIns="0" rtlCol="0" anchor="t"/>
          <a:lstStyle/>
          <a:p>
            <a:pPr algn="ctr" indent="0" marL="0">
              <a:buNone/>
            </a:pPr>
            <a:r>
              <a:rPr lang="en-US" sz="1800" dirty="0">
                <a:solidFill>
                  <a:schemeClr val="tx2"/>
                </a:solidFill>
              </a:rPr>
              <a:t>No coding needed</a:t>
            </a:r>
            <a:endParaRPr lang="en-US" sz="1800" dirty="0"/>
          </a:p>
        </p:txBody>
      </p:sp>
      <p:sp>
        <p:nvSpPr>
          <p:cNvPr id="25" name="Slide Number Placeholder 0"/>
          <p:cNvSpPr>
            <a:spLocks noGrp="1"/>
          </p:cNvSpPr>
          <p:nvPr>
            <p:ph type="sldNum" sz="quarter" idx="4294967295"/>
          </p:nvPr>
        </p:nvSpPr>
        <p:spPr>
          <a:xfrm>
            <a:off x="1115568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6B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WAMA CRM logo" descr="/home/user/Marketing-CRM/docs/brand/wamacrm-logo-horizontal-light.png">    </p:cNvPr>
          <p:cNvPicPr>
            <a:picLocks noChangeAspect="1"/>
          </p:cNvPicPr>
          <p:nvPr/>
        </p:nvPicPr>
        <p:blipFill>
          <a:blip r:embed="rId2"/>
          <a:stretch>
            <a:fillRect/>
          </a:stretch>
        </p:blipFill>
        <p:spPr>
          <a:xfrm>
            <a:off x="640080" y="502920"/>
            <a:ext cx="3771900" cy="1005840"/>
          </a:xfrm>
          <a:prstGeom prst="rect">
            <a:avLst/>
          </a:prstGeom>
        </p:spPr>
      </p:pic>
      <p:sp>
        <p:nvSpPr>
          <p:cNvPr id="3" name="Text 0"/>
          <p:cNvSpPr/>
          <p:nvPr>
            <p:ph idx="100" type="title" hasCustomPrompt="1"/>
          </p:nvPr>
        </p:nvSpPr>
        <p:spPr>
          <a:xfrm>
            <a:off x="640080" y="1737360"/>
            <a:ext cx="6035040" cy="1920240"/>
          </a:xfrm>
          <a:prstGeom prst="rect">
            <a:avLst/>
          </a:prstGeom>
          <a:noFill/>
          <a:ln/>
        </p:spPr>
        <p:txBody>
          <a:bodyPr wrap="square" lIns="0" tIns="0" rIns="0" bIns="0" rtlCol="0" anchor="b"/>
          <a:lstStyle/>
          <a:p>
            <a:pPr algn="l" indent="0" marL="0">
              <a:buNone/>
            </a:pPr>
            <a:r>
              <a:rPr lang="en-US" sz="4600" b="1" dirty="0">
                <a:solidFill>
                  <a:schemeClr val="bg1"/>
                </a:solidFill>
              </a:rPr>
              <a:t>Let’s grow your business on WhatsApp</a:t>
            </a:r>
            <a:endParaRPr lang="en-US" sz="4600" dirty="0"/>
          </a:p>
        </p:txBody>
      </p:sp>
      <p:sp>
        <p:nvSpPr>
          <p:cNvPr id="4" name="Text 0"/>
          <p:cNvSpPr/>
          <p:nvPr>
            <p:ph idx="101" type="body" hasCustomPrompt="1"/>
          </p:nvPr>
        </p:nvSpPr>
        <p:spPr>
          <a:xfrm>
            <a:off x="640080" y="3794760"/>
            <a:ext cx="6035040" cy="822960"/>
          </a:xfrm>
          <a:prstGeom prst="rect">
            <a:avLst/>
          </a:prstGeom>
          <a:noFill/>
          <a:ln/>
        </p:spPr>
        <p:txBody>
          <a:bodyPr wrap="square" lIns="0" tIns="0" rIns="0" bIns="0" rtlCol="0" anchor="t"/>
          <a:lstStyle/>
          <a:p>
            <a:pPr algn="l" indent="0" marL="0">
              <a:buNone/>
            </a:pPr>
            <a:r>
              <a:rPr lang="en-US" sz="2000" dirty="0">
                <a:solidFill>
                  <a:srgbClr val="DCE6FF"/>
                </a:solidFill>
              </a:rPr>
              <a:t>14-day free trial · wamacrm.magnetora.in</a:t>
            </a:r>
            <a:endParaRPr lang="en-US" sz="2000" dirty="0"/>
          </a:p>
        </p:txBody>
      </p:sp>
      <p:sp>
        <p:nvSpPr>
          <p:cNvPr id="5" name="step 1"/>
          <p:cNvSpPr/>
          <p:nvPr/>
        </p:nvSpPr>
        <p:spPr>
          <a:xfrm>
            <a:off x="7498080" y="1234440"/>
            <a:ext cx="4114800" cy="1280160"/>
          </a:xfrm>
          <a:prstGeom prst="roundRect">
            <a:avLst>
              <a:gd name="adj" fmla="val 11429"/>
            </a:avLst>
          </a:prstGeom>
          <a:solidFill>
            <a:schemeClr val="bg1"/>
          </a:solidFill>
          <a:ln/>
        </p:spPr>
      </p:sp>
      <p:sp>
        <p:nvSpPr>
          <p:cNvPr id="6" name="step 1 icon circle"/>
          <p:cNvSpPr/>
          <p:nvPr/>
        </p:nvSpPr>
        <p:spPr>
          <a:xfrm>
            <a:off x="7772400" y="1490472"/>
            <a:ext cx="777240" cy="777240"/>
          </a:xfrm>
          <a:prstGeom prst="ellipse">
            <a:avLst/>
          </a:prstGeom>
          <a:solidFill>
            <a:schemeClr val="accent1"/>
          </a:solidFill>
          <a:ln/>
        </p:spPr>
      </p:sp>
      <p:pic>
        <p:nvPicPr>
          <p:cNvPr id="7" name="step 1 icon" descr="preencoded.png">    </p:cNvPr>
          <p:cNvPicPr>
            <a:picLocks noChangeAspect="1"/>
          </p:cNvPicPr>
          <p:nvPr/>
        </p:nvPicPr>
        <p:blipFill>
          <a:blip r:embed="rId3"/>
          <a:stretch>
            <a:fillRect/>
          </a:stretch>
        </p:blipFill>
        <p:spPr>
          <a:xfrm>
            <a:off x="7966710" y="1684782"/>
            <a:ext cx="388620" cy="388620"/>
          </a:xfrm>
          <a:prstGeom prst="rect">
            <a:avLst/>
          </a:prstGeom>
        </p:spPr>
      </p:pic>
      <p:sp>
        <p:nvSpPr>
          <p:cNvPr id="8" name="Text 4"/>
          <p:cNvSpPr txBox="1"/>
          <p:nvPr/>
        </p:nvSpPr>
        <p:spPr>
          <a:xfrm>
            <a:off x="10881360" y="1508760"/>
            <a:ext cx="548640" cy="731520"/>
          </a:xfrm>
          <a:prstGeom prst="rect">
            <a:avLst/>
          </a:prstGeom>
          <a:noFill/>
          <a:ln/>
        </p:spPr>
        <p:txBody>
          <a:bodyPr wrap="square" lIns="0" tIns="0" rIns="0" bIns="0" rtlCol="0" anchor="ctr"/>
          <a:lstStyle/>
          <a:p>
            <a:pPr algn="r" indent="0" marL="0">
              <a:buNone/>
            </a:pPr>
            <a:r>
              <a:rPr lang="en-US" sz="3600" b="1" dirty="0">
                <a:solidFill>
                  <a:srgbClr val="C7D2FE"/>
                </a:solidFill>
              </a:rPr>
              <a:t>1</a:t>
            </a:r>
            <a:endParaRPr lang="en-US" sz="3600" dirty="0"/>
          </a:p>
        </p:txBody>
      </p:sp>
      <p:sp>
        <p:nvSpPr>
          <p:cNvPr id="9" name="Text 5"/>
          <p:cNvSpPr txBox="1"/>
          <p:nvPr/>
        </p:nvSpPr>
        <p:spPr>
          <a:xfrm>
            <a:off x="8778240" y="1508760"/>
            <a:ext cx="2194560" cy="731520"/>
          </a:xfrm>
          <a:prstGeom prst="rect">
            <a:avLst/>
          </a:prstGeom>
          <a:noFill/>
          <a:ln/>
        </p:spPr>
        <p:txBody>
          <a:bodyPr wrap="square" lIns="0" tIns="0" rIns="0" bIns="0" rtlCol="0" anchor="ctr"/>
          <a:lstStyle/>
          <a:p>
            <a:pPr indent="0" marL="0">
              <a:buNone/>
            </a:pPr>
            <a:r>
              <a:rPr lang="en-US" sz="2200" b="1" dirty="0">
                <a:solidFill>
                  <a:schemeClr val="tx1"/>
                </a:solidFill>
              </a:rPr>
              <a:t>Free demo</a:t>
            </a:r>
            <a:endParaRPr lang="en-US" sz="2200" dirty="0"/>
          </a:p>
        </p:txBody>
      </p:sp>
      <p:sp>
        <p:nvSpPr>
          <p:cNvPr id="10" name="step 2"/>
          <p:cNvSpPr/>
          <p:nvPr/>
        </p:nvSpPr>
        <p:spPr>
          <a:xfrm>
            <a:off x="7498080" y="2788920"/>
            <a:ext cx="4114800" cy="1280160"/>
          </a:xfrm>
          <a:prstGeom prst="roundRect">
            <a:avLst>
              <a:gd name="adj" fmla="val 11429"/>
            </a:avLst>
          </a:prstGeom>
          <a:solidFill>
            <a:schemeClr val="bg1"/>
          </a:solidFill>
          <a:ln/>
        </p:spPr>
      </p:sp>
      <p:sp>
        <p:nvSpPr>
          <p:cNvPr id="11" name="step 2 icon circle"/>
          <p:cNvSpPr/>
          <p:nvPr/>
        </p:nvSpPr>
        <p:spPr>
          <a:xfrm>
            <a:off x="7772400" y="3044952"/>
            <a:ext cx="777240" cy="777240"/>
          </a:xfrm>
          <a:prstGeom prst="ellipse">
            <a:avLst/>
          </a:prstGeom>
          <a:solidFill>
            <a:schemeClr val="accent2"/>
          </a:solidFill>
          <a:ln/>
        </p:spPr>
      </p:sp>
      <p:pic>
        <p:nvPicPr>
          <p:cNvPr id="12" name="step 2 icon" descr="preencoded.png">    </p:cNvPr>
          <p:cNvPicPr>
            <a:picLocks noChangeAspect="1"/>
          </p:cNvPicPr>
          <p:nvPr/>
        </p:nvPicPr>
        <p:blipFill>
          <a:blip r:embed="rId4"/>
          <a:stretch>
            <a:fillRect/>
          </a:stretch>
        </p:blipFill>
        <p:spPr>
          <a:xfrm>
            <a:off x="7966710" y="3239262"/>
            <a:ext cx="388620" cy="388620"/>
          </a:xfrm>
          <a:prstGeom prst="rect">
            <a:avLst/>
          </a:prstGeom>
        </p:spPr>
      </p:pic>
      <p:sp>
        <p:nvSpPr>
          <p:cNvPr id="13" name="Text 8"/>
          <p:cNvSpPr txBox="1"/>
          <p:nvPr/>
        </p:nvSpPr>
        <p:spPr>
          <a:xfrm>
            <a:off x="10881360" y="3063240"/>
            <a:ext cx="548640" cy="731520"/>
          </a:xfrm>
          <a:prstGeom prst="rect">
            <a:avLst/>
          </a:prstGeom>
          <a:noFill/>
          <a:ln/>
        </p:spPr>
        <p:txBody>
          <a:bodyPr wrap="square" lIns="0" tIns="0" rIns="0" bIns="0" rtlCol="0" anchor="ctr"/>
          <a:lstStyle/>
          <a:p>
            <a:pPr algn="r" indent="0" marL="0">
              <a:buNone/>
            </a:pPr>
            <a:r>
              <a:rPr lang="en-US" sz="3600" b="1" dirty="0">
                <a:solidFill>
                  <a:srgbClr val="C7D2FE"/>
                </a:solidFill>
              </a:rPr>
              <a:t>2</a:t>
            </a:r>
            <a:endParaRPr lang="en-US" sz="3600" dirty="0"/>
          </a:p>
        </p:txBody>
      </p:sp>
      <p:sp>
        <p:nvSpPr>
          <p:cNvPr id="14" name="Text 9"/>
          <p:cNvSpPr txBox="1"/>
          <p:nvPr/>
        </p:nvSpPr>
        <p:spPr>
          <a:xfrm>
            <a:off x="8778240" y="3063240"/>
            <a:ext cx="2194560" cy="731520"/>
          </a:xfrm>
          <a:prstGeom prst="rect">
            <a:avLst/>
          </a:prstGeom>
          <a:noFill/>
          <a:ln/>
        </p:spPr>
        <p:txBody>
          <a:bodyPr wrap="square" lIns="0" tIns="0" rIns="0" bIns="0" rtlCol="0" anchor="ctr"/>
          <a:lstStyle/>
          <a:p>
            <a:pPr indent="0" marL="0">
              <a:buNone/>
            </a:pPr>
            <a:r>
              <a:rPr lang="en-US" sz="2200" b="1" dirty="0">
                <a:solidFill>
                  <a:schemeClr val="tx1"/>
                </a:solidFill>
              </a:rPr>
              <a:t>Connect WhatsApp</a:t>
            </a:r>
            <a:endParaRPr lang="en-US" sz="2200" dirty="0"/>
          </a:p>
        </p:txBody>
      </p:sp>
      <p:sp>
        <p:nvSpPr>
          <p:cNvPr id="15" name="step 3"/>
          <p:cNvSpPr/>
          <p:nvPr/>
        </p:nvSpPr>
        <p:spPr>
          <a:xfrm>
            <a:off x="7498080" y="4343400"/>
            <a:ext cx="4114800" cy="1280160"/>
          </a:xfrm>
          <a:prstGeom prst="roundRect">
            <a:avLst>
              <a:gd name="adj" fmla="val 11429"/>
            </a:avLst>
          </a:prstGeom>
          <a:solidFill>
            <a:schemeClr val="bg1"/>
          </a:solidFill>
          <a:ln/>
        </p:spPr>
      </p:sp>
      <p:sp>
        <p:nvSpPr>
          <p:cNvPr id="16" name="step 3 icon circle"/>
          <p:cNvSpPr/>
          <p:nvPr/>
        </p:nvSpPr>
        <p:spPr>
          <a:xfrm>
            <a:off x="7772400" y="4599432"/>
            <a:ext cx="777240" cy="777240"/>
          </a:xfrm>
          <a:prstGeom prst="ellipse">
            <a:avLst/>
          </a:prstGeom>
          <a:solidFill>
            <a:schemeClr val="accent1"/>
          </a:solidFill>
          <a:ln/>
        </p:spPr>
      </p:sp>
      <p:pic>
        <p:nvPicPr>
          <p:cNvPr id="17" name="step 3 icon" descr="preencoded.png">    </p:cNvPr>
          <p:cNvPicPr>
            <a:picLocks noChangeAspect="1"/>
          </p:cNvPicPr>
          <p:nvPr/>
        </p:nvPicPr>
        <p:blipFill>
          <a:blip r:embed="rId5"/>
          <a:stretch>
            <a:fillRect/>
          </a:stretch>
        </p:blipFill>
        <p:spPr>
          <a:xfrm>
            <a:off x="7966710" y="4793742"/>
            <a:ext cx="388620" cy="388620"/>
          </a:xfrm>
          <a:prstGeom prst="rect">
            <a:avLst/>
          </a:prstGeom>
        </p:spPr>
      </p:pic>
      <p:sp>
        <p:nvSpPr>
          <p:cNvPr id="18" name="Text 12"/>
          <p:cNvSpPr txBox="1"/>
          <p:nvPr/>
        </p:nvSpPr>
        <p:spPr>
          <a:xfrm>
            <a:off x="10881360" y="4617720"/>
            <a:ext cx="548640" cy="731520"/>
          </a:xfrm>
          <a:prstGeom prst="rect">
            <a:avLst/>
          </a:prstGeom>
          <a:noFill/>
          <a:ln/>
        </p:spPr>
        <p:txBody>
          <a:bodyPr wrap="square" lIns="0" tIns="0" rIns="0" bIns="0" rtlCol="0" anchor="ctr"/>
          <a:lstStyle/>
          <a:p>
            <a:pPr algn="r" indent="0" marL="0">
              <a:buNone/>
            </a:pPr>
            <a:r>
              <a:rPr lang="en-US" sz="3600" b="1" dirty="0">
                <a:solidFill>
                  <a:srgbClr val="C7D2FE"/>
                </a:solidFill>
              </a:rPr>
              <a:t>3</a:t>
            </a:r>
            <a:endParaRPr lang="en-US" sz="3600" dirty="0"/>
          </a:p>
        </p:txBody>
      </p:sp>
      <p:sp>
        <p:nvSpPr>
          <p:cNvPr id="19" name="Text 13"/>
          <p:cNvSpPr txBox="1"/>
          <p:nvPr/>
        </p:nvSpPr>
        <p:spPr>
          <a:xfrm>
            <a:off x="8778240" y="4617720"/>
            <a:ext cx="2194560" cy="731520"/>
          </a:xfrm>
          <a:prstGeom prst="rect">
            <a:avLst/>
          </a:prstGeom>
          <a:noFill/>
          <a:ln/>
        </p:spPr>
        <p:txBody>
          <a:bodyPr wrap="square" lIns="0" tIns="0" rIns="0" bIns="0" rtlCol="0" anchor="ctr"/>
          <a:lstStyle/>
          <a:p>
            <a:pPr indent="0" marL="0">
              <a:buNone/>
            </a:pPr>
            <a:r>
              <a:rPr lang="en-US" sz="2200" b="1" dirty="0">
                <a:solidFill>
                  <a:schemeClr val="tx1"/>
                </a:solidFill>
              </a:rPr>
              <a:t>Go live</a:t>
            </a:r>
            <a:endParaRPr lang="en-US" sz="2200" dirty="0"/>
          </a:p>
        </p:txBody>
      </p:sp>
      <p:sp>
        <p:nvSpPr>
          <p:cNvPr id="20" name="Text 14"/>
          <p:cNvSpPr txBox="1"/>
          <p:nvPr/>
        </p:nvSpPr>
        <p:spPr>
          <a:xfrm>
            <a:off x="640080" y="5897880"/>
            <a:ext cx="6400800" cy="411480"/>
          </a:xfrm>
          <a:prstGeom prst="rect">
            <a:avLst/>
          </a:prstGeom>
          <a:noFill/>
          <a:ln/>
        </p:spPr>
        <p:txBody>
          <a:bodyPr wrap="square" lIns="0" tIns="0" rIns="0" bIns="0" rtlCol="0" anchor="t"/>
          <a:lstStyle/>
          <a:p>
            <a:pPr indent="0" marL="0">
              <a:buNone/>
            </a:pPr>
            <a:r>
              <a:rPr lang="en-US" sz="2000" dirty="0">
                <a:solidFill>
                  <a:srgbClr val="9FF0B0"/>
                </a:solidFill>
              </a:rPr>
              <a:t>Thank you · ధన్యవాదాలు · धन्यवाद</a:t>
            </a:r>
            <a:endParaRPr lang="en-US" sz="2000" dirty="0"/>
          </a:p>
        </p:txBody>
      </p:sp>
    </p:spTree>
  </p:cSld>
  <p:clrMapOvr>
    <a:masterClrMapping/>
  </p:clrMapOvr>
</p:sld>
</file>

<file path=ppt/theme/theme1.xml><?xml version="1.0" encoding="utf-8"?>
<a:theme xmlns:a="http://schemas.openxmlformats.org/drawingml/2006/main" name="WAMA CRM">
  <a:themeElements>
    <a:clrScheme name="WAMA CRM">
      <a:dk1>
        <a:srgbClr val="0E1B3D"/>
      </a:dk1>
      <a:lt1>
        <a:srgbClr val="FFFFFF"/>
      </a:lt1>
      <a:dk2>
        <a:srgbClr val="4A5874"/>
      </a:dk2>
      <a:lt2>
        <a:srgbClr val="F4F6FA"/>
      </a:lt2>
      <a:accent1>
        <a:srgbClr val="1D5BEA"/>
      </a:accent1>
      <a:accent2>
        <a:srgbClr val="00A884"/>
      </a:accent2>
      <a:accent3>
        <a:srgbClr val="0E1B3D"/>
      </a:accent3>
      <a:accent4>
        <a:srgbClr val="F59E0B"/>
      </a:accent4>
      <a:accent5>
        <a:srgbClr val="6B7894"/>
      </a:accent5>
      <a:accent6>
        <a:srgbClr val="E5484D"/>
      </a:accent6>
      <a:hlink>
        <a:srgbClr val="1D5BEA"/>
      </a:hlink>
      <a:folHlink>
        <a:srgbClr val="4A5874"/>
      </a:folHlink>
    </a:clrScheme>
    <a:fontScheme name="WAMA CR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Magnetora AI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WAMA CRM: turn WhatsApp chats into sales</dc:title>
  <dc:subject>PptxGenJS Presentation</dc:subject>
  <dc:creator>Magnetora AI Solutions</dc:creator>
  <cp:lastModifiedBy>Magnetora AI Solutions</cp:lastModifiedBy>
  <cp:revision>1</cp:revision>
  <dcterms:created xsi:type="dcterms:W3CDTF">2026-10-23T19:48:39Z</dcterms:created>
  <dcterms:modified xsi:type="dcterms:W3CDTF">2026-10-23T19:48:39Z</dcterms:modified>
</cp:coreProperties>
</file>