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2fa5ba9-e4e9-3390-dbda-febf548de6d1}">
          <p14:sldIdLst>
            <p14:sldId id="256"/>
          </p14:sldIdLst>
        </p14:section>
        <p14:section name="The problem" id="{a8f4fe23-90e2-66d7-1910-3fca180e3df8}">
          <p14:sldIdLst>
            <p14:sldId id="257"/>
            <p14:sldId id="258"/>
          </p14:sldIdLst>
        </p14:section>
        <p14:section name="Who we are" id="{2fd8ecab-024b-4376-8bb0-d088711a44b5}">
          <p14:sldIdLst>
            <p14:sldId id="259"/>
          </p14:sldIdLst>
        </p14:section>
        <p14:section name="The solution" id="{e7d3a17f-9431-e85e-a29b-551f236d9abb}">
          <p14:sldIdLst>
            <p14:sldId id="260"/>
            <p14:sldId id="261"/>
          </p14:sldIdLst>
        </p14:section>
        <p14:section name="Features" id="{682c2e68-f2d8-b0b9-1556-582a946c9633}">
          <p14:sldIdLst>
            <p14:sldId id="262"/>
            <p14:sldId id="263"/>
            <p14:sldId id="264"/>
            <p14:sldId id="265"/>
          </p14:sldIdLst>
        </p14:section>
        <p14:section name="Your gain" id="{710cc10d-eef9-7c66-1e27-0b6eb5317b86}">
          <p14:sldIdLst>
            <p14:sldId id="266"/>
          </p14:sldIdLst>
        </p14:section>
        <p14:section name="Trusted by" id="{02caa234-39cc-e1cf-214b-6ec9241c1fb8}">
          <p14:sldIdLst>
            <p14:sldId id="267"/>
            <p14:sldId id="268"/>
          </p14:sldIdLst>
        </p14:section>
        <p14:section name="Next steps" id="{4d628f5b-f1a6-ec00-f869-92c9e8d44fb7}">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Monthly loss (₹)</c:v>
                </c:pt>
              </c:strCache>
            </c:strRef>
          </c:tx>
          <c:spPr>
            <a:solidFill>
              <a:srgbClr val="E5484D"/>
            </a:solidFill>
            <a:effectLst/>
          </c:spPr>
          <c:invertIfNegative val="0"/>
          <c:dLbls>
            <c:numFmt formatCode="₹#,##0" sourceLinked="0"/>
            <c:txPr>
              <a:bodyPr/>
              <a:lstStyle/>
              <a:p>
                <a:pPr>
                  <a:defRPr b="0" i="0" strike="noStrike" sz="1300" u="none">
                    <a:solidFill>
                      <a:srgbClr val="0E1B3D"/>
                    </a:solidFill>
                    <a:latin typeface="+mn-lt"/>
                  </a:defRPr>
                </a:pPr>
              </a:p>
            </c:txPr>
            <c:showLegendKey val="0"/>
            <c:showVal val="1"/>
            <c:showCatName val="0"/>
            <c:showSerName val="0"/>
            <c:showPercent val="0"/>
            <c:showBubbleSize val="0"/>
            <c:showLeaderLines val="0"/>
          </c:dLbls>
          <c:cat>
            <c:multiLvlStrRef>
              <c:f>Sheet1!$A$2:$A$4</c:f>
              <c:multiLvlStrCache>
                <c:ptCount val="3"/>
                <c:lvl>
                  <c:pt idx="0">
                    <c:v>Missed replies</c:v>
                  </c:pt>
                  <c:pt idx="1">
                    <c:v>No follow-up</c:v>
                  </c:pt>
                  <c:pt idx="2">
                    <c:v>Staff time</c:v>
                  </c:pt>
                </c:lvl>
              </c:multiLvlStrCache>
            </c:multiLvlStrRef>
          </c:cat>
          <c:val>
            <c:numRef>
              <c:f>Sheet1!$B$2:$B$4</c:f>
              <c:numCache>
                <c:formatCode>General</c:formatCode>
                <c:ptCount val="3"/>
                <c:pt idx="0">
                  <c:v>36000</c:v>
                </c:pt>
                <c:pt idx="1">
                  <c:v>12000</c:v>
                </c:pt>
                <c:pt idx="2">
                  <c:v>7800</c:v>
                </c:pt>
              </c:numCache>
            </c:numRef>
          </c:val>
        </c:ser>
        <c:dLbls>
          <c:numFmt formatCode="₹#,##0" sourceLinked="0"/>
          <c:txPr>
            <a:bodyPr/>
            <a:lstStyle/>
            <a:p>
              <a:pPr>
                <a:defRPr b="0" i="0" strike="noStrike" sz="1300" u="none">
                  <a:solidFill>
                    <a:srgbClr val="0E1B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4A5874"/>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Namaste. Today we will show how WAMA CRM helps your business reply faster, sell more and support customers on WhatsApp. WAMA CRM is built by Magnetora AI Solutions, an official Meta Tech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problems we hear from almost every business owner. Ask the client which of these six they face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example slowly. These are conservative numbers. Then ask: how many enquiries do you get in a month, and what is your average sale? Replace the example with their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Magnetora AI Solutions: we are an AI company and an official Meta Tech Provider. WAMA CRM is our main product for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WAMA CRM brings four jobs into one tool: replying, selling, marketing and support. Everything works on the official WhatsApp Business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journey with one real example from the client’s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AI understands mixed-language messages exactly how Indian customers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shops and D2C brands: customers can browse, order and pay without leaving WhatsApp. No website or app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Campaigns use Meta-approved templates, so the number stays safe. Every message is tracked from sent to replied.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features help teams that handle support, admissions, bookings or sales follow-ups.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this back to the cost slide. Even if WAMA CRM recovers only half of the loss, the gain is about 3.3 lakh rupees a year in this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name boxes with the official Deep India and Consular Helpdesk logos before presenting. Share how each organisation uses WAMA CRM in their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0% markup and the official Meta connection. These are the two biggest worries clients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booking the demo date. Offer to set up the WhatsApp connection together on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76656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4023360"/>
            <a:ext cx="6766560" cy="1188720"/>
          </a:xfrm>
          <a:prstGeom prst="rect">
            <a:avLst/>
          </a:prstGeom>
          <a:noFill/>
          <a:ln/>
        </p:spPr>
        <p:txBody>
          <a:bodyPr wrap="square" rtlCol="0"/>
          <a:lstStyle>
            <a:lvl1pPr algn="l" indent="0" marL="0">
              <a:buNone/>
              <a:defRPr lang="en-US" sz="1800" dirty="0">
                <a:solidFill>
                  <a:srgbClr val="C9D6F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pic>
        <p:nvPicPr>
          <p:cNvPr id="3" name="Image 0" descr="/home/user/Marketing-CRM/docs/brand/wamacrm-logo-horizontal.png">    </p:cNvPr>
          <p:cNvPicPr>
            <a:picLocks noChangeAspect="1"/>
          </p:cNvPicPr>
          <p:nvPr/>
        </p:nvPicPr>
        <p:blipFill>
          <a:blip r:embed="rId1"/>
          <a:stretch>
            <a:fillRect/>
          </a:stretch>
        </p:blipFill>
        <p:spPr>
          <a:xfrm>
            <a:off x="548640" y="6382512"/>
            <a:ext cx="1280160" cy="365760"/>
          </a:xfrm>
          <a:prstGeom prst="rect">
            <a:avLst/>
          </a:prstGeom>
        </p:spPr>
      </p:pic>
      <p:sp>
        <p:nvSpPr>
          <p:cNvPr id="4" name="Text 0"/>
          <p:cNvSpPr/>
          <p:nvPr/>
        </p:nvSpPr>
        <p:spPr>
          <a:xfrm>
            <a:off x="1920240" y="6400800"/>
            <a:ext cx="4572000" cy="320040"/>
          </a:xfrm>
          <a:prstGeom prst="rect">
            <a:avLst/>
          </a:prstGeom>
          <a:noFill/>
          <a:ln/>
        </p:spPr>
        <p:txBody>
          <a:bodyPr wrap="square" lIns="0" tIns="0" rIns="0" bIns="0" rtlCol="0" anchor="ctr"/>
          <a:lstStyle/>
          <a:p>
            <a:pPr indent="0" marL="0">
              <a:buNone/>
            </a:pPr>
            <a:r>
              <a:rPr lang="en-US" sz="1000" dirty="0">
                <a:solidFill>
                  <a:schemeClr val="accent6"/>
                </a:solidFill>
              </a:rPr>
              <a:t>WAMA CRM · by Magnetora AI Solutions</a:t>
            </a:r>
            <a:endParaRPr lang="en-US" sz="10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WAMA CRM logo" descr="/home/user/Marketing-CRM/docs/brand/wamacrm-logo-horizontal-light.png">    </p:cNvPr>
          <p:cNvPicPr>
            <a:picLocks noChangeAspect="1"/>
          </p:cNvPicPr>
          <p:nvPr/>
        </p:nvPicPr>
        <p:blipFill>
          <a:blip r:embed="rId1"/>
          <a:stretch>
            <a:fillRect/>
          </a:stretch>
        </p:blipFill>
        <p:spPr>
          <a:xfrm>
            <a:off x="640080" y="548640"/>
            <a:ext cx="3200400" cy="914400"/>
          </a:xfrm>
          <a:prstGeom prst="rect">
            <a:avLst/>
          </a:prstGeom>
        </p:spPr>
      </p:pic>
      <p:sp>
        <p:nvSpPr>
          <p:cNvPr id="3" name="Meta badge"/>
          <p:cNvSpPr/>
          <p:nvPr/>
        </p:nvSpPr>
        <p:spPr>
          <a:xfrm>
            <a:off x="640080" y="1572768"/>
            <a:ext cx="3246120" cy="384048"/>
          </a:xfrm>
          <a:prstGeom prst="roundRect">
            <a:avLst>
              <a:gd name="adj" fmla="val 50000"/>
            </a:avLst>
          </a:prstGeom>
          <a:solidFill>
            <a:srgbClr val="1D3A8A"/>
          </a:solidFill>
          <a:ln w="12700">
            <a:solidFill>
              <a:srgbClr val="3B6BE8"/>
            </a:solidFill>
            <a:prstDash val="solid"/>
          </a:ln>
        </p:spPr>
      </p:sp>
      <p:pic>
        <p:nvPicPr>
          <p:cNvPr id="4" name="Image 1" descr="preencoded.png">    </p:cNvPr>
          <p:cNvPicPr>
            <a:picLocks noChangeAspect="1"/>
          </p:cNvPicPr>
          <p:nvPr/>
        </p:nvPicPr>
        <p:blipFill>
          <a:blip r:embed="rId2"/>
          <a:stretch>
            <a:fillRect/>
          </a:stretch>
        </p:blipFill>
        <p:spPr>
          <a:xfrm>
            <a:off x="768096" y="1664208"/>
            <a:ext cx="201168" cy="201168"/>
          </a:xfrm>
          <a:prstGeom prst="rect">
            <a:avLst/>
          </a:prstGeom>
        </p:spPr>
      </p:pic>
      <p:sp>
        <p:nvSpPr>
          <p:cNvPr id="5" name="Text 1"/>
          <p:cNvSpPr txBox="1"/>
          <p:nvPr/>
        </p:nvSpPr>
        <p:spPr>
          <a:xfrm>
            <a:off x="1042416" y="1572768"/>
            <a:ext cx="2743200" cy="384048"/>
          </a:xfrm>
          <a:prstGeom prst="rect">
            <a:avLst/>
          </a:prstGeom>
          <a:noFill/>
          <a:ln/>
        </p:spPr>
        <p:txBody>
          <a:bodyPr wrap="square" lIns="0" tIns="0" rIns="0" bIns="0" rtlCol="0" anchor="ctr"/>
          <a:lstStyle/>
          <a:p>
            <a:pPr indent="0" marL="0">
              <a:buNone/>
            </a:pPr>
            <a:r>
              <a:rPr lang="en-US" sz="1300" b="1" dirty="0">
                <a:solidFill>
                  <a:schemeClr val="bg1"/>
                </a:solidFill>
              </a:rPr>
              <a:t>Official Meta Tech Provider</a:t>
            </a:r>
            <a:endParaRPr lang="en-US" sz="1300" dirty="0"/>
          </a:p>
        </p:txBody>
      </p:sp>
      <p:sp>
        <p:nvSpPr>
          <p:cNvPr id="6" name="Text 0"/>
          <p:cNvSpPr/>
          <p:nvPr>
            <p:ph idx="100" type="title" hasCustomPrompt="1"/>
          </p:nvPr>
        </p:nvSpPr>
        <p:spPr>
          <a:xfrm>
            <a:off x="640080" y="2011680"/>
            <a:ext cx="6766560" cy="1828800"/>
          </a:xfrm>
          <a:prstGeom prst="rect">
            <a:avLst/>
          </a:prstGeom>
          <a:noFill/>
          <a:ln/>
        </p:spPr>
        <p:txBody>
          <a:bodyPr wrap="square" lIns="0" tIns="0" rIns="0" bIns="0" rtlCol="0" anchor="b"/>
          <a:lstStyle/>
          <a:p>
            <a:pPr algn="l" indent="0" marL="0">
              <a:buNone/>
            </a:pPr>
            <a:r>
              <a:rPr lang="en-US" sz="4400" b="1" dirty="0">
                <a:solidFill>
                  <a:schemeClr val="bg1"/>
                </a:solidFill>
              </a:rPr>
              <a:t>Turn every WhatsApp chat into a sale</a:t>
            </a:r>
            <a:endParaRPr lang="en-US" sz="4400" dirty="0"/>
          </a:p>
        </p:txBody>
      </p:sp>
      <p:sp>
        <p:nvSpPr>
          <p:cNvPr id="7" name="Text 0"/>
          <p:cNvSpPr/>
          <p:nvPr>
            <p:ph idx="101" type="body" hasCustomPrompt="1"/>
          </p:nvPr>
        </p:nvSpPr>
        <p:spPr>
          <a:xfrm>
            <a:off x="640080" y="4023360"/>
            <a:ext cx="6766560" cy="1188720"/>
          </a:xfrm>
          <a:prstGeom prst="rect">
            <a:avLst/>
          </a:prstGeom>
          <a:noFill/>
          <a:ln/>
        </p:spPr>
        <p:txBody>
          <a:bodyPr wrap="square" lIns="0" tIns="0" rIns="0" bIns="0" rtlCol="0" anchor="t"/>
          <a:lstStyle/>
          <a:p>
            <a:pPr algn="l" indent="0" marL="0">
              <a:buNone/>
            </a:pPr>
            <a:r>
              <a:rPr lang="en-US" sz="1800" dirty="0">
                <a:solidFill>
                  <a:srgbClr val="C9D6F2"/>
                </a:solidFill>
              </a:rPr>
              <a:t>WAMA CRM is the WhatsApp AI CRM for Indian businesses: reply in seconds, sell in the chat, send campaigns and support customers, all from one place.</a:t>
            </a:r>
            <a:endParaRPr lang="en-US" sz="1800" dirty="0"/>
          </a:p>
        </p:txBody>
      </p:sp>
      <p:sp>
        <p:nvSpPr>
          <p:cNvPr id="8" name="icon card"/>
          <p:cNvSpPr/>
          <p:nvPr/>
        </p:nvSpPr>
        <p:spPr>
          <a:xfrm>
            <a:off x="8001000" y="1051560"/>
            <a:ext cx="3566160" cy="3566160"/>
          </a:xfrm>
          <a:prstGeom prst="roundRect">
            <a:avLst>
              <a:gd name="adj" fmla="val 3077"/>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pic>
        <p:nvPicPr>
          <p:cNvPr id="9" name="WAMA CRM icon" descr="/home/user/Marketing-CRM/docs/brand/wamacrm-icon.png">    </p:cNvPr>
          <p:cNvPicPr>
            <a:picLocks noChangeAspect="1"/>
          </p:cNvPicPr>
          <p:nvPr/>
        </p:nvPicPr>
        <p:blipFill>
          <a:blip r:embed="rId3"/>
          <a:stretch>
            <a:fillRect/>
          </a:stretch>
        </p:blipFill>
        <p:spPr>
          <a:xfrm>
            <a:off x="8275320" y="1325880"/>
            <a:ext cx="3017520" cy="3017520"/>
          </a:xfrm>
          <a:prstGeom prst="rect">
            <a:avLst/>
          </a:prstGeom>
        </p:spPr>
      </p:pic>
      <p:sp>
        <p:nvSpPr>
          <p:cNvPr id="10" name="Text 5"/>
          <p:cNvSpPr txBox="1"/>
          <p:nvPr/>
        </p:nvSpPr>
        <p:spPr>
          <a:xfrm>
            <a:off x="640080" y="5760720"/>
            <a:ext cx="5486400" cy="320040"/>
          </a:xfrm>
          <a:prstGeom prst="rect">
            <a:avLst/>
          </a:prstGeom>
          <a:noFill/>
          <a:ln/>
        </p:spPr>
        <p:txBody>
          <a:bodyPr wrap="square" lIns="0" tIns="0" rIns="0" bIns="0" rtlCol="0" anchor="t"/>
          <a:lstStyle/>
          <a:p>
            <a:pPr indent="0" marL="0">
              <a:buNone/>
            </a:pPr>
            <a:r>
              <a:rPr lang="en-US" sz="1400" dirty="0">
                <a:solidFill>
                  <a:srgbClr val="9FB0D6"/>
                </a:solidFill>
              </a:rPr>
              <a:t>Presented by Magnetora AI Solutions</a:t>
            </a:r>
            <a:endParaRPr lang="en-US" sz="1400" dirty="0"/>
          </a:p>
        </p:txBody>
      </p:sp>
      <p:sp>
        <p:nvSpPr>
          <p:cNvPr id="11" name="Text 6"/>
          <p:cNvSpPr txBox="1"/>
          <p:nvPr/>
        </p:nvSpPr>
        <p:spPr>
          <a:xfrm>
            <a:off x="8001000" y="5760720"/>
            <a:ext cx="3566160" cy="320040"/>
          </a:xfrm>
          <a:prstGeom prst="rect">
            <a:avLst/>
          </a:prstGeom>
          <a:noFill/>
          <a:ln/>
        </p:spPr>
        <p:txBody>
          <a:bodyPr wrap="square" lIns="0" tIns="0" rIns="0" bIns="0" rtlCol="0" anchor="t"/>
          <a:lstStyle/>
          <a:p>
            <a:pPr algn="r" indent="0" marL="0">
              <a:buNone/>
            </a:pPr>
            <a:r>
              <a:rPr lang="en-US" sz="1400" b="1" dirty="0">
                <a:solidFill>
                  <a:srgbClr val="5FB4FF"/>
                </a:solidFill>
              </a:rPr>
              <a:t>wamacrm.magnetora.in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Your customers are on WhatsApp. Are you ready?</a:t>
            </a:r>
            <a:endParaRPr lang="en-US" sz="3200" dirty="0"/>
          </a:p>
        </p:txBody>
      </p:sp>
      <p:sp>
        <p:nvSpPr>
          <p:cNvPr id="3" name="problem 1"/>
          <p:cNvSpPr/>
          <p:nvPr/>
        </p:nvSpPr>
        <p:spPr>
          <a:xfrm>
            <a:off x="548640" y="1417320"/>
            <a:ext cx="3520440" cy="2148840"/>
          </a:xfrm>
          <a:prstGeom prst="roundRect">
            <a:avLst>
              <a:gd name="adj" fmla="val 5106"/>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4" name="problem 1 icon circle"/>
          <p:cNvSpPr/>
          <p:nvPr/>
        </p:nvSpPr>
        <p:spPr>
          <a:xfrm>
            <a:off x="822960" y="1691640"/>
            <a:ext cx="566928" cy="566928"/>
          </a:xfrm>
          <a:prstGeom prst="ellipse">
            <a:avLst/>
          </a:prstGeom>
          <a:solidFill>
            <a:schemeClr val="accent5"/>
          </a:solidFill>
          <a:ln/>
        </p:spPr>
      </p:sp>
      <p:pic>
        <p:nvPicPr>
          <p:cNvPr id="5" name="problem 1 icon" descr="preencoded.png">    </p:cNvPr>
          <p:cNvPicPr>
            <a:picLocks noChangeAspect="1"/>
          </p:cNvPicPr>
          <p:nvPr/>
        </p:nvPicPr>
        <p:blipFill>
          <a:blip r:embed="rId1"/>
          <a:stretch>
            <a:fillRect/>
          </a:stretch>
        </p:blipFill>
        <p:spPr>
          <a:xfrm>
            <a:off x="959023" y="1827703"/>
            <a:ext cx="294803" cy="294803"/>
          </a:xfrm>
          <a:prstGeom prst="rect">
            <a:avLst/>
          </a:prstGeom>
        </p:spPr>
      </p:pic>
      <p:sp>
        <p:nvSpPr>
          <p:cNvPr id="6" name="Text 3"/>
          <p:cNvSpPr txBox="1"/>
          <p:nvPr/>
        </p:nvSpPr>
        <p:spPr>
          <a:xfrm>
            <a:off x="1536192" y="1746504"/>
            <a:ext cx="2377440" cy="457200"/>
          </a:xfrm>
          <a:prstGeom prst="rect">
            <a:avLst/>
          </a:prstGeom>
          <a:noFill/>
          <a:ln/>
        </p:spPr>
        <p:txBody>
          <a:bodyPr wrap="square" lIns="0" tIns="0" rIns="0" bIns="0" rtlCol="0" anchor="ctr"/>
          <a:lstStyle/>
          <a:p>
            <a:pPr indent="0" marL="0">
              <a:buNone/>
            </a:pPr>
            <a:r>
              <a:rPr lang="en-US" sz="1900" b="1" dirty="0">
                <a:solidFill>
                  <a:schemeClr val="tx1"/>
                </a:solidFill>
              </a:rPr>
              <a:t>Late replies</a:t>
            </a:r>
            <a:endParaRPr lang="en-US" sz="1900" dirty="0"/>
          </a:p>
        </p:txBody>
      </p:sp>
      <p:sp>
        <p:nvSpPr>
          <p:cNvPr id="7" name="Text 4"/>
          <p:cNvSpPr txBox="1"/>
          <p:nvPr/>
        </p:nvSpPr>
        <p:spPr>
          <a:xfrm>
            <a:off x="822960" y="2404872"/>
            <a:ext cx="3017520" cy="1051560"/>
          </a:xfrm>
          <a:prstGeom prst="rect">
            <a:avLst/>
          </a:prstGeom>
          <a:noFill/>
          <a:ln/>
        </p:spPr>
        <p:txBody>
          <a:bodyPr wrap="square" lIns="0" tIns="0" rIns="0" bIns="0" rtlCol="0" anchor="t"/>
          <a:lstStyle/>
          <a:p>
            <a:pPr indent="0" marL="0">
              <a:buNone/>
            </a:pPr>
            <a:r>
              <a:rPr lang="en-US" sz="1500" dirty="0">
                <a:solidFill>
                  <a:schemeClr val="tx2"/>
                </a:solidFill>
              </a:rPr>
              <a:t>Customers message at night and on Sundays. If nobody replies fast, they buy from someone else.</a:t>
            </a:r>
            <a:endParaRPr lang="en-US" sz="1500" dirty="0"/>
          </a:p>
        </p:txBody>
      </p:sp>
      <p:sp>
        <p:nvSpPr>
          <p:cNvPr id="8" name="problem 2"/>
          <p:cNvSpPr/>
          <p:nvPr/>
        </p:nvSpPr>
        <p:spPr>
          <a:xfrm>
            <a:off x="4297680" y="1417320"/>
            <a:ext cx="3520440" cy="2148840"/>
          </a:xfrm>
          <a:prstGeom prst="roundRect">
            <a:avLst>
              <a:gd name="adj" fmla="val 5106"/>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9" name="problem 2 icon circle"/>
          <p:cNvSpPr/>
          <p:nvPr/>
        </p:nvSpPr>
        <p:spPr>
          <a:xfrm>
            <a:off x="4572000" y="1691640"/>
            <a:ext cx="566928" cy="566928"/>
          </a:xfrm>
          <a:prstGeom prst="ellipse">
            <a:avLst/>
          </a:prstGeom>
          <a:solidFill>
            <a:schemeClr val="accent5"/>
          </a:solidFill>
          <a:ln/>
        </p:spPr>
      </p:sp>
      <p:pic>
        <p:nvPicPr>
          <p:cNvPr id="10" name="problem 2 icon" descr="preencoded.png">    </p:cNvPr>
          <p:cNvPicPr>
            <a:picLocks noChangeAspect="1"/>
          </p:cNvPicPr>
          <p:nvPr/>
        </p:nvPicPr>
        <p:blipFill>
          <a:blip r:embed="rId2"/>
          <a:stretch>
            <a:fillRect/>
          </a:stretch>
        </p:blipFill>
        <p:spPr>
          <a:xfrm>
            <a:off x="4708063" y="1827703"/>
            <a:ext cx="294803" cy="294803"/>
          </a:xfrm>
          <a:prstGeom prst="rect">
            <a:avLst/>
          </a:prstGeom>
        </p:spPr>
      </p:pic>
      <p:sp>
        <p:nvSpPr>
          <p:cNvPr id="11" name="Text 7"/>
          <p:cNvSpPr txBox="1"/>
          <p:nvPr/>
        </p:nvSpPr>
        <p:spPr>
          <a:xfrm>
            <a:off x="5285232" y="1746504"/>
            <a:ext cx="2377440" cy="457200"/>
          </a:xfrm>
          <a:prstGeom prst="rect">
            <a:avLst/>
          </a:prstGeom>
          <a:noFill/>
          <a:ln/>
        </p:spPr>
        <p:txBody>
          <a:bodyPr wrap="square" lIns="0" tIns="0" rIns="0" bIns="0" rtlCol="0" anchor="ctr"/>
          <a:lstStyle/>
          <a:p>
            <a:pPr indent="0" marL="0">
              <a:buNone/>
            </a:pPr>
            <a:r>
              <a:rPr lang="en-US" sz="1900" b="1" dirty="0">
                <a:solidFill>
                  <a:schemeClr val="tx1"/>
                </a:solidFill>
              </a:rPr>
              <a:t>Chats stuck in phones</a:t>
            </a:r>
            <a:endParaRPr lang="en-US" sz="1900" dirty="0"/>
          </a:p>
        </p:txBody>
      </p:sp>
      <p:sp>
        <p:nvSpPr>
          <p:cNvPr id="12" name="Text 8"/>
          <p:cNvSpPr txBox="1"/>
          <p:nvPr/>
        </p:nvSpPr>
        <p:spPr>
          <a:xfrm>
            <a:off x="4572000" y="2404872"/>
            <a:ext cx="3017520" cy="1051560"/>
          </a:xfrm>
          <a:prstGeom prst="rect">
            <a:avLst/>
          </a:prstGeom>
          <a:noFill/>
          <a:ln/>
        </p:spPr>
        <p:txBody>
          <a:bodyPr wrap="square" lIns="0" tIns="0" rIns="0" bIns="0" rtlCol="0" anchor="t"/>
          <a:lstStyle/>
          <a:p>
            <a:pPr indent="0" marL="0">
              <a:buNone/>
            </a:pPr>
            <a:r>
              <a:rPr lang="en-US" sz="1500" dirty="0">
                <a:solidFill>
                  <a:schemeClr val="tx2"/>
                </a:solidFill>
              </a:rPr>
              <a:t>Leads sit in different staff phones. When a staff member leaves, their customers go too.</a:t>
            </a:r>
            <a:endParaRPr lang="en-US" sz="1500" dirty="0"/>
          </a:p>
        </p:txBody>
      </p:sp>
      <p:sp>
        <p:nvSpPr>
          <p:cNvPr id="13" name="problem 3"/>
          <p:cNvSpPr/>
          <p:nvPr/>
        </p:nvSpPr>
        <p:spPr>
          <a:xfrm>
            <a:off x="8046720" y="1417320"/>
            <a:ext cx="3520440" cy="2148840"/>
          </a:xfrm>
          <a:prstGeom prst="roundRect">
            <a:avLst>
              <a:gd name="adj" fmla="val 5106"/>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14" name="problem 3 icon circle"/>
          <p:cNvSpPr/>
          <p:nvPr/>
        </p:nvSpPr>
        <p:spPr>
          <a:xfrm>
            <a:off x="8321040" y="1691640"/>
            <a:ext cx="566928" cy="566928"/>
          </a:xfrm>
          <a:prstGeom prst="ellipse">
            <a:avLst/>
          </a:prstGeom>
          <a:solidFill>
            <a:schemeClr val="accent5"/>
          </a:solidFill>
          <a:ln/>
        </p:spPr>
      </p:sp>
      <p:pic>
        <p:nvPicPr>
          <p:cNvPr id="15" name="problem 3 icon" descr="preencoded.png">    </p:cNvPr>
          <p:cNvPicPr>
            <a:picLocks noChangeAspect="1"/>
          </p:cNvPicPr>
          <p:nvPr/>
        </p:nvPicPr>
        <p:blipFill>
          <a:blip r:embed="rId3"/>
          <a:stretch>
            <a:fillRect/>
          </a:stretch>
        </p:blipFill>
        <p:spPr>
          <a:xfrm>
            <a:off x="8457103" y="1827703"/>
            <a:ext cx="294803" cy="294803"/>
          </a:xfrm>
          <a:prstGeom prst="rect">
            <a:avLst/>
          </a:prstGeom>
        </p:spPr>
      </p:pic>
      <p:sp>
        <p:nvSpPr>
          <p:cNvPr id="16" name="Text 11"/>
          <p:cNvSpPr txBox="1"/>
          <p:nvPr/>
        </p:nvSpPr>
        <p:spPr>
          <a:xfrm>
            <a:off x="9034272" y="1746504"/>
            <a:ext cx="2377440" cy="457200"/>
          </a:xfrm>
          <a:prstGeom prst="rect">
            <a:avLst/>
          </a:prstGeom>
          <a:noFill/>
          <a:ln/>
        </p:spPr>
        <p:txBody>
          <a:bodyPr wrap="square" lIns="0" tIns="0" rIns="0" bIns="0" rtlCol="0" anchor="ctr"/>
          <a:lstStyle/>
          <a:p>
            <a:pPr indent="0" marL="0">
              <a:buNone/>
            </a:pPr>
            <a:r>
              <a:rPr lang="en-US" sz="1900" b="1" dirty="0">
                <a:solidFill>
                  <a:schemeClr val="tx1"/>
                </a:solidFill>
              </a:rPr>
              <a:t>No follow-up</a:t>
            </a:r>
            <a:endParaRPr lang="en-US" sz="1900" dirty="0"/>
          </a:p>
        </p:txBody>
      </p:sp>
      <p:sp>
        <p:nvSpPr>
          <p:cNvPr id="17" name="Text 12"/>
          <p:cNvSpPr txBox="1"/>
          <p:nvPr/>
        </p:nvSpPr>
        <p:spPr>
          <a:xfrm>
            <a:off x="8321040" y="2404872"/>
            <a:ext cx="3017520" cy="1051560"/>
          </a:xfrm>
          <a:prstGeom prst="rect">
            <a:avLst/>
          </a:prstGeom>
          <a:noFill/>
          <a:ln/>
        </p:spPr>
        <p:txBody>
          <a:bodyPr wrap="square" lIns="0" tIns="0" rIns="0" bIns="0" rtlCol="0" anchor="t"/>
          <a:lstStyle/>
          <a:p>
            <a:pPr indent="0" marL="0">
              <a:buNone/>
            </a:pPr>
            <a:r>
              <a:rPr lang="en-US" sz="1500" dirty="0">
                <a:solidFill>
                  <a:schemeClr val="tx2"/>
                </a:solidFill>
              </a:rPr>
              <a:t>Interested customers are forgotten. Nobody knows whom to call back, or when.</a:t>
            </a:r>
            <a:endParaRPr lang="en-US" sz="1500" dirty="0"/>
          </a:p>
        </p:txBody>
      </p:sp>
      <p:sp>
        <p:nvSpPr>
          <p:cNvPr id="18" name="problem 4"/>
          <p:cNvSpPr/>
          <p:nvPr/>
        </p:nvSpPr>
        <p:spPr>
          <a:xfrm>
            <a:off x="548640" y="3794760"/>
            <a:ext cx="3520440" cy="2148840"/>
          </a:xfrm>
          <a:prstGeom prst="roundRect">
            <a:avLst>
              <a:gd name="adj" fmla="val 5106"/>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19" name="problem 4 icon circle"/>
          <p:cNvSpPr/>
          <p:nvPr/>
        </p:nvSpPr>
        <p:spPr>
          <a:xfrm>
            <a:off x="822960" y="4069080"/>
            <a:ext cx="566928" cy="566928"/>
          </a:xfrm>
          <a:prstGeom prst="ellipse">
            <a:avLst/>
          </a:prstGeom>
          <a:solidFill>
            <a:schemeClr val="accent5"/>
          </a:solidFill>
          <a:ln/>
        </p:spPr>
      </p:sp>
      <p:pic>
        <p:nvPicPr>
          <p:cNvPr id="20" name="problem 4 icon" descr="preencoded.png">    </p:cNvPr>
          <p:cNvPicPr>
            <a:picLocks noChangeAspect="1"/>
          </p:cNvPicPr>
          <p:nvPr/>
        </p:nvPicPr>
        <p:blipFill>
          <a:blip r:embed="rId4"/>
          <a:stretch>
            <a:fillRect/>
          </a:stretch>
        </p:blipFill>
        <p:spPr>
          <a:xfrm>
            <a:off x="959023" y="4205143"/>
            <a:ext cx="294803" cy="294803"/>
          </a:xfrm>
          <a:prstGeom prst="rect">
            <a:avLst/>
          </a:prstGeom>
        </p:spPr>
      </p:pic>
      <p:sp>
        <p:nvSpPr>
          <p:cNvPr id="21" name="Text 15"/>
          <p:cNvSpPr txBox="1"/>
          <p:nvPr/>
        </p:nvSpPr>
        <p:spPr>
          <a:xfrm>
            <a:off x="1536192" y="4123944"/>
            <a:ext cx="2377440" cy="457200"/>
          </a:xfrm>
          <a:prstGeom prst="rect">
            <a:avLst/>
          </a:prstGeom>
          <a:noFill/>
          <a:ln/>
        </p:spPr>
        <p:txBody>
          <a:bodyPr wrap="square" lIns="0" tIns="0" rIns="0" bIns="0" rtlCol="0" anchor="ctr"/>
          <a:lstStyle/>
          <a:p>
            <a:pPr indent="0" marL="0">
              <a:buNone/>
            </a:pPr>
            <a:r>
              <a:rPr lang="en-US" sz="1900" b="1" dirty="0">
                <a:solidFill>
                  <a:schemeClr val="tx1"/>
                </a:solidFill>
              </a:rPr>
              <a:t>Same questions daily</a:t>
            </a:r>
            <a:endParaRPr lang="en-US" sz="1900" dirty="0"/>
          </a:p>
        </p:txBody>
      </p:sp>
      <p:sp>
        <p:nvSpPr>
          <p:cNvPr id="22" name="Text 16"/>
          <p:cNvSpPr txBox="1"/>
          <p:nvPr/>
        </p:nvSpPr>
        <p:spPr>
          <a:xfrm>
            <a:off x="822960" y="4782312"/>
            <a:ext cx="3017520" cy="1051560"/>
          </a:xfrm>
          <a:prstGeom prst="rect">
            <a:avLst/>
          </a:prstGeom>
          <a:noFill/>
          <a:ln/>
        </p:spPr>
        <p:txBody>
          <a:bodyPr wrap="square" lIns="0" tIns="0" rIns="0" bIns="0" rtlCol="0" anchor="t"/>
          <a:lstStyle/>
          <a:p>
            <a:pPr indent="0" marL="0">
              <a:buNone/>
            </a:pPr>
            <a:r>
              <a:rPr lang="en-US" sz="1500" dirty="0">
                <a:solidFill>
                  <a:schemeClr val="tx2"/>
                </a:solidFill>
              </a:rPr>
              <a:t>Price? Timing? Address? The team answers the same things 100 times a day.</a:t>
            </a:r>
            <a:endParaRPr lang="en-US" sz="1500" dirty="0"/>
          </a:p>
        </p:txBody>
      </p:sp>
      <p:sp>
        <p:nvSpPr>
          <p:cNvPr id="23" name="problem 5"/>
          <p:cNvSpPr/>
          <p:nvPr/>
        </p:nvSpPr>
        <p:spPr>
          <a:xfrm>
            <a:off x="4297680" y="3794760"/>
            <a:ext cx="3520440" cy="2148840"/>
          </a:xfrm>
          <a:prstGeom prst="roundRect">
            <a:avLst>
              <a:gd name="adj" fmla="val 5106"/>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24" name="problem 5 icon circle"/>
          <p:cNvSpPr/>
          <p:nvPr/>
        </p:nvSpPr>
        <p:spPr>
          <a:xfrm>
            <a:off x="4572000" y="4069080"/>
            <a:ext cx="566928" cy="566928"/>
          </a:xfrm>
          <a:prstGeom prst="ellipse">
            <a:avLst/>
          </a:prstGeom>
          <a:solidFill>
            <a:schemeClr val="accent5"/>
          </a:solidFill>
          <a:ln/>
        </p:spPr>
      </p:sp>
      <p:pic>
        <p:nvPicPr>
          <p:cNvPr id="25" name="problem 5 icon" descr="preencoded.png">    </p:cNvPr>
          <p:cNvPicPr>
            <a:picLocks noChangeAspect="1"/>
          </p:cNvPicPr>
          <p:nvPr/>
        </p:nvPicPr>
        <p:blipFill>
          <a:blip r:embed="rId5"/>
          <a:stretch>
            <a:fillRect/>
          </a:stretch>
        </p:blipFill>
        <p:spPr>
          <a:xfrm>
            <a:off x="4708063" y="4205143"/>
            <a:ext cx="294803" cy="294803"/>
          </a:xfrm>
          <a:prstGeom prst="rect">
            <a:avLst/>
          </a:prstGeom>
        </p:spPr>
      </p:pic>
      <p:sp>
        <p:nvSpPr>
          <p:cNvPr id="26" name="Text 19"/>
          <p:cNvSpPr txBox="1"/>
          <p:nvPr/>
        </p:nvSpPr>
        <p:spPr>
          <a:xfrm>
            <a:off x="5285232" y="4123944"/>
            <a:ext cx="2377440" cy="457200"/>
          </a:xfrm>
          <a:prstGeom prst="rect">
            <a:avLst/>
          </a:prstGeom>
          <a:noFill/>
          <a:ln/>
        </p:spPr>
        <p:txBody>
          <a:bodyPr wrap="square" lIns="0" tIns="0" rIns="0" bIns="0" rtlCol="0" anchor="ctr"/>
          <a:lstStyle/>
          <a:p>
            <a:pPr indent="0" marL="0">
              <a:buNone/>
            </a:pPr>
            <a:r>
              <a:rPr lang="en-US" sz="1900" b="1" dirty="0">
                <a:solidFill>
                  <a:schemeClr val="tx1"/>
                </a:solidFill>
              </a:rPr>
              <a:t>Risky bulk messages</a:t>
            </a:r>
            <a:endParaRPr lang="en-US" sz="1900" dirty="0"/>
          </a:p>
        </p:txBody>
      </p:sp>
      <p:sp>
        <p:nvSpPr>
          <p:cNvPr id="27" name="Text 20"/>
          <p:cNvSpPr txBox="1"/>
          <p:nvPr/>
        </p:nvSpPr>
        <p:spPr>
          <a:xfrm>
            <a:off x="4572000" y="4782312"/>
            <a:ext cx="3017520" cy="1051560"/>
          </a:xfrm>
          <a:prstGeom prst="rect">
            <a:avLst/>
          </a:prstGeom>
          <a:noFill/>
          <a:ln/>
        </p:spPr>
        <p:txBody>
          <a:bodyPr wrap="square" lIns="0" tIns="0" rIns="0" bIns="0" rtlCol="0" anchor="t"/>
          <a:lstStyle/>
          <a:p>
            <a:pPr indent="0" marL="0">
              <a:buNone/>
            </a:pPr>
            <a:r>
              <a:rPr lang="en-US" sz="1500" dirty="0">
                <a:solidFill>
                  <a:schemeClr val="tx2"/>
                </a:solidFill>
              </a:rPr>
              <a:t>Copy-paste broadcasts and unofficial tools can get your WhatsApp number blocked.</a:t>
            </a:r>
            <a:endParaRPr lang="en-US" sz="1500" dirty="0"/>
          </a:p>
        </p:txBody>
      </p:sp>
      <p:sp>
        <p:nvSpPr>
          <p:cNvPr id="28" name="problem 6"/>
          <p:cNvSpPr/>
          <p:nvPr/>
        </p:nvSpPr>
        <p:spPr>
          <a:xfrm>
            <a:off x="8046720" y="3794760"/>
            <a:ext cx="3520440" cy="2148840"/>
          </a:xfrm>
          <a:prstGeom prst="roundRect">
            <a:avLst>
              <a:gd name="adj" fmla="val 5106"/>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29" name="problem 6 icon circle"/>
          <p:cNvSpPr/>
          <p:nvPr/>
        </p:nvSpPr>
        <p:spPr>
          <a:xfrm>
            <a:off x="8321040" y="4069080"/>
            <a:ext cx="566928" cy="566928"/>
          </a:xfrm>
          <a:prstGeom prst="ellipse">
            <a:avLst/>
          </a:prstGeom>
          <a:solidFill>
            <a:schemeClr val="accent5"/>
          </a:solidFill>
          <a:ln/>
        </p:spPr>
      </p:sp>
      <p:pic>
        <p:nvPicPr>
          <p:cNvPr id="30" name="problem 6 icon" descr="preencoded.png">    </p:cNvPr>
          <p:cNvPicPr>
            <a:picLocks noChangeAspect="1"/>
          </p:cNvPicPr>
          <p:nvPr/>
        </p:nvPicPr>
        <p:blipFill>
          <a:blip r:embed="rId6"/>
          <a:stretch>
            <a:fillRect/>
          </a:stretch>
        </p:blipFill>
        <p:spPr>
          <a:xfrm>
            <a:off x="8457103" y="4205143"/>
            <a:ext cx="294803" cy="294803"/>
          </a:xfrm>
          <a:prstGeom prst="rect">
            <a:avLst/>
          </a:prstGeom>
        </p:spPr>
      </p:pic>
      <p:sp>
        <p:nvSpPr>
          <p:cNvPr id="31" name="Text 23"/>
          <p:cNvSpPr txBox="1"/>
          <p:nvPr/>
        </p:nvSpPr>
        <p:spPr>
          <a:xfrm>
            <a:off x="9034272" y="4123944"/>
            <a:ext cx="2377440" cy="457200"/>
          </a:xfrm>
          <a:prstGeom prst="rect">
            <a:avLst/>
          </a:prstGeom>
          <a:noFill/>
          <a:ln/>
        </p:spPr>
        <p:txBody>
          <a:bodyPr wrap="square" lIns="0" tIns="0" rIns="0" bIns="0" rtlCol="0" anchor="ctr"/>
          <a:lstStyle/>
          <a:p>
            <a:pPr indent="0" marL="0">
              <a:buNone/>
            </a:pPr>
            <a:r>
              <a:rPr lang="en-US" sz="1900" b="1" dirty="0">
                <a:solidFill>
                  <a:schemeClr val="tx1"/>
                </a:solidFill>
              </a:rPr>
              <a:t>No numbers to check</a:t>
            </a:r>
            <a:endParaRPr lang="en-US" sz="1900" dirty="0"/>
          </a:p>
        </p:txBody>
      </p:sp>
      <p:sp>
        <p:nvSpPr>
          <p:cNvPr id="32" name="Text 24"/>
          <p:cNvSpPr txBox="1"/>
          <p:nvPr/>
        </p:nvSpPr>
        <p:spPr>
          <a:xfrm>
            <a:off x="8321040" y="4782312"/>
            <a:ext cx="3017520" cy="1051560"/>
          </a:xfrm>
          <a:prstGeom prst="rect">
            <a:avLst/>
          </a:prstGeom>
          <a:noFill/>
          <a:ln/>
        </p:spPr>
        <p:txBody>
          <a:bodyPr wrap="square" lIns="0" tIns="0" rIns="0" bIns="0" rtlCol="0" anchor="t"/>
          <a:lstStyle/>
          <a:p>
            <a:pPr indent="0" marL="0">
              <a:buNone/>
            </a:pPr>
            <a:r>
              <a:rPr lang="en-US" sz="1500" dirty="0">
                <a:solidFill>
                  <a:schemeClr val="tx2"/>
                </a:solidFill>
              </a:rPr>
              <a:t>You cannot see how many leads came, who replied, or which offer worked.</a:t>
            </a:r>
            <a:endParaRPr lang="en-US" sz="15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How much is this costing you every month?</a:t>
            </a:r>
            <a:endParaRPr lang="en-US" sz="3200" dirty="0"/>
          </a:p>
        </p:txBody>
      </p:sp>
      <p:sp>
        <p:nvSpPr>
          <p:cNvPr id="3" name="example box"/>
          <p:cNvSpPr/>
          <p:nvPr/>
        </p:nvSpPr>
        <p:spPr>
          <a:xfrm>
            <a:off x="548640" y="1371600"/>
            <a:ext cx="4937760" cy="4754880"/>
          </a:xfrm>
          <a:prstGeom prst="roundRect">
            <a:avLst>
              <a:gd name="adj" fmla="val 2308"/>
            </a:avLst>
          </a:prstGeom>
          <a:solidFill>
            <a:schemeClr val="bg2"/>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4" name="Text 2"/>
          <p:cNvSpPr txBox="1"/>
          <p:nvPr/>
        </p:nvSpPr>
        <p:spPr>
          <a:xfrm>
            <a:off x="822960" y="1600200"/>
            <a:ext cx="4389120" cy="640080"/>
          </a:xfrm>
          <a:prstGeom prst="rect">
            <a:avLst/>
          </a:prstGeom>
          <a:noFill/>
          <a:ln/>
        </p:spPr>
        <p:txBody>
          <a:bodyPr wrap="square" lIns="0" tIns="0" rIns="0" bIns="0" rtlCol="0" anchor="t"/>
          <a:lstStyle/>
          <a:p>
            <a:pPr indent="0" marL="0">
              <a:buNone/>
            </a:pPr>
            <a:r>
              <a:rPr lang="en-US" sz="1500" b="1" dirty="0">
                <a:solidFill>
                  <a:schemeClr val="tx1"/>
                </a:solidFill>
              </a:rPr>
              <a:t>Example: 300 WhatsApp enquiries a month, average sale ₹2,000</a:t>
            </a:r>
            <a:endParaRPr lang="en-US" sz="1500" dirty="0"/>
          </a:p>
        </p:txBody>
      </p:sp>
      <p:sp>
        <p:nvSpPr>
          <p:cNvPr id="5" name="Text 3"/>
          <p:cNvSpPr txBox="1"/>
          <p:nvPr/>
        </p:nvSpPr>
        <p:spPr>
          <a:xfrm>
            <a:off x="822960" y="2377440"/>
            <a:ext cx="3017520" cy="365760"/>
          </a:xfrm>
          <a:prstGeom prst="rect">
            <a:avLst/>
          </a:prstGeom>
          <a:noFill/>
          <a:ln/>
        </p:spPr>
        <p:txBody>
          <a:bodyPr wrap="square" lIns="0" tIns="0" rIns="0" bIns="0" rtlCol="0" anchor="t"/>
          <a:lstStyle/>
          <a:p>
            <a:pPr indent="0" marL="0">
              <a:buNone/>
            </a:pPr>
            <a:r>
              <a:rPr lang="en-US" sz="1600" b="1" dirty="0">
                <a:solidFill>
                  <a:schemeClr val="tx1"/>
                </a:solidFill>
              </a:rPr>
              <a:t>Late or missed replies</a:t>
            </a:r>
            <a:endParaRPr lang="en-US" sz="1600" dirty="0"/>
          </a:p>
        </p:txBody>
      </p:sp>
      <p:sp>
        <p:nvSpPr>
          <p:cNvPr id="6" name="Text 4"/>
          <p:cNvSpPr txBox="1"/>
          <p:nvPr/>
        </p:nvSpPr>
        <p:spPr>
          <a:xfrm>
            <a:off x="3840480" y="2377440"/>
            <a:ext cx="1371600" cy="365760"/>
          </a:xfrm>
          <a:prstGeom prst="rect">
            <a:avLst/>
          </a:prstGeom>
          <a:noFill/>
          <a:ln/>
        </p:spPr>
        <p:txBody>
          <a:bodyPr wrap="square" lIns="0" tIns="0" rIns="0" bIns="0" rtlCol="0" anchor="t"/>
          <a:lstStyle/>
          <a:p>
            <a:pPr algn="r" indent="0" marL="0">
              <a:buNone/>
            </a:pPr>
            <a:r>
              <a:rPr lang="en-US" sz="1700" b="1" dirty="0">
                <a:solidFill>
                  <a:schemeClr val="accent5"/>
                </a:solidFill>
              </a:rPr>
              <a:t>₹36,000</a:t>
            </a:r>
            <a:endParaRPr lang="en-US" sz="1700" dirty="0"/>
          </a:p>
        </p:txBody>
      </p:sp>
      <p:sp>
        <p:nvSpPr>
          <p:cNvPr id="7" name="Text 5"/>
          <p:cNvSpPr txBox="1"/>
          <p:nvPr/>
        </p:nvSpPr>
        <p:spPr>
          <a:xfrm>
            <a:off x="822960" y="2761488"/>
            <a:ext cx="4389120" cy="685800"/>
          </a:xfrm>
          <a:prstGeom prst="rect">
            <a:avLst/>
          </a:prstGeom>
          <a:noFill/>
          <a:ln/>
        </p:spPr>
        <p:txBody>
          <a:bodyPr wrap="square" lIns="0" tIns="0" rIns="0" bIns="0" rtlCol="0" anchor="t"/>
          <a:lstStyle/>
          <a:p>
            <a:pPr indent="0" marL="0">
              <a:buNone/>
            </a:pPr>
            <a:r>
              <a:rPr lang="en-US" sz="1400" dirty="0">
                <a:solidFill>
                  <a:schemeClr val="tx2"/>
                </a:solidFill>
              </a:rPr>
              <a:t>90 enquiries (30%) get no quick reply. 1 in 5 would have bought.</a:t>
            </a:r>
            <a:endParaRPr lang="en-US" sz="1400" dirty="0"/>
          </a:p>
        </p:txBody>
      </p:sp>
      <p:sp>
        <p:nvSpPr>
          <p:cNvPr id="8" name="Text 6"/>
          <p:cNvSpPr txBox="1"/>
          <p:nvPr/>
        </p:nvSpPr>
        <p:spPr>
          <a:xfrm>
            <a:off x="822960" y="3520440"/>
            <a:ext cx="3017520" cy="365760"/>
          </a:xfrm>
          <a:prstGeom prst="rect">
            <a:avLst/>
          </a:prstGeom>
          <a:noFill/>
          <a:ln/>
        </p:spPr>
        <p:txBody>
          <a:bodyPr wrap="square" lIns="0" tIns="0" rIns="0" bIns="0" rtlCol="0" anchor="t"/>
          <a:lstStyle/>
          <a:p>
            <a:pPr indent="0" marL="0">
              <a:buNone/>
            </a:pPr>
            <a:r>
              <a:rPr lang="en-US" sz="1600" b="1" dirty="0">
                <a:solidFill>
                  <a:schemeClr val="tx1"/>
                </a:solidFill>
              </a:rPr>
              <a:t>No follow-up</a:t>
            </a:r>
            <a:endParaRPr lang="en-US" sz="1600" dirty="0"/>
          </a:p>
        </p:txBody>
      </p:sp>
      <p:sp>
        <p:nvSpPr>
          <p:cNvPr id="9" name="Text 7"/>
          <p:cNvSpPr txBox="1"/>
          <p:nvPr/>
        </p:nvSpPr>
        <p:spPr>
          <a:xfrm>
            <a:off x="3840480" y="3520440"/>
            <a:ext cx="1371600" cy="365760"/>
          </a:xfrm>
          <a:prstGeom prst="rect">
            <a:avLst/>
          </a:prstGeom>
          <a:noFill/>
          <a:ln/>
        </p:spPr>
        <p:txBody>
          <a:bodyPr wrap="square" lIns="0" tIns="0" rIns="0" bIns="0" rtlCol="0" anchor="t"/>
          <a:lstStyle/>
          <a:p>
            <a:pPr algn="r" indent="0" marL="0">
              <a:buNone/>
            </a:pPr>
            <a:r>
              <a:rPr lang="en-US" sz="1700" b="1" dirty="0">
                <a:solidFill>
                  <a:schemeClr val="accent5"/>
                </a:solidFill>
              </a:rPr>
              <a:t>₹12,000</a:t>
            </a:r>
            <a:endParaRPr lang="en-US" sz="1700" dirty="0"/>
          </a:p>
        </p:txBody>
      </p:sp>
      <p:sp>
        <p:nvSpPr>
          <p:cNvPr id="10" name="Text 8"/>
          <p:cNvSpPr txBox="1"/>
          <p:nvPr/>
        </p:nvSpPr>
        <p:spPr>
          <a:xfrm>
            <a:off x="822960" y="3904488"/>
            <a:ext cx="4389120" cy="685800"/>
          </a:xfrm>
          <a:prstGeom prst="rect">
            <a:avLst/>
          </a:prstGeom>
          <a:noFill/>
          <a:ln/>
        </p:spPr>
        <p:txBody>
          <a:bodyPr wrap="square" lIns="0" tIns="0" rIns="0" bIns="0" rtlCol="0" anchor="t"/>
          <a:lstStyle/>
          <a:p>
            <a:pPr indent="0" marL="0">
              <a:buNone/>
            </a:pPr>
            <a:r>
              <a:rPr lang="en-US" sz="1400" dirty="0">
                <a:solidFill>
                  <a:schemeClr val="tx2"/>
                </a:solidFill>
              </a:rPr>
              <a:t>60 interested leads are never called back. 1 in 10 would have bought.</a:t>
            </a:r>
            <a:endParaRPr lang="en-US" sz="1400" dirty="0"/>
          </a:p>
        </p:txBody>
      </p:sp>
      <p:sp>
        <p:nvSpPr>
          <p:cNvPr id="11" name="Text 9"/>
          <p:cNvSpPr txBox="1"/>
          <p:nvPr/>
        </p:nvSpPr>
        <p:spPr>
          <a:xfrm>
            <a:off x="822960" y="4663440"/>
            <a:ext cx="3017520" cy="365760"/>
          </a:xfrm>
          <a:prstGeom prst="rect">
            <a:avLst/>
          </a:prstGeom>
          <a:noFill/>
          <a:ln/>
        </p:spPr>
        <p:txBody>
          <a:bodyPr wrap="square" lIns="0" tIns="0" rIns="0" bIns="0" rtlCol="0" anchor="t"/>
          <a:lstStyle/>
          <a:p>
            <a:pPr indent="0" marL="0">
              <a:buNone/>
            </a:pPr>
            <a:r>
              <a:rPr lang="en-US" sz="1600" b="1" dirty="0">
                <a:solidFill>
                  <a:schemeClr val="tx1"/>
                </a:solidFill>
              </a:rPr>
              <a:t>Staff time on repeat questions</a:t>
            </a:r>
            <a:endParaRPr lang="en-US" sz="1600" dirty="0"/>
          </a:p>
        </p:txBody>
      </p:sp>
      <p:sp>
        <p:nvSpPr>
          <p:cNvPr id="12" name="Text 10"/>
          <p:cNvSpPr txBox="1"/>
          <p:nvPr/>
        </p:nvSpPr>
        <p:spPr>
          <a:xfrm>
            <a:off x="3840480" y="4663440"/>
            <a:ext cx="1371600" cy="365760"/>
          </a:xfrm>
          <a:prstGeom prst="rect">
            <a:avLst/>
          </a:prstGeom>
          <a:noFill/>
          <a:ln/>
        </p:spPr>
        <p:txBody>
          <a:bodyPr wrap="square" lIns="0" tIns="0" rIns="0" bIns="0" rtlCol="0" anchor="t"/>
          <a:lstStyle/>
          <a:p>
            <a:pPr algn="r" indent="0" marL="0">
              <a:buNone/>
            </a:pPr>
            <a:r>
              <a:rPr lang="en-US" sz="1700" b="1" dirty="0">
                <a:solidFill>
                  <a:schemeClr val="accent5"/>
                </a:solidFill>
              </a:rPr>
              <a:t>₹7,800</a:t>
            </a:r>
            <a:endParaRPr lang="en-US" sz="1700" dirty="0"/>
          </a:p>
        </p:txBody>
      </p:sp>
      <p:sp>
        <p:nvSpPr>
          <p:cNvPr id="13" name="Text 11"/>
          <p:cNvSpPr txBox="1"/>
          <p:nvPr/>
        </p:nvSpPr>
        <p:spPr>
          <a:xfrm>
            <a:off x="822960" y="5047488"/>
            <a:ext cx="4389120" cy="685800"/>
          </a:xfrm>
          <a:prstGeom prst="rect">
            <a:avLst/>
          </a:prstGeom>
          <a:noFill/>
          <a:ln/>
        </p:spPr>
        <p:txBody>
          <a:bodyPr wrap="square" lIns="0" tIns="0" rIns="0" bIns="0" rtlCol="0" anchor="t"/>
          <a:lstStyle/>
          <a:p>
            <a:pPr indent="0" marL="0">
              <a:buNone/>
            </a:pPr>
            <a:r>
              <a:rPr lang="en-US" sz="1400" dirty="0">
                <a:solidFill>
                  <a:schemeClr val="tx2"/>
                </a:solidFill>
              </a:rPr>
              <a:t>2 hours a day × ₹150 per hour × 26 working days.</a:t>
            </a:r>
            <a:endParaRPr lang="en-US" sz="1400" dirty="0"/>
          </a:p>
        </p:txBody>
      </p:sp>
      <p:sp>
        <p:nvSpPr>
          <p:cNvPr id="14" name="Text 12"/>
          <p:cNvSpPr txBox="1"/>
          <p:nvPr/>
        </p:nvSpPr>
        <p:spPr>
          <a:xfrm>
            <a:off x="822960" y="5715000"/>
            <a:ext cx="4389120" cy="320040"/>
          </a:xfrm>
          <a:prstGeom prst="rect">
            <a:avLst/>
          </a:prstGeom>
          <a:noFill/>
          <a:ln/>
        </p:spPr>
        <p:txBody>
          <a:bodyPr wrap="square" lIns="0" tIns="0" rIns="0" bIns="0" rtlCol="0" anchor="t"/>
          <a:lstStyle/>
          <a:p>
            <a:pPr indent="0" marL="0">
              <a:buNone/>
            </a:pPr>
            <a:r>
              <a:rPr lang="en-US" sz="1100" i="1" dirty="0">
                <a:solidFill>
                  <a:schemeClr val="accent6"/>
                </a:solidFill>
              </a:rPr>
              <a:t>Example only. In the demo we will work out your own numbers.</a:t>
            </a:r>
            <a:endParaRPr lang="en-US" sz="1100" dirty="0"/>
          </a:p>
        </p:txBody>
      </p:sp>
      <p:sp>
        <p:nvSpPr>
          <p:cNvPr id="15" name="Text 13"/>
          <p:cNvSpPr txBox="1"/>
          <p:nvPr/>
        </p:nvSpPr>
        <p:spPr>
          <a:xfrm>
            <a:off x="5943600" y="1417320"/>
            <a:ext cx="5669280" cy="868680"/>
          </a:xfrm>
          <a:prstGeom prst="rect">
            <a:avLst/>
          </a:prstGeom>
          <a:noFill/>
          <a:ln/>
        </p:spPr>
        <p:txBody>
          <a:bodyPr wrap="square" lIns="0" tIns="0" rIns="0" bIns="0" rtlCol="0" anchor="t"/>
          <a:lstStyle/>
          <a:p>
            <a:pPr indent="0" marL="0">
              <a:buNone/>
            </a:pPr>
            <a:r>
              <a:rPr lang="en-US" sz="6000" b="1" dirty="0">
                <a:solidFill>
                  <a:schemeClr val="accent5"/>
                </a:solidFill>
              </a:rPr>
              <a:t>₹55,800</a:t>
            </a:r>
            <a:endParaRPr lang="en-US" sz="6000" dirty="0"/>
          </a:p>
        </p:txBody>
      </p:sp>
      <p:sp>
        <p:nvSpPr>
          <p:cNvPr id="16" name="Text 14"/>
          <p:cNvSpPr txBox="1"/>
          <p:nvPr/>
        </p:nvSpPr>
        <p:spPr>
          <a:xfrm>
            <a:off x="5943600" y="2286000"/>
            <a:ext cx="5669280" cy="411480"/>
          </a:xfrm>
          <a:prstGeom prst="rect">
            <a:avLst/>
          </a:prstGeom>
          <a:noFill/>
          <a:ln/>
        </p:spPr>
        <p:txBody>
          <a:bodyPr wrap="square" lIns="0" tIns="0" rIns="0" bIns="0" rtlCol="0" anchor="t"/>
          <a:lstStyle/>
          <a:p>
            <a:pPr indent="0" marL="0">
              <a:buNone/>
            </a:pPr>
            <a:r>
              <a:rPr lang="en-US" sz="1800" b="1" dirty="0">
                <a:solidFill>
                  <a:schemeClr val="tx1"/>
                </a:solidFill>
              </a:rPr>
              <a:t>lost every month, about ₹6.7 lakh a year</a:t>
            </a:r>
            <a:endParaRPr lang="en-US" sz="1800" dirty="0"/>
          </a:p>
        </p:txBody>
      </p:sp>
      <p:graphicFrame>
        <p:nvGraphicFramePr>
          <p:cNvPr id="17" name="monthly loss chart" descr=""/>
          <p:cNvGraphicFramePr/>
          <p:nvPr/>
        </p:nvGraphicFramePr>
        <p:xfrm>
          <a:off x="5852160" y="2880360"/>
          <a:ext cx="5760720" cy="32461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About Magnetora AI Solutions</a:t>
            </a:r>
            <a:endParaRPr lang="en-US" sz="3200" dirty="0"/>
          </a:p>
        </p:txBody>
      </p:sp>
      <p:sp>
        <p:nvSpPr>
          <p:cNvPr id="3" name="Magnetora logo card"/>
          <p:cNvSpPr/>
          <p:nvPr/>
        </p:nvSpPr>
        <p:spPr>
          <a:xfrm>
            <a:off x="548640" y="1371600"/>
            <a:ext cx="4206240" cy="4754880"/>
          </a:xfrm>
          <a:prstGeom prst="roundRect">
            <a:avLst>
              <a:gd name="adj" fmla="val 2609"/>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pic>
        <p:nvPicPr>
          <p:cNvPr id="4" name="Magnetora AI Solutions logo" descr="/home/user/Marketing-CRM/public/logo.png">    </p:cNvPr>
          <p:cNvPicPr>
            <a:picLocks noChangeAspect="1"/>
          </p:cNvPicPr>
          <p:nvPr/>
        </p:nvPicPr>
        <p:blipFill>
          <a:blip r:embed="rId1"/>
          <a:stretch>
            <a:fillRect/>
          </a:stretch>
        </p:blipFill>
        <p:spPr>
          <a:xfrm>
            <a:off x="822960" y="1600200"/>
            <a:ext cx="3657600" cy="3657600"/>
          </a:xfrm>
          <a:prstGeom prst="rect">
            <a:avLst/>
          </a:prstGeom>
        </p:spPr>
      </p:pic>
      <p:sp>
        <p:nvSpPr>
          <p:cNvPr id="5" name="Text 2"/>
          <p:cNvSpPr txBox="1"/>
          <p:nvPr/>
        </p:nvSpPr>
        <p:spPr>
          <a:xfrm>
            <a:off x="822960" y="5440680"/>
            <a:ext cx="3657600" cy="365760"/>
          </a:xfrm>
          <a:prstGeom prst="rect">
            <a:avLst/>
          </a:prstGeom>
          <a:noFill/>
          <a:ln/>
        </p:spPr>
        <p:txBody>
          <a:bodyPr wrap="square" lIns="0" tIns="0" rIns="0" bIns="0" rtlCol="0" anchor="t"/>
          <a:lstStyle/>
          <a:p>
            <a:pPr algn="ctr" indent="0" marL="0">
              <a:buNone/>
            </a:pPr>
            <a:r>
              <a:rPr lang="en-US" sz="1400" i="1" dirty="0">
                <a:solidFill>
                  <a:schemeClr val="accent1"/>
                </a:solidFill>
              </a:rPr>
              <a:t>People · Business · A smarter tomorrow</a:t>
            </a:r>
            <a:endParaRPr lang="en-US" sz="1400" dirty="0"/>
          </a:p>
        </p:txBody>
      </p:sp>
      <p:sp>
        <p:nvSpPr>
          <p:cNvPr id="6" name="Text 3"/>
          <p:cNvSpPr txBox="1"/>
          <p:nvPr/>
        </p:nvSpPr>
        <p:spPr>
          <a:xfrm>
            <a:off x="5212080" y="1417320"/>
            <a:ext cx="6400800" cy="868680"/>
          </a:xfrm>
          <a:prstGeom prst="rect">
            <a:avLst/>
          </a:prstGeom>
          <a:noFill/>
          <a:ln/>
        </p:spPr>
        <p:txBody>
          <a:bodyPr wrap="square" lIns="0" tIns="0" rIns="0" bIns="0" rtlCol="0" anchor="t"/>
          <a:lstStyle/>
          <a:p>
            <a:pPr indent="0" marL="0">
              <a:buNone/>
            </a:pPr>
            <a:r>
              <a:rPr lang="en-US" sz="1900" b="1" dirty="0">
                <a:solidFill>
                  <a:schemeClr val="tx1"/>
                </a:solidFill>
              </a:rPr>
              <a:t>We build simple, practical AI tools that help Indian businesses talk to customers, sell more and save time.</a:t>
            </a:r>
            <a:endParaRPr lang="en-US" sz="1900" dirty="0"/>
          </a:p>
        </p:txBody>
      </p:sp>
      <p:sp>
        <p:nvSpPr>
          <p:cNvPr id="7" name="about 1 circle"/>
          <p:cNvSpPr/>
          <p:nvPr/>
        </p:nvSpPr>
        <p:spPr>
          <a:xfrm>
            <a:off x="5212080" y="2514600"/>
            <a:ext cx="566928" cy="566928"/>
          </a:xfrm>
          <a:prstGeom prst="ellipse">
            <a:avLst/>
          </a:prstGeom>
          <a:solidFill>
            <a:schemeClr val="accent2"/>
          </a:solidFill>
          <a:ln/>
        </p:spPr>
      </p:sp>
      <p:pic>
        <p:nvPicPr>
          <p:cNvPr id="8" name="about 1" descr="preencoded.png">    </p:cNvPr>
          <p:cNvPicPr>
            <a:picLocks noChangeAspect="1"/>
          </p:cNvPicPr>
          <p:nvPr/>
        </p:nvPicPr>
        <p:blipFill>
          <a:blip r:embed="rId2"/>
          <a:stretch>
            <a:fillRect/>
          </a:stretch>
        </p:blipFill>
        <p:spPr>
          <a:xfrm>
            <a:off x="5348143" y="2650663"/>
            <a:ext cx="294803" cy="294803"/>
          </a:xfrm>
          <a:prstGeom prst="rect">
            <a:avLst/>
          </a:prstGeom>
        </p:spPr>
      </p:pic>
      <p:sp>
        <p:nvSpPr>
          <p:cNvPr id="9" name="Text 5"/>
          <p:cNvSpPr txBox="1"/>
          <p:nvPr/>
        </p:nvSpPr>
        <p:spPr>
          <a:xfrm>
            <a:off x="5989320" y="2496312"/>
            <a:ext cx="5577840" cy="365760"/>
          </a:xfrm>
          <a:prstGeom prst="rect">
            <a:avLst/>
          </a:prstGeom>
          <a:noFill/>
          <a:ln/>
        </p:spPr>
        <p:txBody>
          <a:bodyPr wrap="square" lIns="0" tIns="0" rIns="0" bIns="0" rtlCol="0" anchor="t"/>
          <a:lstStyle/>
          <a:p>
            <a:pPr indent="0" marL="0">
              <a:buNone/>
            </a:pPr>
            <a:r>
              <a:rPr lang="en-US" sz="1700" b="1" dirty="0">
                <a:solidFill>
                  <a:schemeClr val="tx1"/>
                </a:solidFill>
              </a:rPr>
              <a:t>WhatsApp automation and CRM</a:t>
            </a:r>
            <a:endParaRPr lang="en-US" sz="1700" dirty="0"/>
          </a:p>
        </p:txBody>
      </p:sp>
      <p:sp>
        <p:nvSpPr>
          <p:cNvPr id="10" name="Text 6"/>
          <p:cNvSpPr txBox="1"/>
          <p:nvPr/>
        </p:nvSpPr>
        <p:spPr>
          <a:xfrm>
            <a:off x="5989320" y="2862072"/>
            <a:ext cx="5577840" cy="457200"/>
          </a:xfrm>
          <a:prstGeom prst="rect">
            <a:avLst/>
          </a:prstGeom>
          <a:noFill/>
          <a:ln/>
        </p:spPr>
        <p:txBody>
          <a:bodyPr wrap="square" lIns="0" tIns="0" rIns="0" bIns="0" rtlCol="0" anchor="t"/>
          <a:lstStyle/>
          <a:p>
            <a:pPr indent="0" marL="0">
              <a:buNone/>
            </a:pPr>
            <a:r>
              <a:rPr lang="en-US" sz="1400" dirty="0">
                <a:solidFill>
                  <a:schemeClr val="tx2"/>
                </a:solidFill>
              </a:rPr>
              <a:t>WAMA CRM: our WhatsApp AI CRM for sales, marketing and support.</a:t>
            </a:r>
            <a:endParaRPr lang="en-US" sz="1400" dirty="0"/>
          </a:p>
        </p:txBody>
      </p:sp>
      <p:sp>
        <p:nvSpPr>
          <p:cNvPr id="11" name="about 2 circle"/>
          <p:cNvSpPr/>
          <p:nvPr/>
        </p:nvSpPr>
        <p:spPr>
          <a:xfrm>
            <a:off x="5212080" y="3429000"/>
            <a:ext cx="566928" cy="566928"/>
          </a:xfrm>
          <a:prstGeom prst="ellipse">
            <a:avLst/>
          </a:prstGeom>
          <a:solidFill>
            <a:schemeClr val="accent1"/>
          </a:solidFill>
          <a:ln/>
        </p:spPr>
      </p:sp>
      <p:pic>
        <p:nvPicPr>
          <p:cNvPr id="12" name="about 2" descr="preencoded.png">    </p:cNvPr>
          <p:cNvPicPr>
            <a:picLocks noChangeAspect="1"/>
          </p:cNvPicPr>
          <p:nvPr/>
        </p:nvPicPr>
        <p:blipFill>
          <a:blip r:embed="rId3"/>
          <a:stretch>
            <a:fillRect/>
          </a:stretch>
        </p:blipFill>
        <p:spPr>
          <a:xfrm>
            <a:off x="5348143" y="3565063"/>
            <a:ext cx="294803" cy="294803"/>
          </a:xfrm>
          <a:prstGeom prst="rect">
            <a:avLst/>
          </a:prstGeom>
        </p:spPr>
      </p:pic>
      <p:sp>
        <p:nvSpPr>
          <p:cNvPr id="13" name="Text 8"/>
          <p:cNvSpPr txBox="1"/>
          <p:nvPr/>
        </p:nvSpPr>
        <p:spPr>
          <a:xfrm>
            <a:off x="5989320" y="3410712"/>
            <a:ext cx="5577840" cy="365760"/>
          </a:xfrm>
          <a:prstGeom prst="rect">
            <a:avLst/>
          </a:prstGeom>
          <a:noFill/>
          <a:ln/>
        </p:spPr>
        <p:txBody>
          <a:bodyPr wrap="square" lIns="0" tIns="0" rIns="0" bIns="0" rtlCol="0" anchor="t"/>
          <a:lstStyle/>
          <a:p>
            <a:pPr indent="0" marL="0">
              <a:buNone/>
            </a:pPr>
            <a:r>
              <a:rPr lang="en-US" sz="1700" b="1" dirty="0">
                <a:solidFill>
                  <a:schemeClr val="tx1"/>
                </a:solidFill>
              </a:rPr>
              <a:t>AI chatbots and assistants</a:t>
            </a:r>
            <a:endParaRPr lang="en-US" sz="1700" dirty="0"/>
          </a:p>
        </p:txBody>
      </p:sp>
      <p:sp>
        <p:nvSpPr>
          <p:cNvPr id="14" name="Text 9"/>
          <p:cNvSpPr txBox="1"/>
          <p:nvPr/>
        </p:nvSpPr>
        <p:spPr>
          <a:xfrm>
            <a:off x="5989320" y="3776472"/>
            <a:ext cx="5577840" cy="457200"/>
          </a:xfrm>
          <a:prstGeom prst="rect">
            <a:avLst/>
          </a:prstGeom>
          <a:noFill/>
          <a:ln/>
        </p:spPr>
        <p:txBody>
          <a:bodyPr wrap="square" lIns="0" tIns="0" rIns="0" bIns="0" rtlCol="0" anchor="t"/>
          <a:lstStyle/>
          <a:p>
            <a:pPr indent="0" marL="0">
              <a:buNone/>
            </a:pPr>
            <a:r>
              <a:rPr lang="en-US" sz="1400" dirty="0">
                <a:solidFill>
                  <a:schemeClr val="tx2"/>
                </a:solidFill>
              </a:rPr>
              <a:t>Assistants that answer customers in their own language, 24 hours a day.</a:t>
            </a:r>
            <a:endParaRPr lang="en-US" sz="1400" dirty="0"/>
          </a:p>
        </p:txBody>
      </p:sp>
      <p:sp>
        <p:nvSpPr>
          <p:cNvPr id="15" name="about 3 circle"/>
          <p:cNvSpPr/>
          <p:nvPr/>
        </p:nvSpPr>
        <p:spPr>
          <a:xfrm>
            <a:off x="5212080" y="4343400"/>
            <a:ext cx="566928" cy="566928"/>
          </a:xfrm>
          <a:prstGeom prst="ellipse">
            <a:avLst/>
          </a:prstGeom>
          <a:solidFill>
            <a:schemeClr val="accent3"/>
          </a:solidFill>
          <a:ln/>
        </p:spPr>
      </p:sp>
      <p:pic>
        <p:nvPicPr>
          <p:cNvPr id="16" name="about 3" descr="preencoded.png">    </p:cNvPr>
          <p:cNvPicPr>
            <a:picLocks noChangeAspect="1"/>
          </p:cNvPicPr>
          <p:nvPr/>
        </p:nvPicPr>
        <p:blipFill>
          <a:blip r:embed="rId4"/>
          <a:stretch>
            <a:fillRect/>
          </a:stretch>
        </p:blipFill>
        <p:spPr>
          <a:xfrm>
            <a:off x="5348143" y="4479463"/>
            <a:ext cx="294803" cy="294803"/>
          </a:xfrm>
          <a:prstGeom prst="rect">
            <a:avLst/>
          </a:prstGeom>
        </p:spPr>
      </p:pic>
      <p:sp>
        <p:nvSpPr>
          <p:cNvPr id="17" name="Text 11"/>
          <p:cNvSpPr txBox="1"/>
          <p:nvPr/>
        </p:nvSpPr>
        <p:spPr>
          <a:xfrm>
            <a:off x="5989320" y="4325112"/>
            <a:ext cx="5577840" cy="365760"/>
          </a:xfrm>
          <a:prstGeom prst="rect">
            <a:avLst/>
          </a:prstGeom>
          <a:noFill/>
          <a:ln/>
        </p:spPr>
        <p:txBody>
          <a:bodyPr wrap="square" lIns="0" tIns="0" rIns="0" bIns="0" rtlCol="0" anchor="t"/>
          <a:lstStyle/>
          <a:p>
            <a:pPr indent="0" marL="0">
              <a:buNone/>
            </a:pPr>
            <a:r>
              <a:rPr lang="en-US" sz="1700" b="1" dirty="0">
                <a:solidFill>
                  <a:schemeClr val="tx1"/>
                </a:solidFill>
              </a:rPr>
              <a:t>Custom AI solutions</a:t>
            </a:r>
            <a:endParaRPr lang="en-US" sz="1700" dirty="0"/>
          </a:p>
        </p:txBody>
      </p:sp>
      <p:sp>
        <p:nvSpPr>
          <p:cNvPr id="18" name="Text 12"/>
          <p:cNvSpPr txBox="1"/>
          <p:nvPr/>
        </p:nvSpPr>
        <p:spPr>
          <a:xfrm>
            <a:off x="5989320" y="4690872"/>
            <a:ext cx="5577840" cy="457200"/>
          </a:xfrm>
          <a:prstGeom prst="rect">
            <a:avLst/>
          </a:prstGeom>
          <a:noFill/>
          <a:ln/>
        </p:spPr>
        <p:txBody>
          <a:bodyPr wrap="square" lIns="0" tIns="0" rIns="0" bIns="0" rtlCol="0" anchor="t"/>
          <a:lstStyle/>
          <a:p>
            <a:pPr indent="0" marL="0">
              <a:buNone/>
            </a:pPr>
            <a:r>
              <a:rPr lang="en-US" sz="1400" dirty="0">
                <a:solidFill>
                  <a:schemeClr val="tx2"/>
                </a:solidFill>
              </a:rPr>
              <a:t>AI built around your process: lead scoring, document reading, reports and more.</a:t>
            </a:r>
            <a:endParaRPr lang="en-US" sz="1400" dirty="0"/>
          </a:p>
        </p:txBody>
      </p:sp>
      <p:sp>
        <p:nvSpPr>
          <p:cNvPr id="19" name="about 4 circle"/>
          <p:cNvSpPr/>
          <p:nvPr/>
        </p:nvSpPr>
        <p:spPr>
          <a:xfrm>
            <a:off x="5212080" y="5257800"/>
            <a:ext cx="566928" cy="566928"/>
          </a:xfrm>
          <a:prstGeom prst="ellipse">
            <a:avLst/>
          </a:prstGeom>
          <a:solidFill>
            <a:schemeClr val="accent1"/>
          </a:solidFill>
          <a:ln/>
        </p:spPr>
      </p:sp>
      <p:pic>
        <p:nvPicPr>
          <p:cNvPr id="20" name="about 4" descr="preencoded.png">    </p:cNvPr>
          <p:cNvPicPr>
            <a:picLocks noChangeAspect="1"/>
          </p:cNvPicPr>
          <p:nvPr/>
        </p:nvPicPr>
        <p:blipFill>
          <a:blip r:embed="rId5"/>
          <a:stretch>
            <a:fillRect/>
          </a:stretch>
        </p:blipFill>
        <p:spPr>
          <a:xfrm>
            <a:off x="5348143" y="5393863"/>
            <a:ext cx="294803" cy="294803"/>
          </a:xfrm>
          <a:prstGeom prst="rect">
            <a:avLst/>
          </a:prstGeom>
        </p:spPr>
      </p:pic>
      <p:sp>
        <p:nvSpPr>
          <p:cNvPr id="21" name="Text 14"/>
          <p:cNvSpPr txBox="1"/>
          <p:nvPr/>
        </p:nvSpPr>
        <p:spPr>
          <a:xfrm>
            <a:off x="5989320" y="5239512"/>
            <a:ext cx="5577840" cy="365760"/>
          </a:xfrm>
          <a:prstGeom prst="rect">
            <a:avLst/>
          </a:prstGeom>
          <a:noFill/>
          <a:ln/>
        </p:spPr>
        <p:txBody>
          <a:bodyPr wrap="square" lIns="0" tIns="0" rIns="0" bIns="0" rtlCol="0" anchor="t"/>
          <a:lstStyle/>
          <a:p>
            <a:pPr indent="0" marL="0">
              <a:buNone/>
            </a:pPr>
            <a:r>
              <a:rPr lang="en-US" sz="1700" b="1" dirty="0">
                <a:solidFill>
                  <a:schemeClr val="tx1"/>
                </a:solidFill>
              </a:rPr>
              <a:t>Official Meta Tech Provider</a:t>
            </a:r>
            <a:endParaRPr lang="en-US" sz="1700" dirty="0"/>
          </a:p>
        </p:txBody>
      </p:sp>
      <p:sp>
        <p:nvSpPr>
          <p:cNvPr id="22" name="Text 15"/>
          <p:cNvSpPr txBox="1"/>
          <p:nvPr/>
        </p:nvSpPr>
        <p:spPr>
          <a:xfrm>
            <a:off x="5989320" y="5605272"/>
            <a:ext cx="5577840" cy="457200"/>
          </a:xfrm>
          <a:prstGeom prst="rect">
            <a:avLst/>
          </a:prstGeom>
          <a:noFill/>
          <a:ln/>
        </p:spPr>
        <p:txBody>
          <a:bodyPr wrap="square" lIns="0" tIns="0" rIns="0" bIns="0" rtlCol="0" anchor="t"/>
          <a:lstStyle/>
          <a:p>
            <a:pPr indent="0" marL="0">
              <a:buNone/>
            </a:pPr>
            <a:r>
              <a:rPr lang="en-US" sz="1400" dirty="0">
                <a:solidFill>
                  <a:schemeClr val="tx2"/>
                </a:solidFill>
              </a:rPr>
              <a:t>We connect businesses to the official WhatsApp Business Platform.</a:t>
            </a:r>
            <a:endParaRPr lang="en-US" sz="14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WAMA CRM logo" descr="/home/user/Marketing-CRM/docs/brand/wamacrm-logo-horizontal-light.png">    </p:cNvPr>
          <p:cNvPicPr>
            <a:picLocks noChangeAspect="1"/>
          </p:cNvPicPr>
          <p:nvPr/>
        </p:nvPicPr>
        <p:blipFill>
          <a:blip r:embed="rId1"/>
          <a:stretch>
            <a:fillRect/>
          </a:stretch>
        </p:blipFill>
        <p:spPr>
          <a:xfrm>
            <a:off x="640080" y="548640"/>
            <a:ext cx="3200400" cy="914400"/>
          </a:xfrm>
          <a:prstGeom prst="rect">
            <a:avLst/>
          </a:prstGeom>
        </p:spPr>
      </p:pic>
      <p:sp>
        <p:nvSpPr>
          <p:cNvPr id="3" name="Text 0"/>
          <p:cNvSpPr/>
          <p:nvPr>
            <p:ph idx="100" type="title" hasCustomPrompt="1"/>
          </p:nvPr>
        </p:nvSpPr>
        <p:spPr>
          <a:xfrm>
            <a:off x="640080" y="2011680"/>
            <a:ext cx="6766560" cy="1828800"/>
          </a:xfrm>
          <a:prstGeom prst="rect">
            <a:avLst/>
          </a:prstGeom>
          <a:noFill/>
          <a:ln/>
        </p:spPr>
        <p:txBody>
          <a:bodyPr wrap="square" lIns="0" tIns="0" rIns="0" bIns="0" rtlCol="0" anchor="b"/>
          <a:lstStyle/>
          <a:p>
            <a:pPr algn="l" indent="0" marL="0">
              <a:buNone/>
            </a:pPr>
            <a:r>
              <a:rPr lang="en-US" sz="4400" b="1" dirty="0">
                <a:solidFill>
                  <a:schemeClr val="bg1"/>
                </a:solidFill>
              </a:rPr>
              <a:t>Meet WAMA CRM</a:t>
            </a:r>
            <a:endParaRPr lang="en-US" sz="4400" dirty="0"/>
          </a:p>
        </p:txBody>
      </p:sp>
      <p:sp>
        <p:nvSpPr>
          <p:cNvPr id="4" name="Text 0"/>
          <p:cNvSpPr/>
          <p:nvPr>
            <p:ph idx="101" type="body" hasCustomPrompt="1"/>
          </p:nvPr>
        </p:nvSpPr>
        <p:spPr>
          <a:xfrm>
            <a:off x="640080" y="4023360"/>
            <a:ext cx="6766560" cy="1188720"/>
          </a:xfrm>
          <a:prstGeom prst="rect">
            <a:avLst/>
          </a:prstGeom>
          <a:noFill/>
          <a:ln/>
        </p:spPr>
        <p:txBody>
          <a:bodyPr wrap="square" lIns="0" tIns="0" rIns="0" bIns="0" rtlCol="0" anchor="t"/>
          <a:lstStyle/>
          <a:p>
            <a:pPr algn="l" indent="0" marL="0">
              <a:buNone/>
            </a:pPr>
            <a:r>
              <a:rPr lang="en-US" sz="1800" dirty="0">
                <a:solidFill>
                  <a:srgbClr val="C9D6F2"/>
                </a:solidFill>
              </a:rPr>
              <a:t>One place to reply, sell, market and support, all on WhatsApp, with AI doing the heavy work.</a:t>
            </a:r>
            <a:endParaRPr lang="en-US" sz="1800" dirty="0"/>
          </a:p>
        </p:txBody>
      </p:sp>
      <p:sp>
        <p:nvSpPr>
          <p:cNvPr id="5" name="pillar 1"/>
          <p:cNvSpPr/>
          <p:nvPr/>
        </p:nvSpPr>
        <p:spPr>
          <a:xfrm>
            <a:off x="7818120" y="1463040"/>
            <a:ext cx="1828800" cy="1874520"/>
          </a:xfrm>
          <a:prstGeom prst="roundRect">
            <a:avLst>
              <a:gd name="adj" fmla="val 6000"/>
            </a:avLst>
          </a:prstGeom>
          <a:solidFill>
            <a:srgbClr val="1B2A55"/>
          </a:solidFill>
          <a:ln w="12700">
            <a:solidFill>
              <a:srgbClr val="2E4380"/>
            </a:solidFill>
            <a:prstDash val="solid"/>
          </a:ln>
        </p:spPr>
      </p:sp>
      <p:sp>
        <p:nvSpPr>
          <p:cNvPr id="6" name="pillar 1 icon circle"/>
          <p:cNvSpPr/>
          <p:nvPr/>
        </p:nvSpPr>
        <p:spPr>
          <a:xfrm>
            <a:off x="8449056" y="1691640"/>
            <a:ext cx="566928" cy="566928"/>
          </a:xfrm>
          <a:prstGeom prst="ellipse">
            <a:avLst/>
          </a:prstGeom>
          <a:solidFill>
            <a:schemeClr val="accent1"/>
          </a:solidFill>
          <a:ln/>
        </p:spPr>
      </p:sp>
      <p:pic>
        <p:nvPicPr>
          <p:cNvPr id="7" name="pillar 1 icon" descr="preencoded.png">    </p:cNvPr>
          <p:cNvPicPr>
            <a:picLocks noChangeAspect="1"/>
          </p:cNvPicPr>
          <p:nvPr/>
        </p:nvPicPr>
        <p:blipFill>
          <a:blip r:embed="rId2"/>
          <a:stretch>
            <a:fillRect/>
          </a:stretch>
        </p:blipFill>
        <p:spPr>
          <a:xfrm>
            <a:off x="8585119" y="1827703"/>
            <a:ext cx="294803" cy="294803"/>
          </a:xfrm>
          <a:prstGeom prst="rect">
            <a:avLst/>
          </a:prstGeom>
        </p:spPr>
      </p:pic>
      <p:sp>
        <p:nvSpPr>
          <p:cNvPr id="8" name="Text 4"/>
          <p:cNvSpPr txBox="1"/>
          <p:nvPr/>
        </p:nvSpPr>
        <p:spPr>
          <a:xfrm>
            <a:off x="7909560" y="2377440"/>
            <a:ext cx="1645920" cy="365760"/>
          </a:xfrm>
          <a:prstGeom prst="rect">
            <a:avLst/>
          </a:prstGeom>
          <a:noFill/>
          <a:ln/>
        </p:spPr>
        <p:txBody>
          <a:bodyPr wrap="square" lIns="0" tIns="0" rIns="0" bIns="0" rtlCol="0" anchor="t"/>
          <a:lstStyle/>
          <a:p>
            <a:pPr algn="ctr" indent="0" marL="0">
              <a:buNone/>
            </a:pPr>
            <a:r>
              <a:rPr lang="en-US" sz="1500" b="1" dirty="0">
                <a:solidFill>
                  <a:schemeClr val="bg1"/>
                </a:solidFill>
              </a:rPr>
              <a:t>Reply 24/7</a:t>
            </a:r>
            <a:endParaRPr lang="en-US" sz="1500" dirty="0"/>
          </a:p>
        </p:txBody>
      </p:sp>
      <p:sp>
        <p:nvSpPr>
          <p:cNvPr id="9" name="Text 5"/>
          <p:cNvSpPr txBox="1"/>
          <p:nvPr/>
        </p:nvSpPr>
        <p:spPr>
          <a:xfrm>
            <a:off x="7909560" y="2743200"/>
            <a:ext cx="1645920" cy="457200"/>
          </a:xfrm>
          <a:prstGeom prst="rect">
            <a:avLst/>
          </a:prstGeom>
          <a:noFill/>
          <a:ln/>
        </p:spPr>
        <p:txBody>
          <a:bodyPr wrap="square" lIns="0" tIns="0" rIns="0" bIns="0" rtlCol="0" anchor="t"/>
          <a:lstStyle/>
          <a:p>
            <a:pPr algn="ctr" indent="0" marL="0">
              <a:buNone/>
            </a:pPr>
            <a:r>
              <a:rPr lang="en-US" sz="1200" dirty="0">
                <a:solidFill>
                  <a:srgbClr val="9FB0D6"/>
                </a:solidFill>
              </a:rPr>
              <a:t>AI answers in seconds</a:t>
            </a:r>
            <a:endParaRPr lang="en-US" sz="1200" dirty="0"/>
          </a:p>
        </p:txBody>
      </p:sp>
      <p:sp>
        <p:nvSpPr>
          <p:cNvPr id="10" name="pillar 2"/>
          <p:cNvSpPr/>
          <p:nvPr/>
        </p:nvSpPr>
        <p:spPr>
          <a:xfrm>
            <a:off x="9829800" y="1463040"/>
            <a:ext cx="1828800" cy="1874520"/>
          </a:xfrm>
          <a:prstGeom prst="roundRect">
            <a:avLst>
              <a:gd name="adj" fmla="val 6000"/>
            </a:avLst>
          </a:prstGeom>
          <a:solidFill>
            <a:srgbClr val="1B2A55"/>
          </a:solidFill>
          <a:ln w="12700">
            <a:solidFill>
              <a:srgbClr val="2E4380"/>
            </a:solidFill>
            <a:prstDash val="solid"/>
          </a:ln>
        </p:spPr>
      </p:sp>
      <p:sp>
        <p:nvSpPr>
          <p:cNvPr id="11" name="pillar 2 icon circle"/>
          <p:cNvSpPr/>
          <p:nvPr/>
        </p:nvSpPr>
        <p:spPr>
          <a:xfrm>
            <a:off x="10460736" y="1691640"/>
            <a:ext cx="566928" cy="566928"/>
          </a:xfrm>
          <a:prstGeom prst="ellipse">
            <a:avLst/>
          </a:prstGeom>
          <a:solidFill>
            <a:schemeClr val="accent2"/>
          </a:solidFill>
          <a:ln/>
        </p:spPr>
      </p:sp>
      <p:pic>
        <p:nvPicPr>
          <p:cNvPr id="12" name="pillar 2 icon" descr="preencoded.png">    </p:cNvPr>
          <p:cNvPicPr>
            <a:picLocks noChangeAspect="1"/>
          </p:cNvPicPr>
          <p:nvPr/>
        </p:nvPicPr>
        <p:blipFill>
          <a:blip r:embed="rId3"/>
          <a:stretch>
            <a:fillRect/>
          </a:stretch>
        </p:blipFill>
        <p:spPr>
          <a:xfrm>
            <a:off x="10596799" y="1827703"/>
            <a:ext cx="294803" cy="294803"/>
          </a:xfrm>
          <a:prstGeom prst="rect">
            <a:avLst/>
          </a:prstGeom>
        </p:spPr>
      </p:pic>
      <p:sp>
        <p:nvSpPr>
          <p:cNvPr id="13" name="Text 8"/>
          <p:cNvSpPr txBox="1"/>
          <p:nvPr/>
        </p:nvSpPr>
        <p:spPr>
          <a:xfrm>
            <a:off x="9921240" y="2377440"/>
            <a:ext cx="1645920" cy="365760"/>
          </a:xfrm>
          <a:prstGeom prst="rect">
            <a:avLst/>
          </a:prstGeom>
          <a:noFill/>
          <a:ln/>
        </p:spPr>
        <p:txBody>
          <a:bodyPr wrap="square" lIns="0" tIns="0" rIns="0" bIns="0" rtlCol="0" anchor="t"/>
          <a:lstStyle/>
          <a:p>
            <a:pPr algn="ctr" indent="0" marL="0">
              <a:buNone/>
            </a:pPr>
            <a:r>
              <a:rPr lang="en-US" sz="1500" b="1" dirty="0">
                <a:solidFill>
                  <a:schemeClr val="bg1"/>
                </a:solidFill>
              </a:rPr>
              <a:t>Sell in the chat</a:t>
            </a:r>
            <a:endParaRPr lang="en-US" sz="1500" dirty="0"/>
          </a:p>
        </p:txBody>
      </p:sp>
      <p:sp>
        <p:nvSpPr>
          <p:cNvPr id="14" name="Text 9"/>
          <p:cNvSpPr txBox="1"/>
          <p:nvPr/>
        </p:nvSpPr>
        <p:spPr>
          <a:xfrm>
            <a:off x="9921240" y="2743200"/>
            <a:ext cx="1645920" cy="457200"/>
          </a:xfrm>
          <a:prstGeom prst="rect">
            <a:avLst/>
          </a:prstGeom>
          <a:noFill/>
          <a:ln/>
        </p:spPr>
        <p:txBody>
          <a:bodyPr wrap="square" lIns="0" tIns="0" rIns="0" bIns="0" rtlCol="0" anchor="t"/>
          <a:lstStyle/>
          <a:p>
            <a:pPr algn="ctr" indent="0" marL="0">
              <a:buNone/>
            </a:pPr>
            <a:r>
              <a:rPr lang="en-US" sz="1200" dirty="0">
                <a:solidFill>
                  <a:srgbClr val="9FB0D6"/>
                </a:solidFill>
              </a:rPr>
              <a:t>Catalog, cart and payment</a:t>
            </a:r>
            <a:endParaRPr lang="en-US" sz="1200" dirty="0"/>
          </a:p>
        </p:txBody>
      </p:sp>
      <p:sp>
        <p:nvSpPr>
          <p:cNvPr id="15" name="pillar 3"/>
          <p:cNvSpPr/>
          <p:nvPr/>
        </p:nvSpPr>
        <p:spPr>
          <a:xfrm>
            <a:off x="7818120" y="3566160"/>
            <a:ext cx="1828800" cy="1874520"/>
          </a:xfrm>
          <a:prstGeom prst="roundRect">
            <a:avLst>
              <a:gd name="adj" fmla="val 6000"/>
            </a:avLst>
          </a:prstGeom>
          <a:solidFill>
            <a:srgbClr val="1B2A55"/>
          </a:solidFill>
          <a:ln w="12700">
            <a:solidFill>
              <a:srgbClr val="2E4380"/>
            </a:solidFill>
            <a:prstDash val="solid"/>
          </a:ln>
        </p:spPr>
      </p:sp>
      <p:sp>
        <p:nvSpPr>
          <p:cNvPr id="16" name="pillar 3 icon circle"/>
          <p:cNvSpPr/>
          <p:nvPr/>
        </p:nvSpPr>
        <p:spPr>
          <a:xfrm>
            <a:off x="8449056" y="3794760"/>
            <a:ext cx="566928" cy="566928"/>
          </a:xfrm>
          <a:prstGeom prst="ellipse">
            <a:avLst/>
          </a:prstGeom>
          <a:solidFill>
            <a:schemeClr val="accent4"/>
          </a:solidFill>
          <a:ln/>
        </p:spPr>
      </p:sp>
      <p:pic>
        <p:nvPicPr>
          <p:cNvPr id="17" name="pillar 3 icon" descr="preencoded.png">    </p:cNvPr>
          <p:cNvPicPr>
            <a:picLocks noChangeAspect="1"/>
          </p:cNvPicPr>
          <p:nvPr/>
        </p:nvPicPr>
        <p:blipFill>
          <a:blip r:embed="rId4"/>
          <a:stretch>
            <a:fillRect/>
          </a:stretch>
        </p:blipFill>
        <p:spPr>
          <a:xfrm>
            <a:off x="8585119" y="3930823"/>
            <a:ext cx="294803" cy="294803"/>
          </a:xfrm>
          <a:prstGeom prst="rect">
            <a:avLst/>
          </a:prstGeom>
        </p:spPr>
      </p:pic>
      <p:sp>
        <p:nvSpPr>
          <p:cNvPr id="18" name="Text 12"/>
          <p:cNvSpPr txBox="1"/>
          <p:nvPr/>
        </p:nvSpPr>
        <p:spPr>
          <a:xfrm>
            <a:off x="7909560" y="4480560"/>
            <a:ext cx="1645920" cy="365760"/>
          </a:xfrm>
          <a:prstGeom prst="rect">
            <a:avLst/>
          </a:prstGeom>
          <a:noFill/>
          <a:ln/>
        </p:spPr>
        <p:txBody>
          <a:bodyPr wrap="square" lIns="0" tIns="0" rIns="0" bIns="0" rtlCol="0" anchor="t"/>
          <a:lstStyle/>
          <a:p>
            <a:pPr algn="ctr" indent="0" marL="0">
              <a:buNone/>
            </a:pPr>
            <a:r>
              <a:rPr lang="en-US" sz="1500" b="1" dirty="0">
                <a:solidFill>
                  <a:schemeClr val="bg1"/>
                </a:solidFill>
              </a:rPr>
              <a:t>Market at scale</a:t>
            </a:r>
            <a:endParaRPr lang="en-US" sz="1500" dirty="0"/>
          </a:p>
        </p:txBody>
      </p:sp>
      <p:sp>
        <p:nvSpPr>
          <p:cNvPr id="19" name="Text 13"/>
          <p:cNvSpPr txBox="1"/>
          <p:nvPr/>
        </p:nvSpPr>
        <p:spPr>
          <a:xfrm>
            <a:off x="7909560" y="4846320"/>
            <a:ext cx="1645920" cy="457200"/>
          </a:xfrm>
          <a:prstGeom prst="rect">
            <a:avLst/>
          </a:prstGeom>
          <a:noFill/>
          <a:ln/>
        </p:spPr>
        <p:txBody>
          <a:bodyPr wrap="square" lIns="0" tIns="0" rIns="0" bIns="0" rtlCol="0" anchor="t"/>
          <a:lstStyle/>
          <a:p>
            <a:pPr algn="ctr" indent="0" marL="0">
              <a:buNone/>
            </a:pPr>
            <a:r>
              <a:rPr lang="en-US" sz="1200" dirty="0">
                <a:solidFill>
                  <a:srgbClr val="9FB0D6"/>
                </a:solidFill>
              </a:rPr>
              <a:t>Campaigns people read</a:t>
            </a:r>
            <a:endParaRPr lang="en-US" sz="1200" dirty="0"/>
          </a:p>
        </p:txBody>
      </p:sp>
      <p:sp>
        <p:nvSpPr>
          <p:cNvPr id="20" name="pillar 4"/>
          <p:cNvSpPr/>
          <p:nvPr/>
        </p:nvSpPr>
        <p:spPr>
          <a:xfrm>
            <a:off x="9829800" y="3566160"/>
            <a:ext cx="1828800" cy="1874520"/>
          </a:xfrm>
          <a:prstGeom prst="roundRect">
            <a:avLst>
              <a:gd name="adj" fmla="val 6000"/>
            </a:avLst>
          </a:prstGeom>
          <a:solidFill>
            <a:srgbClr val="1B2A55"/>
          </a:solidFill>
          <a:ln w="12700">
            <a:solidFill>
              <a:srgbClr val="2E4380"/>
            </a:solidFill>
            <a:prstDash val="solid"/>
          </a:ln>
        </p:spPr>
      </p:sp>
      <p:sp>
        <p:nvSpPr>
          <p:cNvPr id="21" name="pillar 4 icon circle"/>
          <p:cNvSpPr/>
          <p:nvPr/>
        </p:nvSpPr>
        <p:spPr>
          <a:xfrm>
            <a:off x="10460736" y="3794760"/>
            <a:ext cx="566928" cy="566928"/>
          </a:xfrm>
          <a:prstGeom prst="ellipse">
            <a:avLst/>
          </a:prstGeom>
          <a:solidFill>
            <a:schemeClr val="accent3"/>
          </a:solidFill>
          <a:ln/>
        </p:spPr>
      </p:sp>
      <p:pic>
        <p:nvPicPr>
          <p:cNvPr id="22" name="pillar 4 icon" descr="preencoded.png">    </p:cNvPr>
          <p:cNvPicPr>
            <a:picLocks noChangeAspect="1"/>
          </p:cNvPicPr>
          <p:nvPr/>
        </p:nvPicPr>
        <p:blipFill>
          <a:blip r:embed="rId5"/>
          <a:stretch>
            <a:fillRect/>
          </a:stretch>
        </p:blipFill>
        <p:spPr>
          <a:xfrm>
            <a:off x="10596799" y="3930823"/>
            <a:ext cx="294803" cy="294803"/>
          </a:xfrm>
          <a:prstGeom prst="rect">
            <a:avLst/>
          </a:prstGeom>
        </p:spPr>
      </p:pic>
      <p:sp>
        <p:nvSpPr>
          <p:cNvPr id="23" name="Text 16"/>
          <p:cNvSpPr txBox="1"/>
          <p:nvPr/>
        </p:nvSpPr>
        <p:spPr>
          <a:xfrm>
            <a:off x="9921240" y="4480560"/>
            <a:ext cx="1645920" cy="365760"/>
          </a:xfrm>
          <a:prstGeom prst="rect">
            <a:avLst/>
          </a:prstGeom>
          <a:noFill/>
          <a:ln/>
        </p:spPr>
        <p:txBody>
          <a:bodyPr wrap="square" lIns="0" tIns="0" rIns="0" bIns="0" rtlCol="0" anchor="t"/>
          <a:lstStyle/>
          <a:p>
            <a:pPr algn="ctr" indent="0" marL="0">
              <a:buNone/>
            </a:pPr>
            <a:r>
              <a:rPr lang="en-US" sz="1500" b="1" dirty="0">
                <a:solidFill>
                  <a:schemeClr val="bg1"/>
                </a:solidFill>
              </a:rPr>
              <a:t>Support and track</a:t>
            </a:r>
            <a:endParaRPr lang="en-US" sz="1500" dirty="0"/>
          </a:p>
        </p:txBody>
      </p:sp>
      <p:sp>
        <p:nvSpPr>
          <p:cNvPr id="24" name="Text 17"/>
          <p:cNvSpPr txBox="1"/>
          <p:nvPr/>
        </p:nvSpPr>
        <p:spPr>
          <a:xfrm>
            <a:off x="9921240" y="4846320"/>
            <a:ext cx="1645920" cy="457200"/>
          </a:xfrm>
          <a:prstGeom prst="rect">
            <a:avLst/>
          </a:prstGeom>
          <a:noFill/>
          <a:ln/>
        </p:spPr>
        <p:txBody>
          <a:bodyPr wrap="square" lIns="0" tIns="0" rIns="0" bIns="0" rtlCol="0" anchor="t"/>
          <a:lstStyle/>
          <a:p>
            <a:pPr algn="ctr" indent="0" marL="0">
              <a:buNone/>
            </a:pPr>
            <a:r>
              <a:rPr lang="en-US" sz="1200" dirty="0">
                <a:solidFill>
                  <a:srgbClr val="9FB0D6"/>
                </a:solidFill>
              </a:rPr>
              <a:t>Tickets, pipeline, reports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How it works for your customer</a:t>
            </a:r>
            <a:endParaRPr lang="en-US" sz="3200" dirty="0"/>
          </a:p>
        </p:txBody>
      </p:sp>
      <p:sp>
        <p:nvSpPr>
          <p:cNvPr id="3" name="step 1"/>
          <p:cNvSpPr/>
          <p:nvPr/>
        </p:nvSpPr>
        <p:spPr>
          <a:xfrm>
            <a:off x="548640" y="1828800"/>
            <a:ext cx="2011680" cy="3291840"/>
          </a:xfrm>
          <a:prstGeom prst="roundRect">
            <a:avLst>
              <a:gd name="adj" fmla="val 5455"/>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4" name="Text 2"/>
          <p:cNvSpPr txBox="1"/>
          <p:nvPr/>
        </p:nvSpPr>
        <p:spPr>
          <a:xfrm>
            <a:off x="731520" y="1965960"/>
            <a:ext cx="457200" cy="365760"/>
          </a:xfrm>
          <a:prstGeom prst="rect">
            <a:avLst/>
          </a:prstGeom>
          <a:noFill/>
          <a:ln/>
        </p:spPr>
        <p:txBody>
          <a:bodyPr wrap="square" lIns="0" tIns="0" rIns="0" bIns="0" rtlCol="0" anchor="t"/>
          <a:lstStyle/>
          <a:p>
            <a:pPr indent="0" marL="0">
              <a:buNone/>
            </a:pPr>
            <a:r>
              <a:rPr lang="en-US" sz="1400" b="1" dirty="0">
                <a:solidFill>
                  <a:schemeClr val="accent6"/>
                </a:solidFill>
              </a:rPr>
              <a:t>1</a:t>
            </a:r>
            <a:endParaRPr lang="en-US" sz="1400" dirty="0"/>
          </a:p>
        </p:txBody>
      </p:sp>
      <p:sp>
        <p:nvSpPr>
          <p:cNvPr id="5" name="step 1 icon circle"/>
          <p:cNvSpPr/>
          <p:nvPr/>
        </p:nvSpPr>
        <p:spPr>
          <a:xfrm>
            <a:off x="1234440" y="2240280"/>
            <a:ext cx="640080" cy="640080"/>
          </a:xfrm>
          <a:prstGeom prst="ellipse">
            <a:avLst/>
          </a:prstGeom>
          <a:solidFill>
            <a:schemeClr val="accent2"/>
          </a:solidFill>
          <a:ln/>
        </p:spPr>
      </p:sp>
      <p:pic>
        <p:nvPicPr>
          <p:cNvPr id="6" name="step 1 icon" descr="preencoded.png">    </p:cNvPr>
          <p:cNvPicPr>
            <a:picLocks noChangeAspect="1"/>
          </p:cNvPicPr>
          <p:nvPr/>
        </p:nvPicPr>
        <p:blipFill>
          <a:blip r:embed="rId1"/>
          <a:stretch>
            <a:fillRect/>
          </a:stretch>
        </p:blipFill>
        <p:spPr>
          <a:xfrm>
            <a:off x="1388059" y="2393899"/>
            <a:ext cx="332842" cy="332842"/>
          </a:xfrm>
          <a:prstGeom prst="rect">
            <a:avLst/>
          </a:prstGeom>
        </p:spPr>
      </p:pic>
      <p:sp>
        <p:nvSpPr>
          <p:cNvPr id="7" name="Text 4"/>
          <p:cNvSpPr txBox="1"/>
          <p:nvPr/>
        </p:nvSpPr>
        <p:spPr>
          <a:xfrm>
            <a:off x="685800" y="3108960"/>
            <a:ext cx="1737360" cy="685800"/>
          </a:xfrm>
          <a:prstGeom prst="rect">
            <a:avLst/>
          </a:prstGeom>
          <a:noFill/>
          <a:ln/>
        </p:spPr>
        <p:txBody>
          <a:bodyPr wrap="square" lIns="0" tIns="0" rIns="0" bIns="0" rtlCol="0" anchor="ctr"/>
          <a:lstStyle/>
          <a:p>
            <a:pPr algn="ctr" indent="0" marL="0">
              <a:buNone/>
            </a:pPr>
            <a:r>
              <a:rPr lang="en-US" sz="1700" b="1" dirty="0">
                <a:solidFill>
                  <a:schemeClr val="tx1"/>
                </a:solidFill>
              </a:rPr>
              <a:t>Customer messages</a:t>
            </a:r>
            <a:endParaRPr lang="en-US" sz="1700" dirty="0"/>
          </a:p>
        </p:txBody>
      </p:sp>
      <p:sp>
        <p:nvSpPr>
          <p:cNvPr id="8" name="Text 5"/>
          <p:cNvSpPr txBox="1"/>
          <p:nvPr/>
        </p:nvSpPr>
        <p:spPr>
          <a:xfrm>
            <a:off x="685800" y="3840480"/>
            <a:ext cx="1737360" cy="1097280"/>
          </a:xfrm>
          <a:prstGeom prst="rect">
            <a:avLst/>
          </a:prstGeom>
          <a:noFill/>
          <a:ln/>
        </p:spPr>
        <p:txBody>
          <a:bodyPr wrap="square" lIns="0" tIns="0" rIns="0" bIns="0" rtlCol="0" anchor="t"/>
          <a:lstStyle/>
          <a:p>
            <a:pPr algn="ctr" indent="0" marL="0">
              <a:buNone/>
            </a:pPr>
            <a:r>
              <a:rPr lang="en-US" sz="1400" dirty="0">
                <a:solidFill>
                  <a:schemeClr val="tx2"/>
                </a:solidFill>
              </a:rPr>
              <a:t>From your ad, website, QR code or a campaign.</a:t>
            </a:r>
            <a:endParaRPr lang="en-US" sz="1400" dirty="0"/>
          </a:p>
        </p:txBody>
      </p:sp>
      <p:sp>
        <p:nvSpPr>
          <p:cNvPr id="9" name="arrow 1"/>
          <p:cNvSpPr/>
          <p:nvPr/>
        </p:nvSpPr>
        <p:spPr>
          <a:xfrm>
            <a:off x="2596896" y="3337560"/>
            <a:ext cx="219456" cy="274320"/>
          </a:xfrm>
          <a:prstGeom prst="rightArrow">
            <a:avLst/>
          </a:prstGeom>
          <a:solidFill>
            <a:schemeClr val="accent6"/>
          </a:solidFill>
          <a:ln/>
        </p:spPr>
      </p:sp>
      <p:sp>
        <p:nvSpPr>
          <p:cNvPr id="10" name="step 2"/>
          <p:cNvSpPr/>
          <p:nvPr/>
        </p:nvSpPr>
        <p:spPr>
          <a:xfrm>
            <a:off x="2834640" y="1828800"/>
            <a:ext cx="2011680" cy="3291840"/>
          </a:xfrm>
          <a:prstGeom prst="roundRect">
            <a:avLst>
              <a:gd name="adj" fmla="val 5455"/>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11" name="Text 8"/>
          <p:cNvSpPr txBox="1"/>
          <p:nvPr/>
        </p:nvSpPr>
        <p:spPr>
          <a:xfrm>
            <a:off x="3017520" y="1965960"/>
            <a:ext cx="457200" cy="365760"/>
          </a:xfrm>
          <a:prstGeom prst="rect">
            <a:avLst/>
          </a:prstGeom>
          <a:noFill/>
          <a:ln/>
        </p:spPr>
        <p:txBody>
          <a:bodyPr wrap="square" lIns="0" tIns="0" rIns="0" bIns="0" rtlCol="0" anchor="t"/>
          <a:lstStyle/>
          <a:p>
            <a:pPr indent="0" marL="0">
              <a:buNone/>
            </a:pPr>
            <a:r>
              <a:rPr lang="en-US" sz="1400" b="1" dirty="0">
                <a:solidFill>
                  <a:schemeClr val="accent6"/>
                </a:solidFill>
              </a:rPr>
              <a:t>2</a:t>
            </a:r>
            <a:endParaRPr lang="en-US" sz="1400" dirty="0"/>
          </a:p>
        </p:txBody>
      </p:sp>
      <p:sp>
        <p:nvSpPr>
          <p:cNvPr id="12" name="step 2 icon circle"/>
          <p:cNvSpPr/>
          <p:nvPr/>
        </p:nvSpPr>
        <p:spPr>
          <a:xfrm>
            <a:off x="3520440" y="2240280"/>
            <a:ext cx="640080" cy="640080"/>
          </a:xfrm>
          <a:prstGeom prst="ellipse">
            <a:avLst/>
          </a:prstGeom>
          <a:solidFill>
            <a:schemeClr val="accent1"/>
          </a:solidFill>
          <a:ln/>
        </p:spPr>
      </p:sp>
      <p:pic>
        <p:nvPicPr>
          <p:cNvPr id="13" name="step 2 icon" descr="preencoded.png">    </p:cNvPr>
          <p:cNvPicPr>
            <a:picLocks noChangeAspect="1"/>
          </p:cNvPicPr>
          <p:nvPr/>
        </p:nvPicPr>
        <p:blipFill>
          <a:blip r:embed="rId2"/>
          <a:stretch>
            <a:fillRect/>
          </a:stretch>
        </p:blipFill>
        <p:spPr>
          <a:xfrm>
            <a:off x="3674059" y="2393899"/>
            <a:ext cx="332842" cy="332842"/>
          </a:xfrm>
          <a:prstGeom prst="rect">
            <a:avLst/>
          </a:prstGeom>
        </p:spPr>
      </p:pic>
      <p:sp>
        <p:nvSpPr>
          <p:cNvPr id="14" name="Text 10"/>
          <p:cNvSpPr txBox="1"/>
          <p:nvPr/>
        </p:nvSpPr>
        <p:spPr>
          <a:xfrm>
            <a:off x="2971800" y="3108960"/>
            <a:ext cx="1737360" cy="685800"/>
          </a:xfrm>
          <a:prstGeom prst="rect">
            <a:avLst/>
          </a:prstGeom>
          <a:noFill/>
          <a:ln/>
        </p:spPr>
        <p:txBody>
          <a:bodyPr wrap="square" lIns="0" tIns="0" rIns="0" bIns="0" rtlCol="0" anchor="ctr"/>
          <a:lstStyle/>
          <a:p>
            <a:pPr algn="ctr" indent="0" marL="0">
              <a:buNone/>
            </a:pPr>
            <a:r>
              <a:rPr lang="en-US" sz="1700" b="1" dirty="0">
                <a:solidFill>
                  <a:schemeClr val="tx1"/>
                </a:solidFill>
              </a:rPr>
              <a:t>AI replies instantly</a:t>
            </a:r>
            <a:endParaRPr lang="en-US" sz="1700" dirty="0"/>
          </a:p>
        </p:txBody>
      </p:sp>
      <p:sp>
        <p:nvSpPr>
          <p:cNvPr id="15" name="Text 11"/>
          <p:cNvSpPr txBox="1"/>
          <p:nvPr/>
        </p:nvSpPr>
        <p:spPr>
          <a:xfrm>
            <a:off x="2971800" y="3840480"/>
            <a:ext cx="1737360" cy="1097280"/>
          </a:xfrm>
          <a:prstGeom prst="rect">
            <a:avLst/>
          </a:prstGeom>
          <a:noFill/>
          <a:ln/>
        </p:spPr>
        <p:txBody>
          <a:bodyPr wrap="square" lIns="0" tIns="0" rIns="0" bIns="0" rtlCol="0" anchor="t"/>
          <a:lstStyle/>
          <a:p>
            <a:pPr algn="ctr" indent="0" marL="0">
              <a:buNone/>
            </a:pPr>
            <a:r>
              <a:rPr lang="en-US" sz="1400" dirty="0">
                <a:solidFill>
                  <a:schemeClr val="tx2"/>
                </a:solidFill>
              </a:rPr>
              <a:t>In English, Telugu, Hindi, Tenglish or Hinglish.</a:t>
            </a:r>
            <a:endParaRPr lang="en-US" sz="1400" dirty="0"/>
          </a:p>
        </p:txBody>
      </p:sp>
      <p:sp>
        <p:nvSpPr>
          <p:cNvPr id="16" name="arrow 2"/>
          <p:cNvSpPr/>
          <p:nvPr/>
        </p:nvSpPr>
        <p:spPr>
          <a:xfrm>
            <a:off x="4882896" y="3337560"/>
            <a:ext cx="219456" cy="274320"/>
          </a:xfrm>
          <a:prstGeom prst="rightArrow">
            <a:avLst/>
          </a:prstGeom>
          <a:solidFill>
            <a:schemeClr val="accent6"/>
          </a:solidFill>
          <a:ln/>
        </p:spPr>
      </p:sp>
      <p:sp>
        <p:nvSpPr>
          <p:cNvPr id="17" name="step 3"/>
          <p:cNvSpPr/>
          <p:nvPr/>
        </p:nvSpPr>
        <p:spPr>
          <a:xfrm>
            <a:off x="5120640" y="1828800"/>
            <a:ext cx="2011680" cy="3291840"/>
          </a:xfrm>
          <a:prstGeom prst="roundRect">
            <a:avLst>
              <a:gd name="adj" fmla="val 5455"/>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18" name="Text 14"/>
          <p:cNvSpPr txBox="1"/>
          <p:nvPr/>
        </p:nvSpPr>
        <p:spPr>
          <a:xfrm>
            <a:off x="5303520" y="1965960"/>
            <a:ext cx="457200" cy="365760"/>
          </a:xfrm>
          <a:prstGeom prst="rect">
            <a:avLst/>
          </a:prstGeom>
          <a:noFill/>
          <a:ln/>
        </p:spPr>
        <p:txBody>
          <a:bodyPr wrap="square" lIns="0" tIns="0" rIns="0" bIns="0" rtlCol="0" anchor="t"/>
          <a:lstStyle/>
          <a:p>
            <a:pPr indent="0" marL="0">
              <a:buNone/>
            </a:pPr>
            <a:r>
              <a:rPr lang="en-US" sz="1400" b="1" dirty="0">
                <a:solidFill>
                  <a:schemeClr val="accent6"/>
                </a:solidFill>
              </a:rPr>
              <a:t>3</a:t>
            </a:r>
            <a:endParaRPr lang="en-US" sz="1400" dirty="0"/>
          </a:p>
        </p:txBody>
      </p:sp>
      <p:sp>
        <p:nvSpPr>
          <p:cNvPr id="19" name="step 3 icon circle"/>
          <p:cNvSpPr/>
          <p:nvPr/>
        </p:nvSpPr>
        <p:spPr>
          <a:xfrm>
            <a:off x="5806440" y="2240280"/>
            <a:ext cx="640080" cy="640080"/>
          </a:xfrm>
          <a:prstGeom prst="ellipse">
            <a:avLst/>
          </a:prstGeom>
          <a:solidFill>
            <a:schemeClr val="accent3"/>
          </a:solidFill>
          <a:ln/>
        </p:spPr>
      </p:sp>
      <p:pic>
        <p:nvPicPr>
          <p:cNvPr id="20" name="step 3 icon" descr="preencoded.png">    </p:cNvPr>
          <p:cNvPicPr>
            <a:picLocks noChangeAspect="1"/>
          </p:cNvPicPr>
          <p:nvPr/>
        </p:nvPicPr>
        <p:blipFill>
          <a:blip r:embed="rId3"/>
          <a:stretch>
            <a:fillRect/>
          </a:stretch>
        </p:blipFill>
        <p:spPr>
          <a:xfrm>
            <a:off x="5960059" y="2393899"/>
            <a:ext cx="332842" cy="332842"/>
          </a:xfrm>
          <a:prstGeom prst="rect">
            <a:avLst/>
          </a:prstGeom>
        </p:spPr>
      </p:pic>
      <p:sp>
        <p:nvSpPr>
          <p:cNvPr id="21" name="Text 16"/>
          <p:cNvSpPr txBox="1"/>
          <p:nvPr/>
        </p:nvSpPr>
        <p:spPr>
          <a:xfrm>
            <a:off x="5257800" y="3108960"/>
            <a:ext cx="1737360" cy="685800"/>
          </a:xfrm>
          <a:prstGeom prst="rect">
            <a:avLst/>
          </a:prstGeom>
          <a:noFill/>
          <a:ln/>
        </p:spPr>
        <p:txBody>
          <a:bodyPr wrap="square" lIns="0" tIns="0" rIns="0" bIns="0" rtlCol="0" anchor="ctr"/>
          <a:lstStyle/>
          <a:p>
            <a:pPr algn="ctr" indent="0" marL="0">
              <a:buNone/>
            </a:pPr>
            <a:r>
              <a:rPr lang="en-US" sz="1700" b="1" dirty="0">
                <a:solidFill>
                  <a:schemeClr val="tx1"/>
                </a:solidFill>
              </a:rPr>
              <a:t>Lead saved in CRM</a:t>
            </a:r>
            <a:endParaRPr lang="en-US" sz="1700" dirty="0"/>
          </a:p>
        </p:txBody>
      </p:sp>
      <p:sp>
        <p:nvSpPr>
          <p:cNvPr id="22" name="Text 17"/>
          <p:cNvSpPr txBox="1"/>
          <p:nvPr/>
        </p:nvSpPr>
        <p:spPr>
          <a:xfrm>
            <a:off x="5257800" y="3840480"/>
            <a:ext cx="1737360" cy="1097280"/>
          </a:xfrm>
          <a:prstGeom prst="rect">
            <a:avLst/>
          </a:prstGeom>
          <a:noFill/>
          <a:ln/>
        </p:spPr>
        <p:txBody>
          <a:bodyPr wrap="square" lIns="0" tIns="0" rIns="0" bIns="0" rtlCol="0" anchor="t"/>
          <a:lstStyle/>
          <a:p>
            <a:pPr algn="ctr" indent="0" marL="0">
              <a:buNone/>
            </a:pPr>
            <a:r>
              <a:rPr lang="en-US" sz="1400" dirty="0">
                <a:solidFill>
                  <a:schemeClr val="tx2"/>
                </a:solidFill>
              </a:rPr>
              <a:t>Name, number, interest and chat history, automatically.</a:t>
            </a:r>
            <a:endParaRPr lang="en-US" sz="1400" dirty="0"/>
          </a:p>
        </p:txBody>
      </p:sp>
      <p:sp>
        <p:nvSpPr>
          <p:cNvPr id="23" name="arrow 3"/>
          <p:cNvSpPr/>
          <p:nvPr/>
        </p:nvSpPr>
        <p:spPr>
          <a:xfrm>
            <a:off x="7168896" y="3337560"/>
            <a:ext cx="219456" cy="274320"/>
          </a:xfrm>
          <a:prstGeom prst="rightArrow">
            <a:avLst/>
          </a:prstGeom>
          <a:solidFill>
            <a:schemeClr val="accent6"/>
          </a:solidFill>
          <a:ln/>
        </p:spPr>
      </p:sp>
      <p:sp>
        <p:nvSpPr>
          <p:cNvPr id="24" name="step 4"/>
          <p:cNvSpPr/>
          <p:nvPr/>
        </p:nvSpPr>
        <p:spPr>
          <a:xfrm>
            <a:off x="7406640" y="1828800"/>
            <a:ext cx="2011680" cy="3291840"/>
          </a:xfrm>
          <a:prstGeom prst="roundRect">
            <a:avLst>
              <a:gd name="adj" fmla="val 5455"/>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25" name="Text 20"/>
          <p:cNvSpPr txBox="1"/>
          <p:nvPr/>
        </p:nvSpPr>
        <p:spPr>
          <a:xfrm>
            <a:off x="7589520" y="1965960"/>
            <a:ext cx="457200" cy="365760"/>
          </a:xfrm>
          <a:prstGeom prst="rect">
            <a:avLst/>
          </a:prstGeom>
          <a:noFill/>
          <a:ln/>
        </p:spPr>
        <p:txBody>
          <a:bodyPr wrap="square" lIns="0" tIns="0" rIns="0" bIns="0" rtlCol="0" anchor="t"/>
          <a:lstStyle/>
          <a:p>
            <a:pPr indent="0" marL="0">
              <a:buNone/>
            </a:pPr>
            <a:r>
              <a:rPr lang="en-US" sz="1400" b="1" dirty="0">
                <a:solidFill>
                  <a:schemeClr val="accent6"/>
                </a:solidFill>
              </a:rPr>
              <a:t>4</a:t>
            </a:r>
            <a:endParaRPr lang="en-US" sz="1400" dirty="0"/>
          </a:p>
        </p:txBody>
      </p:sp>
      <p:sp>
        <p:nvSpPr>
          <p:cNvPr id="26" name="step 4 icon circle"/>
          <p:cNvSpPr/>
          <p:nvPr/>
        </p:nvSpPr>
        <p:spPr>
          <a:xfrm>
            <a:off x="8092440" y="2240280"/>
            <a:ext cx="640080" cy="640080"/>
          </a:xfrm>
          <a:prstGeom prst="ellipse">
            <a:avLst/>
          </a:prstGeom>
          <a:solidFill>
            <a:schemeClr val="accent4"/>
          </a:solidFill>
          <a:ln/>
        </p:spPr>
      </p:sp>
      <p:pic>
        <p:nvPicPr>
          <p:cNvPr id="27" name="step 4 icon" descr="preencoded.png">    </p:cNvPr>
          <p:cNvPicPr>
            <a:picLocks noChangeAspect="1"/>
          </p:cNvPicPr>
          <p:nvPr/>
        </p:nvPicPr>
        <p:blipFill>
          <a:blip r:embed="rId4"/>
          <a:stretch>
            <a:fillRect/>
          </a:stretch>
        </p:blipFill>
        <p:spPr>
          <a:xfrm>
            <a:off x="8246059" y="2393899"/>
            <a:ext cx="332842" cy="332842"/>
          </a:xfrm>
          <a:prstGeom prst="rect">
            <a:avLst/>
          </a:prstGeom>
        </p:spPr>
      </p:pic>
      <p:sp>
        <p:nvSpPr>
          <p:cNvPr id="28" name="Text 22"/>
          <p:cNvSpPr txBox="1"/>
          <p:nvPr/>
        </p:nvSpPr>
        <p:spPr>
          <a:xfrm>
            <a:off x="7543800" y="3108960"/>
            <a:ext cx="1737360" cy="685800"/>
          </a:xfrm>
          <a:prstGeom prst="rect">
            <a:avLst/>
          </a:prstGeom>
          <a:noFill/>
          <a:ln/>
        </p:spPr>
        <p:txBody>
          <a:bodyPr wrap="square" lIns="0" tIns="0" rIns="0" bIns="0" rtlCol="0" anchor="ctr"/>
          <a:lstStyle/>
          <a:p>
            <a:pPr algn="ctr" indent="0" marL="0">
              <a:buNone/>
            </a:pPr>
            <a:r>
              <a:rPr lang="en-US" sz="1700" b="1" dirty="0">
                <a:solidFill>
                  <a:schemeClr val="tx1"/>
                </a:solidFill>
              </a:rPr>
              <a:t>Order and payment</a:t>
            </a:r>
            <a:endParaRPr lang="en-US" sz="1700" dirty="0"/>
          </a:p>
        </p:txBody>
      </p:sp>
      <p:sp>
        <p:nvSpPr>
          <p:cNvPr id="29" name="Text 23"/>
          <p:cNvSpPr txBox="1"/>
          <p:nvPr/>
        </p:nvSpPr>
        <p:spPr>
          <a:xfrm>
            <a:off x="7543800" y="3840480"/>
            <a:ext cx="1737360" cy="1097280"/>
          </a:xfrm>
          <a:prstGeom prst="rect">
            <a:avLst/>
          </a:prstGeom>
          <a:noFill/>
          <a:ln/>
        </p:spPr>
        <p:txBody>
          <a:bodyPr wrap="square" lIns="0" tIns="0" rIns="0" bIns="0" rtlCol="0" anchor="t"/>
          <a:lstStyle/>
          <a:p>
            <a:pPr algn="ctr" indent="0" marL="0">
              <a:buNone/>
            </a:pPr>
            <a:r>
              <a:rPr lang="en-US" sz="1400" dirty="0">
                <a:solidFill>
                  <a:schemeClr val="tx2"/>
                </a:solidFill>
              </a:rPr>
              <a:t>Your team takes over, or the customer buys in the chat.</a:t>
            </a:r>
            <a:endParaRPr lang="en-US" sz="1400" dirty="0"/>
          </a:p>
        </p:txBody>
      </p:sp>
      <p:sp>
        <p:nvSpPr>
          <p:cNvPr id="30" name="arrow 4"/>
          <p:cNvSpPr/>
          <p:nvPr/>
        </p:nvSpPr>
        <p:spPr>
          <a:xfrm>
            <a:off x="9454896" y="3337560"/>
            <a:ext cx="219456" cy="274320"/>
          </a:xfrm>
          <a:prstGeom prst="rightArrow">
            <a:avLst/>
          </a:prstGeom>
          <a:solidFill>
            <a:schemeClr val="accent6"/>
          </a:solidFill>
          <a:ln/>
        </p:spPr>
      </p:sp>
      <p:sp>
        <p:nvSpPr>
          <p:cNvPr id="31" name="step 5"/>
          <p:cNvSpPr/>
          <p:nvPr/>
        </p:nvSpPr>
        <p:spPr>
          <a:xfrm>
            <a:off x="9692640" y="1828800"/>
            <a:ext cx="2011680" cy="3291840"/>
          </a:xfrm>
          <a:prstGeom prst="roundRect">
            <a:avLst>
              <a:gd name="adj" fmla="val 5455"/>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32" name="Text 26"/>
          <p:cNvSpPr txBox="1"/>
          <p:nvPr/>
        </p:nvSpPr>
        <p:spPr>
          <a:xfrm>
            <a:off x="9875520" y="1965960"/>
            <a:ext cx="457200" cy="365760"/>
          </a:xfrm>
          <a:prstGeom prst="rect">
            <a:avLst/>
          </a:prstGeom>
          <a:noFill/>
          <a:ln/>
        </p:spPr>
        <p:txBody>
          <a:bodyPr wrap="square" lIns="0" tIns="0" rIns="0" bIns="0" rtlCol="0" anchor="t"/>
          <a:lstStyle/>
          <a:p>
            <a:pPr indent="0" marL="0">
              <a:buNone/>
            </a:pPr>
            <a:r>
              <a:rPr lang="en-US" sz="1400" b="1" dirty="0">
                <a:solidFill>
                  <a:schemeClr val="accent6"/>
                </a:solidFill>
              </a:rPr>
              <a:t>5</a:t>
            </a:r>
            <a:endParaRPr lang="en-US" sz="1400" dirty="0"/>
          </a:p>
        </p:txBody>
      </p:sp>
      <p:sp>
        <p:nvSpPr>
          <p:cNvPr id="33" name="step 5 icon circle"/>
          <p:cNvSpPr/>
          <p:nvPr/>
        </p:nvSpPr>
        <p:spPr>
          <a:xfrm>
            <a:off x="10378440" y="2240280"/>
            <a:ext cx="640080" cy="640080"/>
          </a:xfrm>
          <a:prstGeom prst="ellipse">
            <a:avLst/>
          </a:prstGeom>
          <a:solidFill>
            <a:schemeClr val="accent1"/>
          </a:solidFill>
          <a:ln/>
        </p:spPr>
      </p:sp>
      <p:pic>
        <p:nvPicPr>
          <p:cNvPr id="34" name="step 5 icon" descr="preencoded.png">    </p:cNvPr>
          <p:cNvPicPr>
            <a:picLocks noChangeAspect="1"/>
          </p:cNvPicPr>
          <p:nvPr/>
        </p:nvPicPr>
        <p:blipFill>
          <a:blip r:embed="rId5"/>
          <a:stretch>
            <a:fillRect/>
          </a:stretch>
        </p:blipFill>
        <p:spPr>
          <a:xfrm>
            <a:off x="10532059" y="2393899"/>
            <a:ext cx="332842" cy="332842"/>
          </a:xfrm>
          <a:prstGeom prst="rect">
            <a:avLst/>
          </a:prstGeom>
        </p:spPr>
      </p:pic>
      <p:sp>
        <p:nvSpPr>
          <p:cNvPr id="35" name="Text 28"/>
          <p:cNvSpPr txBox="1"/>
          <p:nvPr/>
        </p:nvSpPr>
        <p:spPr>
          <a:xfrm>
            <a:off x="9829800" y="3108960"/>
            <a:ext cx="1737360" cy="685800"/>
          </a:xfrm>
          <a:prstGeom prst="rect">
            <a:avLst/>
          </a:prstGeom>
          <a:noFill/>
          <a:ln/>
        </p:spPr>
        <p:txBody>
          <a:bodyPr wrap="square" lIns="0" tIns="0" rIns="0" bIns="0" rtlCol="0" anchor="ctr"/>
          <a:lstStyle/>
          <a:p>
            <a:pPr algn="ctr" indent="0" marL="0">
              <a:buNone/>
            </a:pPr>
            <a:r>
              <a:rPr lang="en-US" sz="1700" b="1" dirty="0">
                <a:solidFill>
                  <a:schemeClr val="tx1"/>
                </a:solidFill>
              </a:rPr>
              <a:t>Follow-up and repeat</a:t>
            </a:r>
            <a:endParaRPr lang="en-US" sz="1700" dirty="0"/>
          </a:p>
        </p:txBody>
      </p:sp>
      <p:sp>
        <p:nvSpPr>
          <p:cNvPr id="36" name="Text 29"/>
          <p:cNvSpPr txBox="1"/>
          <p:nvPr/>
        </p:nvSpPr>
        <p:spPr>
          <a:xfrm>
            <a:off x="9829800" y="3840480"/>
            <a:ext cx="1737360" cy="1097280"/>
          </a:xfrm>
          <a:prstGeom prst="rect">
            <a:avLst/>
          </a:prstGeom>
          <a:noFill/>
          <a:ln/>
        </p:spPr>
        <p:txBody>
          <a:bodyPr wrap="square" lIns="0" tIns="0" rIns="0" bIns="0" rtlCol="0" anchor="t"/>
          <a:lstStyle/>
          <a:p>
            <a:pPr algn="ctr" indent="0" marL="0">
              <a:buNone/>
            </a:pPr>
            <a:r>
              <a:rPr lang="en-US" sz="1400" dirty="0">
                <a:solidFill>
                  <a:schemeClr val="tx2"/>
                </a:solidFill>
              </a:rPr>
              <a:t>Reminders and offers bring the customer back.</a:t>
            </a:r>
            <a:endParaRPr lang="en-US" sz="1400" dirty="0"/>
          </a:p>
        </p:txBody>
      </p:sp>
      <p:sp>
        <p:nvSpPr>
          <p:cNvPr id="37" name="Text 30"/>
          <p:cNvSpPr txBox="1"/>
          <p:nvPr/>
        </p:nvSpPr>
        <p:spPr>
          <a:xfrm>
            <a:off x="548640" y="5486400"/>
            <a:ext cx="11064240" cy="411480"/>
          </a:xfrm>
          <a:prstGeom prst="rect">
            <a:avLst/>
          </a:prstGeom>
          <a:noFill/>
          <a:ln/>
        </p:spPr>
        <p:txBody>
          <a:bodyPr wrap="square" lIns="0" tIns="0" rIns="0" bIns="0" rtlCol="0" anchor="t"/>
          <a:lstStyle/>
          <a:p>
            <a:pPr indent="0" marL="0">
              <a:buNone/>
            </a:pPr>
            <a:r>
              <a:rPr lang="en-US" sz="1500" i="1" dirty="0">
                <a:solidFill>
                  <a:schemeClr val="accent1"/>
                </a:solidFill>
              </a:rPr>
              <a:t>The same customer profile is used for every chat, order, ticket and campaign, so nothing is lost.</a:t>
            </a:r>
            <a:endParaRPr lang="en-US" sz="15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Reply to every customer in seconds, even at 2 AM</a:t>
            </a:r>
            <a:endParaRPr lang="en-US" sz="3200" dirty="0"/>
          </a:p>
        </p:txBody>
      </p:sp>
      <p:sp>
        <p:nvSpPr>
          <p:cNvPr id="3" name="chat feature 1 circle"/>
          <p:cNvSpPr/>
          <p:nvPr/>
        </p:nvSpPr>
        <p:spPr>
          <a:xfrm>
            <a:off x="548640" y="1463040"/>
            <a:ext cx="640080" cy="640080"/>
          </a:xfrm>
          <a:prstGeom prst="ellipse">
            <a:avLst/>
          </a:prstGeom>
          <a:solidFill>
            <a:schemeClr val="accent1"/>
          </a:solidFill>
          <a:ln/>
        </p:spPr>
      </p:sp>
      <p:pic>
        <p:nvPicPr>
          <p:cNvPr id="4" name="chat feature 1" descr="preencoded.png">    </p:cNvPr>
          <p:cNvPicPr>
            <a:picLocks noChangeAspect="1"/>
          </p:cNvPicPr>
          <p:nvPr/>
        </p:nvPicPr>
        <p:blipFill>
          <a:blip r:embed="rId1"/>
          <a:stretch>
            <a:fillRect/>
          </a:stretch>
        </p:blipFill>
        <p:spPr>
          <a:xfrm>
            <a:off x="702259" y="1616659"/>
            <a:ext cx="332842" cy="332842"/>
          </a:xfrm>
          <a:prstGeom prst="rect">
            <a:avLst/>
          </a:prstGeom>
        </p:spPr>
      </p:pic>
      <p:sp>
        <p:nvSpPr>
          <p:cNvPr id="5" name="Text 2"/>
          <p:cNvSpPr txBox="1"/>
          <p:nvPr/>
        </p:nvSpPr>
        <p:spPr>
          <a:xfrm>
            <a:off x="1417320" y="1463040"/>
            <a:ext cx="5120640" cy="365760"/>
          </a:xfrm>
          <a:prstGeom prst="rect">
            <a:avLst/>
          </a:prstGeom>
          <a:noFill/>
          <a:ln/>
        </p:spPr>
        <p:txBody>
          <a:bodyPr wrap="square" lIns="0" tIns="0" rIns="0" bIns="0" rtlCol="0" anchor="t"/>
          <a:lstStyle/>
          <a:p>
            <a:pPr indent="0" marL="0">
              <a:buNone/>
            </a:pPr>
            <a:r>
              <a:rPr lang="en-US" sz="1800" b="1" dirty="0">
                <a:solidFill>
                  <a:schemeClr val="tx1"/>
                </a:solidFill>
              </a:rPr>
              <a:t>AI chatbot trained on your business</a:t>
            </a:r>
            <a:endParaRPr lang="en-US" sz="1800" dirty="0"/>
          </a:p>
        </p:txBody>
      </p:sp>
      <p:sp>
        <p:nvSpPr>
          <p:cNvPr id="6" name="Text 3"/>
          <p:cNvSpPr txBox="1"/>
          <p:nvPr/>
        </p:nvSpPr>
        <p:spPr>
          <a:xfrm>
            <a:off x="1417320" y="1847088"/>
            <a:ext cx="5120640" cy="411480"/>
          </a:xfrm>
          <a:prstGeom prst="rect">
            <a:avLst/>
          </a:prstGeom>
          <a:noFill/>
          <a:ln/>
        </p:spPr>
        <p:txBody>
          <a:bodyPr wrap="square" lIns="0" tIns="0" rIns="0" bIns="0" rtlCol="0" anchor="t"/>
          <a:lstStyle/>
          <a:p>
            <a:pPr indent="0" marL="0">
              <a:buNone/>
            </a:pPr>
            <a:r>
              <a:rPr lang="en-US" sz="1500" dirty="0">
                <a:solidFill>
                  <a:schemeClr val="tx2"/>
                </a:solidFill>
              </a:rPr>
              <a:t>Learns from your FAQs, website and product list.</a:t>
            </a:r>
            <a:endParaRPr lang="en-US" sz="1500" dirty="0"/>
          </a:p>
        </p:txBody>
      </p:sp>
      <p:sp>
        <p:nvSpPr>
          <p:cNvPr id="7" name="chat feature 2 circle"/>
          <p:cNvSpPr/>
          <p:nvPr/>
        </p:nvSpPr>
        <p:spPr>
          <a:xfrm>
            <a:off x="548640" y="2606040"/>
            <a:ext cx="640080" cy="640080"/>
          </a:xfrm>
          <a:prstGeom prst="ellipse">
            <a:avLst/>
          </a:prstGeom>
          <a:solidFill>
            <a:schemeClr val="accent2"/>
          </a:solidFill>
          <a:ln/>
        </p:spPr>
      </p:sp>
      <p:pic>
        <p:nvPicPr>
          <p:cNvPr id="8" name="chat feature 2" descr="preencoded.png">    </p:cNvPr>
          <p:cNvPicPr>
            <a:picLocks noChangeAspect="1"/>
          </p:cNvPicPr>
          <p:nvPr/>
        </p:nvPicPr>
        <p:blipFill>
          <a:blip r:embed="rId2"/>
          <a:stretch>
            <a:fillRect/>
          </a:stretch>
        </p:blipFill>
        <p:spPr>
          <a:xfrm>
            <a:off x="702259" y="2759659"/>
            <a:ext cx="332842" cy="332842"/>
          </a:xfrm>
          <a:prstGeom prst="rect">
            <a:avLst/>
          </a:prstGeom>
        </p:spPr>
      </p:pic>
      <p:sp>
        <p:nvSpPr>
          <p:cNvPr id="9" name="Text 5"/>
          <p:cNvSpPr txBox="1"/>
          <p:nvPr/>
        </p:nvSpPr>
        <p:spPr>
          <a:xfrm>
            <a:off x="1417320" y="2606040"/>
            <a:ext cx="5120640" cy="365760"/>
          </a:xfrm>
          <a:prstGeom prst="rect">
            <a:avLst/>
          </a:prstGeom>
          <a:noFill/>
          <a:ln/>
        </p:spPr>
        <p:txBody>
          <a:bodyPr wrap="square" lIns="0" tIns="0" rIns="0" bIns="0" rtlCol="0" anchor="t"/>
          <a:lstStyle/>
          <a:p>
            <a:pPr indent="0" marL="0">
              <a:buNone/>
            </a:pPr>
            <a:r>
              <a:rPr lang="en-US" sz="1800" b="1" dirty="0">
                <a:solidFill>
                  <a:schemeClr val="tx1"/>
                </a:solidFill>
              </a:rPr>
              <a:t>Speaks your customer’s language</a:t>
            </a:r>
            <a:endParaRPr lang="en-US" sz="1800" dirty="0"/>
          </a:p>
        </p:txBody>
      </p:sp>
      <p:sp>
        <p:nvSpPr>
          <p:cNvPr id="10" name="Text 6"/>
          <p:cNvSpPr txBox="1"/>
          <p:nvPr/>
        </p:nvSpPr>
        <p:spPr>
          <a:xfrm>
            <a:off x="1417320" y="2990088"/>
            <a:ext cx="5120640" cy="411480"/>
          </a:xfrm>
          <a:prstGeom prst="rect">
            <a:avLst/>
          </a:prstGeom>
          <a:noFill/>
          <a:ln/>
        </p:spPr>
        <p:txBody>
          <a:bodyPr wrap="square" lIns="0" tIns="0" rIns="0" bIns="0" rtlCol="0" anchor="t"/>
          <a:lstStyle/>
          <a:p>
            <a:pPr indent="0" marL="0">
              <a:buNone/>
            </a:pPr>
            <a:r>
              <a:rPr lang="en-US" sz="1500" dirty="0">
                <a:solidFill>
                  <a:schemeClr val="tx2"/>
                </a:solidFill>
              </a:rPr>
              <a:t>English, తెలుగు, हिंदी, Tenglish and Hinglish.</a:t>
            </a:r>
            <a:endParaRPr lang="en-US" sz="1500" dirty="0"/>
          </a:p>
        </p:txBody>
      </p:sp>
      <p:sp>
        <p:nvSpPr>
          <p:cNvPr id="11" name="chat feature 3 circle"/>
          <p:cNvSpPr/>
          <p:nvPr/>
        </p:nvSpPr>
        <p:spPr>
          <a:xfrm>
            <a:off x="548640" y="3749040"/>
            <a:ext cx="640080" cy="640080"/>
          </a:xfrm>
          <a:prstGeom prst="ellipse">
            <a:avLst/>
          </a:prstGeom>
          <a:solidFill>
            <a:schemeClr val="accent3"/>
          </a:solidFill>
          <a:ln/>
        </p:spPr>
      </p:sp>
      <p:pic>
        <p:nvPicPr>
          <p:cNvPr id="12" name="chat feature 3" descr="preencoded.png">    </p:cNvPr>
          <p:cNvPicPr>
            <a:picLocks noChangeAspect="1"/>
          </p:cNvPicPr>
          <p:nvPr/>
        </p:nvPicPr>
        <p:blipFill>
          <a:blip r:embed="rId3"/>
          <a:stretch>
            <a:fillRect/>
          </a:stretch>
        </p:blipFill>
        <p:spPr>
          <a:xfrm>
            <a:off x="702259" y="3902659"/>
            <a:ext cx="332842" cy="332842"/>
          </a:xfrm>
          <a:prstGeom prst="rect">
            <a:avLst/>
          </a:prstGeom>
        </p:spPr>
      </p:pic>
      <p:sp>
        <p:nvSpPr>
          <p:cNvPr id="13" name="Text 8"/>
          <p:cNvSpPr txBox="1"/>
          <p:nvPr/>
        </p:nvSpPr>
        <p:spPr>
          <a:xfrm>
            <a:off x="1417320" y="3749040"/>
            <a:ext cx="5120640" cy="365760"/>
          </a:xfrm>
          <a:prstGeom prst="rect">
            <a:avLst/>
          </a:prstGeom>
          <a:noFill/>
          <a:ln/>
        </p:spPr>
        <p:txBody>
          <a:bodyPr wrap="square" lIns="0" tIns="0" rIns="0" bIns="0" rtlCol="0" anchor="t"/>
          <a:lstStyle/>
          <a:p>
            <a:pPr indent="0" marL="0">
              <a:buNone/>
            </a:pPr>
            <a:r>
              <a:rPr lang="en-US" sz="1800" b="1" dirty="0">
                <a:solidFill>
                  <a:schemeClr val="tx1"/>
                </a:solidFill>
              </a:rPr>
              <a:t>Shared team inbox</a:t>
            </a:r>
            <a:endParaRPr lang="en-US" sz="1800" dirty="0"/>
          </a:p>
        </p:txBody>
      </p:sp>
      <p:sp>
        <p:nvSpPr>
          <p:cNvPr id="14" name="Text 9"/>
          <p:cNvSpPr txBox="1"/>
          <p:nvPr/>
        </p:nvSpPr>
        <p:spPr>
          <a:xfrm>
            <a:off x="1417320" y="4133088"/>
            <a:ext cx="5120640" cy="411480"/>
          </a:xfrm>
          <a:prstGeom prst="rect">
            <a:avLst/>
          </a:prstGeom>
          <a:noFill/>
          <a:ln/>
        </p:spPr>
        <p:txBody>
          <a:bodyPr wrap="square" lIns="0" tIns="0" rIns="0" bIns="0" rtlCol="0" anchor="t"/>
          <a:lstStyle/>
          <a:p>
            <a:pPr indent="0" marL="0">
              <a:buNone/>
            </a:pPr>
            <a:r>
              <a:rPr lang="en-US" sz="1500" dirty="0">
                <a:solidFill>
                  <a:schemeClr val="tx2"/>
                </a:solidFill>
              </a:rPr>
              <a:t>All chats on one number, many agents, nothing missed.</a:t>
            </a:r>
            <a:endParaRPr lang="en-US" sz="1500" dirty="0"/>
          </a:p>
        </p:txBody>
      </p:sp>
      <p:sp>
        <p:nvSpPr>
          <p:cNvPr id="15" name="chat feature 4 circle"/>
          <p:cNvSpPr/>
          <p:nvPr/>
        </p:nvSpPr>
        <p:spPr>
          <a:xfrm>
            <a:off x="548640" y="4892040"/>
            <a:ext cx="640080" cy="640080"/>
          </a:xfrm>
          <a:prstGeom prst="ellipse">
            <a:avLst/>
          </a:prstGeom>
          <a:solidFill>
            <a:schemeClr val="accent4"/>
          </a:solidFill>
          <a:ln/>
        </p:spPr>
      </p:sp>
      <p:pic>
        <p:nvPicPr>
          <p:cNvPr id="16" name="chat feature 4" descr="preencoded.png">    </p:cNvPr>
          <p:cNvPicPr>
            <a:picLocks noChangeAspect="1"/>
          </p:cNvPicPr>
          <p:nvPr/>
        </p:nvPicPr>
        <p:blipFill>
          <a:blip r:embed="rId4"/>
          <a:stretch>
            <a:fillRect/>
          </a:stretch>
        </p:blipFill>
        <p:spPr>
          <a:xfrm>
            <a:off x="702259" y="5045659"/>
            <a:ext cx="332842" cy="332842"/>
          </a:xfrm>
          <a:prstGeom prst="rect">
            <a:avLst/>
          </a:prstGeom>
        </p:spPr>
      </p:pic>
      <p:sp>
        <p:nvSpPr>
          <p:cNvPr id="17" name="Text 11"/>
          <p:cNvSpPr txBox="1"/>
          <p:nvPr/>
        </p:nvSpPr>
        <p:spPr>
          <a:xfrm>
            <a:off x="1417320" y="4892040"/>
            <a:ext cx="5120640" cy="365760"/>
          </a:xfrm>
          <a:prstGeom prst="rect">
            <a:avLst/>
          </a:prstGeom>
          <a:noFill/>
          <a:ln/>
        </p:spPr>
        <p:txBody>
          <a:bodyPr wrap="square" lIns="0" tIns="0" rIns="0" bIns="0" rtlCol="0" anchor="t"/>
          <a:lstStyle/>
          <a:p>
            <a:pPr indent="0" marL="0">
              <a:buNone/>
            </a:pPr>
            <a:r>
              <a:rPr lang="en-US" sz="1800" b="1" dirty="0">
                <a:solidFill>
                  <a:schemeClr val="tx1"/>
                </a:solidFill>
              </a:rPr>
              <a:t>Smooth hand-over to your team</a:t>
            </a:r>
            <a:endParaRPr lang="en-US" sz="1800" dirty="0"/>
          </a:p>
        </p:txBody>
      </p:sp>
      <p:sp>
        <p:nvSpPr>
          <p:cNvPr id="18" name="Text 12"/>
          <p:cNvSpPr txBox="1"/>
          <p:nvPr/>
        </p:nvSpPr>
        <p:spPr>
          <a:xfrm>
            <a:off x="1417320" y="5276088"/>
            <a:ext cx="5120640" cy="411480"/>
          </a:xfrm>
          <a:prstGeom prst="rect">
            <a:avLst/>
          </a:prstGeom>
          <a:noFill/>
          <a:ln/>
        </p:spPr>
        <p:txBody>
          <a:bodyPr wrap="square" lIns="0" tIns="0" rIns="0" bIns="0" rtlCol="0" anchor="t"/>
          <a:lstStyle/>
          <a:p>
            <a:pPr indent="0" marL="0">
              <a:buNone/>
            </a:pPr>
            <a:r>
              <a:rPr lang="en-US" sz="1500" dirty="0">
                <a:solidFill>
                  <a:schemeClr val="tx2"/>
                </a:solidFill>
              </a:rPr>
              <a:t>AI passes hot leads and tough questions to a person.</a:t>
            </a:r>
            <a:endParaRPr lang="en-US" sz="1500" dirty="0"/>
          </a:p>
        </p:txBody>
      </p:sp>
      <p:sp>
        <p:nvSpPr>
          <p:cNvPr id="19" name="chat sample"/>
          <p:cNvSpPr/>
          <p:nvPr/>
        </p:nvSpPr>
        <p:spPr>
          <a:xfrm>
            <a:off x="7223760" y="1325880"/>
            <a:ext cx="4389120" cy="4800600"/>
          </a:xfrm>
          <a:prstGeom prst="roundRect">
            <a:avLst>
              <a:gd name="adj" fmla="val 4167"/>
            </a:avLst>
          </a:prstGeom>
          <a:solidFill>
            <a:srgbClr val="EFEAE2"/>
          </a:solidFill>
          <a:ln w="12700">
            <a:solidFill>
              <a:srgbClr val="D9D2C6"/>
            </a:solidFill>
            <a:prstDash val="solid"/>
          </a:ln>
        </p:spPr>
      </p:sp>
      <p:sp>
        <p:nvSpPr>
          <p:cNvPr id="20" name="chat header"/>
          <p:cNvSpPr/>
          <p:nvPr/>
        </p:nvSpPr>
        <p:spPr>
          <a:xfrm>
            <a:off x="7223760" y="1325880"/>
            <a:ext cx="4389120" cy="640080"/>
          </a:xfrm>
          <a:prstGeom prst="roundRect">
            <a:avLst>
              <a:gd name="adj" fmla="val 28571"/>
            </a:avLst>
          </a:prstGeom>
          <a:solidFill>
            <a:srgbClr val="008069"/>
          </a:solidFill>
          <a:ln/>
        </p:spPr>
      </p:sp>
      <p:sp>
        <p:nvSpPr>
          <p:cNvPr id="21" name="Text 15"/>
          <p:cNvSpPr txBox="1"/>
          <p:nvPr/>
        </p:nvSpPr>
        <p:spPr>
          <a:xfrm>
            <a:off x="7498080" y="1325880"/>
            <a:ext cx="3840480" cy="640080"/>
          </a:xfrm>
          <a:prstGeom prst="rect">
            <a:avLst/>
          </a:prstGeom>
          <a:noFill/>
          <a:ln/>
        </p:spPr>
        <p:txBody>
          <a:bodyPr wrap="square" lIns="0" tIns="0" rIns="0" bIns="0" rtlCol="0" anchor="ctr"/>
          <a:lstStyle/>
          <a:p>
            <a:pPr indent="0" marL="0">
              <a:buNone/>
            </a:pPr>
            <a:r>
              <a:rPr lang="en-US" sz="1500" b="1" dirty="0">
                <a:solidFill>
                  <a:schemeClr val="bg1"/>
                </a:solidFill>
              </a:rPr>
              <a:t>BooksStore · AI assistant</a:t>
            </a:r>
            <a:endParaRPr lang="en-US" sz="1500" dirty="0"/>
          </a:p>
        </p:txBody>
      </p:sp>
      <p:sp>
        <p:nvSpPr>
          <p:cNvPr id="22" name="customer message"/>
          <p:cNvSpPr/>
          <p:nvPr/>
        </p:nvSpPr>
        <p:spPr>
          <a:xfrm>
            <a:off x="8778240" y="2194560"/>
            <a:ext cx="2606040" cy="685800"/>
          </a:xfrm>
          <a:prstGeom prst="roundRect">
            <a:avLst>
              <a:gd name="adj" fmla="val 10667"/>
            </a:avLst>
          </a:prstGeom>
          <a:solidFill>
            <a:srgbClr val="D9FDD3"/>
          </a:solidFill>
          <a:ln/>
          <a:effectLst>
            <a:outerShdw sx="100000" sy="100000" kx="0" ky="0" algn="bl" rotWithShape="0" blurRad="127000" dist="38100" dir="5400000">
              <a:srgbClr val="0E1B3D">
                <a:alpha val="12000"/>
              </a:srgbClr>
            </a:outerShdw>
          </a:effectLst>
        </p:spPr>
      </p:sp>
      <p:sp>
        <p:nvSpPr>
          <p:cNvPr id="23" name="Text 17"/>
          <p:cNvSpPr txBox="1"/>
          <p:nvPr/>
        </p:nvSpPr>
        <p:spPr>
          <a:xfrm>
            <a:off x="8915400" y="2267712"/>
            <a:ext cx="2377440" cy="576072"/>
          </a:xfrm>
          <a:prstGeom prst="rect">
            <a:avLst/>
          </a:prstGeom>
          <a:noFill/>
          <a:ln/>
        </p:spPr>
        <p:txBody>
          <a:bodyPr wrap="square" lIns="0" tIns="0" rIns="0" bIns="0" rtlCol="0" anchor="ctr"/>
          <a:lstStyle/>
          <a:p>
            <a:pPr indent="0" marL="0">
              <a:buNone/>
            </a:pPr>
            <a:r>
              <a:rPr lang="en-US" sz="1300" dirty="0">
                <a:solidFill>
                  <a:schemeClr val="tx1"/>
                </a:solidFill>
              </a:rPr>
              <a:t>Me degara Radhakrishnan books unnaya?</a:t>
            </a:r>
            <a:endParaRPr lang="en-US" sz="1300" dirty="0"/>
          </a:p>
        </p:txBody>
      </p:sp>
      <p:sp>
        <p:nvSpPr>
          <p:cNvPr id="24" name="AI reply"/>
          <p:cNvSpPr/>
          <p:nvPr/>
        </p:nvSpPr>
        <p:spPr>
          <a:xfrm>
            <a:off x="7452360" y="3017520"/>
            <a:ext cx="2606040" cy="868680"/>
          </a:xfrm>
          <a:prstGeom prst="roundRect">
            <a:avLst>
              <a:gd name="adj" fmla="val 8421"/>
            </a:avLst>
          </a:prstGeom>
          <a:solidFill>
            <a:srgbClr val="FFFFFF"/>
          </a:solidFill>
          <a:ln/>
          <a:effectLst>
            <a:outerShdw sx="100000" sy="100000" kx="0" ky="0" algn="bl" rotWithShape="0" blurRad="127000" dist="38100" dir="5400000">
              <a:srgbClr val="0E1B3D">
                <a:alpha val="12000"/>
              </a:srgbClr>
            </a:outerShdw>
          </a:effectLst>
        </p:spPr>
      </p:sp>
      <p:sp>
        <p:nvSpPr>
          <p:cNvPr id="25" name="Text 19"/>
          <p:cNvSpPr txBox="1"/>
          <p:nvPr/>
        </p:nvSpPr>
        <p:spPr>
          <a:xfrm>
            <a:off x="7589520" y="3090672"/>
            <a:ext cx="2377440" cy="758952"/>
          </a:xfrm>
          <a:prstGeom prst="rect">
            <a:avLst/>
          </a:prstGeom>
          <a:noFill/>
          <a:ln/>
        </p:spPr>
        <p:txBody>
          <a:bodyPr wrap="square" lIns="0" tIns="0" rIns="0" bIns="0" rtlCol="0" anchor="ctr"/>
          <a:lstStyle/>
          <a:p>
            <a:pPr indent="0" marL="0">
              <a:buNone/>
            </a:pPr>
            <a:r>
              <a:rPr lang="en-US" sz="1300" dirty="0">
                <a:solidFill>
                  <a:schemeClr val="tx1"/>
                </a:solidFill>
              </a:rPr>
              <a:t>Unnayi andi! “The Hindu View of Life” ₹299. Order cheyyala?</a:t>
            </a:r>
            <a:endParaRPr lang="en-US" sz="1300" dirty="0"/>
          </a:p>
        </p:txBody>
      </p:sp>
      <p:sp>
        <p:nvSpPr>
          <p:cNvPr id="26" name="customer message"/>
          <p:cNvSpPr/>
          <p:nvPr/>
        </p:nvSpPr>
        <p:spPr>
          <a:xfrm>
            <a:off x="8778240" y="4069080"/>
            <a:ext cx="2606040" cy="548640"/>
          </a:xfrm>
          <a:prstGeom prst="roundRect">
            <a:avLst>
              <a:gd name="adj" fmla="val 13333"/>
            </a:avLst>
          </a:prstGeom>
          <a:solidFill>
            <a:srgbClr val="D9FDD3"/>
          </a:solidFill>
          <a:ln/>
          <a:effectLst>
            <a:outerShdw sx="100000" sy="100000" kx="0" ky="0" algn="bl" rotWithShape="0" blurRad="127000" dist="38100" dir="5400000">
              <a:srgbClr val="0E1B3D">
                <a:alpha val="12000"/>
              </a:srgbClr>
            </a:outerShdw>
          </a:effectLst>
        </p:spPr>
      </p:sp>
      <p:sp>
        <p:nvSpPr>
          <p:cNvPr id="27" name="Text 21"/>
          <p:cNvSpPr txBox="1"/>
          <p:nvPr/>
        </p:nvSpPr>
        <p:spPr>
          <a:xfrm>
            <a:off x="8915400" y="4142232"/>
            <a:ext cx="2377440" cy="438912"/>
          </a:xfrm>
          <a:prstGeom prst="rect">
            <a:avLst/>
          </a:prstGeom>
          <a:noFill/>
          <a:ln/>
        </p:spPr>
        <p:txBody>
          <a:bodyPr wrap="square" lIns="0" tIns="0" rIns="0" bIns="0" rtlCol="0" anchor="ctr"/>
          <a:lstStyle/>
          <a:p>
            <a:pPr indent="0" marL="0">
              <a:buNone/>
            </a:pPr>
            <a:r>
              <a:rPr lang="en-US" sz="1300" dirty="0">
                <a:solidFill>
                  <a:schemeClr val="tx1"/>
                </a:solidFill>
              </a:rPr>
              <a:t>Haan, 2 copies chahiye</a:t>
            </a:r>
            <a:endParaRPr lang="en-US" sz="1300" dirty="0"/>
          </a:p>
        </p:txBody>
      </p:sp>
      <p:sp>
        <p:nvSpPr>
          <p:cNvPr id="28" name="AI reply"/>
          <p:cNvSpPr/>
          <p:nvPr/>
        </p:nvSpPr>
        <p:spPr>
          <a:xfrm>
            <a:off x="7452360" y="4800600"/>
            <a:ext cx="2606040" cy="868680"/>
          </a:xfrm>
          <a:prstGeom prst="roundRect">
            <a:avLst>
              <a:gd name="adj" fmla="val 8421"/>
            </a:avLst>
          </a:prstGeom>
          <a:solidFill>
            <a:srgbClr val="FFFFFF"/>
          </a:solidFill>
          <a:ln/>
          <a:effectLst>
            <a:outerShdw sx="100000" sy="100000" kx="0" ky="0" algn="bl" rotWithShape="0" blurRad="127000" dist="38100" dir="5400000">
              <a:srgbClr val="0E1B3D">
                <a:alpha val="12000"/>
              </a:srgbClr>
            </a:outerShdw>
          </a:effectLst>
        </p:spPr>
      </p:sp>
      <p:sp>
        <p:nvSpPr>
          <p:cNvPr id="29" name="Text 23"/>
          <p:cNvSpPr txBox="1"/>
          <p:nvPr/>
        </p:nvSpPr>
        <p:spPr>
          <a:xfrm>
            <a:off x="7589520" y="4873752"/>
            <a:ext cx="2377440" cy="758952"/>
          </a:xfrm>
          <a:prstGeom prst="rect">
            <a:avLst/>
          </a:prstGeom>
          <a:noFill/>
          <a:ln/>
        </p:spPr>
        <p:txBody>
          <a:bodyPr wrap="square" lIns="0" tIns="0" rIns="0" bIns="0" rtlCol="0" anchor="ctr"/>
          <a:lstStyle/>
          <a:p>
            <a:pPr indent="0" marL="0">
              <a:buNone/>
            </a:pPr>
            <a:r>
              <a:rPr lang="en-US" sz="1300" dirty="0">
                <a:solidFill>
                  <a:schemeClr val="tx1"/>
                </a:solidFill>
              </a:rPr>
              <a:t>Done! 2 copies added. Pay by UPI or Cash on Delivery?</a:t>
            </a:r>
            <a:endParaRPr lang="en-US" sz="13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Sell inside WhatsApp, from product to payment</a:t>
            </a:r>
            <a:endParaRPr lang="en-US" sz="3200" dirty="0"/>
          </a:p>
        </p:txBody>
      </p:sp>
      <p:sp>
        <p:nvSpPr>
          <p:cNvPr id="3" name="commerce step 1"/>
          <p:cNvSpPr/>
          <p:nvPr/>
        </p:nvSpPr>
        <p:spPr>
          <a:xfrm>
            <a:off x="548640" y="1508760"/>
            <a:ext cx="2011680" cy="2514600"/>
          </a:xfrm>
          <a:prstGeom prst="roundRect">
            <a:avLst>
              <a:gd name="adj" fmla="val 5455"/>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4" name="commerce step 1 icon circle"/>
          <p:cNvSpPr/>
          <p:nvPr/>
        </p:nvSpPr>
        <p:spPr>
          <a:xfrm>
            <a:off x="1234440" y="1737360"/>
            <a:ext cx="640080" cy="640080"/>
          </a:xfrm>
          <a:prstGeom prst="ellipse">
            <a:avLst/>
          </a:prstGeom>
          <a:solidFill>
            <a:schemeClr val="accent1"/>
          </a:solidFill>
          <a:ln/>
        </p:spPr>
      </p:sp>
      <p:pic>
        <p:nvPicPr>
          <p:cNvPr id="5" name="commerce step 1 icon" descr="preencoded.png">    </p:cNvPr>
          <p:cNvPicPr>
            <a:picLocks noChangeAspect="1"/>
          </p:cNvPicPr>
          <p:nvPr/>
        </p:nvPicPr>
        <p:blipFill>
          <a:blip r:embed="rId1"/>
          <a:stretch>
            <a:fillRect/>
          </a:stretch>
        </p:blipFill>
        <p:spPr>
          <a:xfrm>
            <a:off x="1388059" y="1890979"/>
            <a:ext cx="332842" cy="332842"/>
          </a:xfrm>
          <a:prstGeom prst="rect">
            <a:avLst/>
          </a:prstGeom>
        </p:spPr>
      </p:pic>
      <p:sp>
        <p:nvSpPr>
          <p:cNvPr id="6" name="Text 3"/>
          <p:cNvSpPr txBox="1"/>
          <p:nvPr/>
        </p:nvSpPr>
        <p:spPr>
          <a:xfrm>
            <a:off x="685800" y="2542032"/>
            <a:ext cx="1737360" cy="365760"/>
          </a:xfrm>
          <a:prstGeom prst="rect">
            <a:avLst/>
          </a:prstGeom>
          <a:noFill/>
          <a:ln/>
        </p:spPr>
        <p:txBody>
          <a:bodyPr wrap="square" lIns="0" tIns="0" rIns="0" bIns="0" rtlCol="0" anchor="t"/>
          <a:lstStyle/>
          <a:p>
            <a:pPr algn="ctr" indent="0" marL="0">
              <a:buNone/>
            </a:pPr>
            <a:r>
              <a:rPr lang="en-US" sz="1700" b="1" dirty="0">
                <a:solidFill>
                  <a:schemeClr val="tx1"/>
                </a:solidFill>
              </a:rPr>
              <a:t>Catalog</a:t>
            </a:r>
            <a:endParaRPr lang="en-US" sz="1700" dirty="0"/>
          </a:p>
        </p:txBody>
      </p:sp>
      <p:sp>
        <p:nvSpPr>
          <p:cNvPr id="7" name="Text 4"/>
          <p:cNvSpPr txBox="1"/>
          <p:nvPr/>
        </p:nvSpPr>
        <p:spPr>
          <a:xfrm>
            <a:off x="685800" y="2926080"/>
            <a:ext cx="1737360" cy="914400"/>
          </a:xfrm>
          <a:prstGeom prst="rect">
            <a:avLst/>
          </a:prstGeom>
          <a:noFill/>
          <a:ln/>
        </p:spPr>
        <p:txBody>
          <a:bodyPr wrap="square" lIns="0" tIns="0" rIns="0" bIns="0" rtlCol="0" anchor="t"/>
          <a:lstStyle/>
          <a:p>
            <a:pPr algn="ctr" indent="0" marL="0">
              <a:buNone/>
            </a:pPr>
            <a:r>
              <a:rPr lang="en-US" sz="1300" dirty="0">
                <a:solidFill>
                  <a:schemeClr val="tx2"/>
                </a:solidFill>
              </a:rPr>
              <a:t>Products and prices from your Meta catalog</a:t>
            </a:r>
            <a:endParaRPr lang="en-US" sz="1300" dirty="0"/>
          </a:p>
        </p:txBody>
      </p:sp>
      <p:sp>
        <p:nvSpPr>
          <p:cNvPr id="8" name="commerce step 2"/>
          <p:cNvSpPr/>
          <p:nvPr/>
        </p:nvSpPr>
        <p:spPr>
          <a:xfrm>
            <a:off x="2834640" y="1508760"/>
            <a:ext cx="2011680" cy="2514600"/>
          </a:xfrm>
          <a:prstGeom prst="roundRect">
            <a:avLst>
              <a:gd name="adj" fmla="val 5455"/>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9" name="commerce step 2 icon circle"/>
          <p:cNvSpPr/>
          <p:nvPr/>
        </p:nvSpPr>
        <p:spPr>
          <a:xfrm>
            <a:off x="3520440" y="1737360"/>
            <a:ext cx="640080" cy="640080"/>
          </a:xfrm>
          <a:prstGeom prst="ellipse">
            <a:avLst/>
          </a:prstGeom>
          <a:solidFill>
            <a:schemeClr val="accent2"/>
          </a:solidFill>
          <a:ln/>
        </p:spPr>
      </p:sp>
      <p:pic>
        <p:nvPicPr>
          <p:cNvPr id="10" name="commerce step 2 icon" descr="preencoded.png">    </p:cNvPr>
          <p:cNvPicPr>
            <a:picLocks noChangeAspect="1"/>
          </p:cNvPicPr>
          <p:nvPr/>
        </p:nvPicPr>
        <p:blipFill>
          <a:blip r:embed="rId2"/>
          <a:stretch>
            <a:fillRect/>
          </a:stretch>
        </p:blipFill>
        <p:spPr>
          <a:xfrm>
            <a:off x="3674059" y="1890979"/>
            <a:ext cx="332842" cy="332842"/>
          </a:xfrm>
          <a:prstGeom prst="rect">
            <a:avLst/>
          </a:prstGeom>
        </p:spPr>
      </p:pic>
      <p:sp>
        <p:nvSpPr>
          <p:cNvPr id="11" name="Text 7"/>
          <p:cNvSpPr txBox="1"/>
          <p:nvPr/>
        </p:nvSpPr>
        <p:spPr>
          <a:xfrm>
            <a:off x="2971800" y="2542032"/>
            <a:ext cx="1737360" cy="365760"/>
          </a:xfrm>
          <a:prstGeom prst="rect">
            <a:avLst/>
          </a:prstGeom>
          <a:noFill/>
          <a:ln/>
        </p:spPr>
        <p:txBody>
          <a:bodyPr wrap="square" lIns="0" tIns="0" rIns="0" bIns="0" rtlCol="0" anchor="t"/>
          <a:lstStyle/>
          <a:p>
            <a:pPr algn="ctr" indent="0" marL="0">
              <a:buNone/>
            </a:pPr>
            <a:r>
              <a:rPr lang="en-US" sz="1700" b="1" dirty="0">
                <a:solidFill>
                  <a:schemeClr val="tx1"/>
                </a:solidFill>
              </a:rPr>
              <a:t>Cart order</a:t>
            </a:r>
            <a:endParaRPr lang="en-US" sz="1700" dirty="0"/>
          </a:p>
        </p:txBody>
      </p:sp>
      <p:sp>
        <p:nvSpPr>
          <p:cNvPr id="12" name="Text 8"/>
          <p:cNvSpPr txBox="1"/>
          <p:nvPr/>
        </p:nvSpPr>
        <p:spPr>
          <a:xfrm>
            <a:off x="2971800" y="2926080"/>
            <a:ext cx="1737360" cy="914400"/>
          </a:xfrm>
          <a:prstGeom prst="rect">
            <a:avLst/>
          </a:prstGeom>
          <a:noFill/>
          <a:ln/>
        </p:spPr>
        <p:txBody>
          <a:bodyPr wrap="square" lIns="0" tIns="0" rIns="0" bIns="0" rtlCol="0" anchor="t"/>
          <a:lstStyle/>
          <a:p>
            <a:pPr algn="ctr" indent="0" marL="0">
              <a:buNone/>
            </a:pPr>
            <a:r>
              <a:rPr lang="en-US" sz="1300" dirty="0">
                <a:solidFill>
                  <a:schemeClr val="tx2"/>
                </a:solidFill>
              </a:rPr>
              <a:t>Customer picks items and sends the order</a:t>
            </a:r>
            <a:endParaRPr lang="en-US" sz="1300" dirty="0"/>
          </a:p>
        </p:txBody>
      </p:sp>
      <p:sp>
        <p:nvSpPr>
          <p:cNvPr id="13" name="commerce step 3"/>
          <p:cNvSpPr/>
          <p:nvPr/>
        </p:nvSpPr>
        <p:spPr>
          <a:xfrm>
            <a:off x="5120640" y="1508760"/>
            <a:ext cx="2011680" cy="2514600"/>
          </a:xfrm>
          <a:prstGeom prst="roundRect">
            <a:avLst>
              <a:gd name="adj" fmla="val 5455"/>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14" name="commerce step 3 icon circle"/>
          <p:cNvSpPr/>
          <p:nvPr/>
        </p:nvSpPr>
        <p:spPr>
          <a:xfrm>
            <a:off x="5806440" y="1737360"/>
            <a:ext cx="640080" cy="640080"/>
          </a:xfrm>
          <a:prstGeom prst="ellipse">
            <a:avLst/>
          </a:prstGeom>
          <a:solidFill>
            <a:schemeClr val="accent3"/>
          </a:solidFill>
          <a:ln/>
        </p:spPr>
      </p:sp>
      <p:pic>
        <p:nvPicPr>
          <p:cNvPr id="15" name="commerce step 3 icon" descr="preencoded.png">    </p:cNvPr>
          <p:cNvPicPr>
            <a:picLocks noChangeAspect="1"/>
          </p:cNvPicPr>
          <p:nvPr/>
        </p:nvPicPr>
        <p:blipFill>
          <a:blip r:embed="rId3"/>
          <a:stretch>
            <a:fillRect/>
          </a:stretch>
        </p:blipFill>
        <p:spPr>
          <a:xfrm>
            <a:off x="5960059" y="1890979"/>
            <a:ext cx="332842" cy="332842"/>
          </a:xfrm>
          <a:prstGeom prst="rect">
            <a:avLst/>
          </a:prstGeom>
        </p:spPr>
      </p:pic>
      <p:sp>
        <p:nvSpPr>
          <p:cNvPr id="16" name="Text 11"/>
          <p:cNvSpPr txBox="1"/>
          <p:nvPr/>
        </p:nvSpPr>
        <p:spPr>
          <a:xfrm>
            <a:off x="5257800" y="2542032"/>
            <a:ext cx="1737360" cy="365760"/>
          </a:xfrm>
          <a:prstGeom prst="rect">
            <a:avLst/>
          </a:prstGeom>
          <a:noFill/>
          <a:ln/>
        </p:spPr>
        <p:txBody>
          <a:bodyPr wrap="square" lIns="0" tIns="0" rIns="0" bIns="0" rtlCol="0" anchor="t"/>
          <a:lstStyle/>
          <a:p>
            <a:pPr algn="ctr" indent="0" marL="0">
              <a:buNone/>
            </a:pPr>
            <a:r>
              <a:rPr lang="en-US" sz="1700" b="1" dirty="0">
                <a:solidFill>
                  <a:schemeClr val="tx1"/>
                </a:solidFill>
              </a:rPr>
              <a:t>Address form</a:t>
            </a:r>
            <a:endParaRPr lang="en-US" sz="1700" dirty="0"/>
          </a:p>
        </p:txBody>
      </p:sp>
      <p:sp>
        <p:nvSpPr>
          <p:cNvPr id="17" name="Text 12"/>
          <p:cNvSpPr txBox="1"/>
          <p:nvPr/>
        </p:nvSpPr>
        <p:spPr>
          <a:xfrm>
            <a:off x="5257800" y="2926080"/>
            <a:ext cx="1737360" cy="914400"/>
          </a:xfrm>
          <a:prstGeom prst="rect">
            <a:avLst/>
          </a:prstGeom>
          <a:noFill/>
          <a:ln/>
        </p:spPr>
        <p:txBody>
          <a:bodyPr wrap="square" lIns="0" tIns="0" rIns="0" bIns="0" rtlCol="0" anchor="t"/>
          <a:lstStyle/>
          <a:p>
            <a:pPr algn="ctr" indent="0" marL="0">
              <a:buNone/>
            </a:pPr>
            <a:r>
              <a:rPr lang="en-US" sz="1300" dirty="0">
                <a:solidFill>
                  <a:schemeClr val="tx2"/>
                </a:solidFill>
              </a:rPr>
              <a:t>Delivery details in a simple WhatsApp form</a:t>
            </a:r>
            <a:endParaRPr lang="en-US" sz="1300" dirty="0"/>
          </a:p>
        </p:txBody>
      </p:sp>
      <p:sp>
        <p:nvSpPr>
          <p:cNvPr id="18" name="commerce step 4"/>
          <p:cNvSpPr/>
          <p:nvPr/>
        </p:nvSpPr>
        <p:spPr>
          <a:xfrm>
            <a:off x="7406640" y="1508760"/>
            <a:ext cx="2011680" cy="2514600"/>
          </a:xfrm>
          <a:prstGeom prst="roundRect">
            <a:avLst>
              <a:gd name="adj" fmla="val 5455"/>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19" name="commerce step 4 icon circle"/>
          <p:cNvSpPr/>
          <p:nvPr/>
        </p:nvSpPr>
        <p:spPr>
          <a:xfrm>
            <a:off x="8092440" y="1737360"/>
            <a:ext cx="640080" cy="640080"/>
          </a:xfrm>
          <a:prstGeom prst="ellipse">
            <a:avLst/>
          </a:prstGeom>
          <a:solidFill>
            <a:schemeClr val="accent4"/>
          </a:solidFill>
          <a:ln/>
        </p:spPr>
      </p:sp>
      <p:pic>
        <p:nvPicPr>
          <p:cNvPr id="20" name="commerce step 4 icon" descr="preencoded.png">    </p:cNvPr>
          <p:cNvPicPr>
            <a:picLocks noChangeAspect="1"/>
          </p:cNvPicPr>
          <p:nvPr/>
        </p:nvPicPr>
        <p:blipFill>
          <a:blip r:embed="rId4"/>
          <a:stretch>
            <a:fillRect/>
          </a:stretch>
        </p:blipFill>
        <p:spPr>
          <a:xfrm>
            <a:off x="8246059" y="1890979"/>
            <a:ext cx="332842" cy="332842"/>
          </a:xfrm>
          <a:prstGeom prst="rect">
            <a:avLst/>
          </a:prstGeom>
        </p:spPr>
      </p:pic>
      <p:sp>
        <p:nvSpPr>
          <p:cNvPr id="21" name="Text 15"/>
          <p:cNvSpPr txBox="1"/>
          <p:nvPr/>
        </p:nvSpPr>
        <p:spPr>
          <a:xfrm>
            <a:off x="7543800" y="2542032"/>
            <a:ext cx="1737360" cy="365760"/>
          </a:xfrm>
          <a:prstGeom prst="rect">
            <a:avLst/>
          </a:prstGeom>
          <a:noFill/>
          <a:ln/>
        </p:spPr>
        <p:txBody>
          <a:bodyPr wrap="square" lIns="0" tIns="0" rIns="0" bIns="0" rtlCol="0" anchor="t"/>
          <a:lstStyle/>
          <a:p>
            <a:pPr algn="ctr" indent="0" marL="0">
              <a:buNone/>
            </a:pPr>
            <a:r>
              <a:rPr lang="en-US" sz="1700" b="1" dirty="0">
                <a:solidFill>
                  <a:schemeClr val="tx1"/>
                </a:solidFill>
              </a:rPr>
              <a:t>Payment</a:t>
            </a:r>
            <a:endParaRPr lang="en-US" sz="1700" dirty="0"/>
          </a:p>
        </p:txBody>
      </p:sp>
      <p:sp>
        <p:nvSpPr>
          <p:cNvPr id="22" name="Text 16"/>
          <p:cNvSpPr txBox="1"/>
          <p:nvPr/>
        </p:nvSpPr>
        <p:spPr>
          <a:xfrm>
            <a:off x="7543800" y="2926080"/>
            <a:ext cx="1737360" cy="914400"/>
          </a:xfrm>
          <a:prstGeom prst="rect">
            <a:avLst/>
          </a:prstGeom>
          <a:noFill/>
          <a:ln/>
        </p:spPr>
        <p:txBody>
          <a:bodyPr wrap="square" lIns="0" tIns="0" rIns="0" bIns="0" rtlCol="0" anchor="t"/>
          <a:lstStyle/>
          <a:p>
            <a:pPr algn="ctr" indent="0" marL="0">
              <a:buNone/>
            </a:pPr>
            <a:r>
              <a:rPr lang="en-US" sz="1300" dirty="0">
                <a:solidFill>
                  <a:schemeClr val="tx2"/>
                </a:solidFill>
              </a:rPr>
              <a:t>WhatsApp Pay with Razorpay, PayU and more, or COD</a:t>
            </a:r>
            <a:endParaRPr lang="en-US" sz="1300" dirty="0"/>
          </a:p>
        </p:txBody>
      </p:sp>
      <p:sp>
        <p:nvSpPr>
          <p:cNvPr id="23" name="commerce step 5"/>
          <p:cNvSpPr/>
          <p:nvPr/>
        </p:nvSpPr>
        <p:spPr>
          <a:xfrm>
            <a:off x="9692640" y="1508760"/>
            <a:ext cx="2011680" cy="2514600"/>
          </a:xfrm>
          <a:prstGeom prst="roundRect">
            <a:avLst>
              <a:gd name="adj" fmla="val 5455"/>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24" name="commerce step 5 icon circle"/>
          <p:cNvSpPr/>
          <p:nvPr/>
        </p:nvSpPr>
        <p:spPr>
          <a:xfrm>
            <a:off x="10378440" y="1737360"/>
            <a:ext cx="640080" cy="640080"/>
          </a:xfrm>
          <a:prstGeom prst="ellipse">
            <a:avLst/>
          </a:prstGeom>
          <a:solidFill>
            <a:schemeClr val="accent1"/>
          </a:solidFill>
          <a:ln/>
        </p:spPr>
      </p:sp>
      <p:pic>
        <p:nvPicPr>
          <p:cNvPr id="25" name="commerce step 5 icon" descr="preencoded.png">    </p:cNvPr>
          <p:cNvPicPr>
            <a:picLocks noChangeAspect="1"/>
          </p:cNvPicPr>
          <p:nvPr/>
        </p:nvPicPr>
        <p:blipFill>
          <a:blip r:embed="rId5"/>
          <a:stretch>
            <a:fillRect/>
          </a:stretch>
        </p:blipFill>
        <p:spPr>
          <a:xfrm>
            <a:off x="10532059" y="1890979"/>
            <a:ext cx="332842" cy="332842"/>
          </a:xfrm>
          <a:prstGeom prst="rect">
            <a:avLst/>
          </a:prstGeom>
        </p:spPr>
      </p:pic>
      <p:sp>
        <p:nvSpPr>
          <p:cNvPr id="26" name="Text 19"/>
          <p:cNvSpPr txBox="1"/>
          <p:nvPr/>
        </p:nvSpPr>
        <p:spPr>
          <a:xfrm>
            <a:off x="9829800" y="2542032"/>
            <a:ext cx="1737360" cy="365760"/>
          </a:xfrm>
          <a:prstGeom prst="rect">
            <a:avLst/>
          </a:prstGeom>
          <a:noFill/>
          <a:ln/>
        </p:spPr>
        <p:txBody>
          <a:bodyPr wrap="square" lIns="0" tIns="0" rIns="0" bIns="0" rtlCol="0" anchor="t"/>
          <a:lstStyle/>
          <a:p>
            <a:pPr algn="ctr" indent="0" marL="0">
              <a:buNone/>
            </a:pPr>
            <a:r>
              <a:rPr lang="en-US" sz="1700" b="1" dirty="0">
                <a:solidFill>
                  <a:schemeClr val="tx1"/>
                </a:solidFill>
              </a:rPr>
              <a:t>Updates</a:t>
            </a:r>
            <a:endParaRPr lang="en-US" sz="1700" dirty="0"/>
          </a:p>
        </p:txBody>
      </p:sp>
      <p:sp>
        <p:nvSpPr>
          <p:cNvPr id="27" name="Text 20"/>
          <p:cNvSpPr txBox="1"/>
          <p:nvPr/>
        </p:nvSpPr>
        <p:spPr>
          <a:xfrm>
            <a:off x="9829800" y="2926080"/>
            <a:ext cx="1737360" cy="914400"/>
          </a:xfrm>
          <a:prstGeom prst="rect">
            <a:avLst/>
          </a:prstGeom>
          <a:noFill/>
          <a:ln/>
        </p:spPr>
        <p:txBody>
          <a:bodyPr wrap="square" lIns="0" tIns="0" rIns="0" bIns="0" rtlCol="0" anchor="t"/>
          <a:lstStyle/>
          <a:p>
            <a:pPr algn="ctr" indent="0" marL="0">
              <a:buNone/>
            </a:pPr>
            <a:r>
              <a:rPr lang="en-US" sz="1300" dirty="0">
                <a:solidFill>
                  <a:schemeClr val="tx2"/>
                </a:solidFill>
              </a:rPr>
              <a:t>Receipt, thank-you and shipping updates</a:t>
            </a:r>
            <a:endParaRPr lang="en-US" sz="1300" dirty="0"/>
          </a:p>
        </p:txBody>
      </p:sp>
      <p:sp>
        <p:nvSpPr>
          <p:cNvPr id="28" name="commerce extras"/>
          <p:cNvSpPr/>
          <p:nvPr/>
        </p:nvSpPr>
        <p:spPr>
          <a:xfrm>
            <a:off x="548640" y="4343400"/>
            <a:ext cx="11064240" cy="1691640"/>
          </a:xfrm>
          <a:prstGeom prst="roundRect">
            <a:avLst>
              <a:gd name="adj" fmla="val 6486"/>
            </a:avLst>
          </a:prstGeom>
          <a:solidFill>
            <a:schemeClr val="bg2"/>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29" name="commerce extra 1 circle"/>
          <p:cNvSpPr/>
          <p:nvPr/>
        </p:nvSpPr>
        <p:spPr>
          <a:xfrm>
            <a:off x="868680" y="4754880"/>
            <a:ext cx="566928" cy="566928"/>
          </a:xfrm>
          <a:prstGeom prst="ellipse">
            <a:avLst/>
          </a:prstGeom>
          <a:solidFill>
            <a:schemeClr val="accent1"/>
          </a:solidFill>
          <a:ln/>
        </p:spPr>
      </p:sp>
      <p:pic>
        <p:nvPicPr>
          <p:cNvPr id="30" name="commerce extra 1" descr="preencoded.png">    </p:cNvPr>
          <p:cNvPicPr>
            <a:picLocks noChangeAspect="1"/>
          </p:cNvPicPr>
          <p:nvPr/>
        </p:nvPicPr>
        <p:blipFill>
          <a:blip r:embed="rId6"/>
          <a:stretch>
            <a:fillRect/>
          </a:stretch>
        </p:blipFill>
        <p:spPr>
          <a:xfrm>
            <a:off x="1004743" y="4890943"/>
            <a:ext cx="294803" cy="294803"/>
          </a:xfrm>
          <a:prstGeom prst="rect">
            <a:avLst/>
          </a:prstGeom>
        </p:spPr>
      </p:pic>
      <p:sp>
        <p:nvSpPr>
          <p:cNvPr id="31" name="Text 23"/>
          <p:cNvSpPr txBox="1"/>
          <p:nvPr/>
        </p:nvSpPr>
        <p:spPr>
          <a:xfrm>
            <a:off x="1600200" y="4681728"/>
            <a:ext cx="2743200" cy="365760"/>
          </a:xfrm>
          <a:prstGeom prst="rect">
            <a:avLst/>
          </a:prstGeom>
          <a:noFill/>
          <a:ln/>
        </p:spPr>
        <p:txBody>
          <a:bodyPr wrap="square" lIns="0" tIns="0" rIns="0" bIns="0" rtlCol="0" anchor="t"/>
          <a:lstStyle/>
          <a:p>
            <a:pPr indent="0" marL="0">
              <a:buNone/>
            </a:pPr>
            <a:r>
              <a:rPr lang="en-US" sz="1600" b="1" dirty="0">
                <a:solidFill>
                  <a:schemeClr val="tx1"/>
                </a:solidFill>
              </a:rPr>
              <a:t>AI shopping assistant</a:t>
            </a:r>
            <a:endParaRPr lang="en-US" sz="1600" dirty="0"/>
          </a:p>
        </p:txBody>
      </p:sp>
      <p:sp>
        <p:nvSpPr>
          <p:cNvPr id="32" name="Text 24"/>
          <p:cNvSpPr txBox="1"/>
          <p:nvPr/>
        </p:nvSpPr>
        <p:spPr>
          <a:xfrm>
            <a:off x="1600200" y="5047488"/>
            <a:ext cx="2743200" cy="731520"/>
          </a:xfrm>
          <a:prstGeom prst="rect">
            <a:avLst/>
          </a:prstGeom>
          <a:noFill/>
          <a:ln/>
        </p:spPr>
        <p:txBody>
          <a:bodyPr wrap="square" lIns="0" tIns="0" rIns="0" bIns="0" rtlCol="0" anchor="t"/>
          <a:lstStyle/>
          <a:p>
            <a:pPr indent="0" marL="0">
              <a:buNone/>
            </a:pPr>
            <a:r>
              <a:rPr lang="en-US" sz="1300" dirty="0">
                <a:solidFill>
                  <a:schemeClr val="tx2"/>
                </a:solidFill>
              </a:rPr>
              <a:t>Finds products and answers “where is my order?”</a:t>
            </a:r>
            <a:endParaRPr lang="en-US" sz="1300" dirty="0"/>
          </a:p>
        </p:txBody>
      </p:sp>
      <p:sp>
        <p:nvSpPr>
          <p:cNvPr id="33" name="commerce extra 2 circle"/>
          <p:cNvSpPr/>
          <p:nvPr/>
        </p:nvSpPr>
        <p:spPr>
          <a:xfrm>
            <a:off x="4526280" y="4754880"/>
            <a:ext cx="566928" cy="566928"/>
          </a:xfrm>
          <a:prstGeom prst="ellipse">
            <a:avLst/>
          </a:prstGeom>
          <a:solidFill>
            <a:schemeClr val="accent1"/>
          </a:solidFill>
          <a:ln/>
        </p:spPr>
      </p:sp>
      <p:pic>
        <p:nvPicPr>
          <p:cNvPr id="34" name="commerce extra 2" descr="preencoded.png">    </p:cNvPr>
          <p:cNvPicPr>
            <a:picLocks noChangeAspect="1"/>
          </p:cNvPicPr>
          <p:nvPr/>
        </p:nvPicPr>
        <p:blipFill>
          <a:blip r:embed="rId7"/>
          <a:stretch>
            <a:fillRect/>
          </a:stretch>
        </p:blipFill>
        <p:spPr>
          <a:xfrm>
            <a:off x="4662343" y="4890943"/>
            <a:ext cx="294803" cy="294803"/>
          </a:xfrm>
          <a:prstGeom prst="rect">
            <a:avLst/>
          </a:prstGeom>
        </p:spPr>
      </p:pic>
      <p:sp>
        <p:nvSpPr>
          <p:cNvPr id="35" name="Text 26"/>
          <p:cNvSpPr txBox="1"/>
          <p:nvPr/>
        </p:nvSpPr>
        <p:spPr>
          <a:xfrm>
            <a:off x="5257800" y="4681728"/>
            <a:ext cx="2743200" cy="365760"/>
          </a:xfrm>
          <a:prstGeom prst="rect">
            <a:avLst/>
          </a:prstGeom>
          <a:noFill/>
          <a:ln/>
        </p:spPr>
        <p:txBody>
          <a:bodyPr wrap="square" lIns="0" tIns="0" rIns="0" bIns="0" rtlCol="0" anchor="t"/>
          <a:lstStyle/>
          <a:p>
            <a:pPr indent="0" marL="0">
              <a:buNone/>
            </a:pPr>
            <a:r>
              <a:rPr lang="en-US" sz="1600" b="1" dirty="0">
                <a:solidFill>
                  <a:schemeClr val="tx1"/>
                </a:solidFill>
              </a:rPr>
              <a:t>Orders in your CRM</a:t>
            </a:r>
            <a:endParaRPr lang="en-US" sz="1600" dirty="0"/>
          </a:p>
        </p:txBody>
      </p:sp>
      <p:sp>
        <p:nvSpPr>
          <p:cNvPr id="36" name="Text 27"/>
          <p:cNvSpPr txBox="1"/>
          <p:nvPr/>
        </p:nvSpPr>
        <p:spPr>
          <a:xfrm>
            <a:off x="5257800" y="5047488"/>
            <a:ext cx="2743200" cy="731520"/>
          </a:xfrm>
          <a:prstGeom prst="rect">
            <a:avLst/>
          </a:prstGeom>
          <a:noFill/>
          <a:ln/>
        </p:spPr>
        <p:txBody>
          <a:bodyPr wrap="square" lIns="0" tIns="0" rIns="0" bIns="0" rtlCol="0" anchor="t"/>
          <a:lstStyle/>
          <a:p>
            <a:pPr indent="0" marL="0">
              <a:buNone/>
            </a:pPr>
            <a:r>
              <a:rPr lang="en-US" sz="1300" dirty="0">
                <a:solidFill>
                  <a:schemeClr val="tx2"/>
                </a:solidFill>
              </a:rPr>
              <a:t>See, update and ship every order in one screen</a:t>
            </a:r>
            <a:endParaRPr lang="en-US" sz="1300" dirty="0"/>
          </a:p>
        </p:txBody>
      </p:sp>
      <p:sp>
        <p:nvSpPr>
          <p:cNvPr id="37" name="commerce extra 3 circle"/>
          <p:cNvSpPr/>
          <p:nvPr/>
        </p:nvSpPr>
        <p:spPr>
          <a:xfrm>
            <a:off x="8183880" y="4754880"/>
            <a:ext cx="566928" cy="566928"/>
          </a:xfrm>
          <a:prstGeom prst="ellipse">
            <a:avLst/>
          </a:prstGeom>
          <a:solidFill>
            <a:schemeClr val="accent1"/>
          </a:solidFill>
          <a:ln/>
        </p:spPr>
      </p:sp>
      <p:pic>
        <p:nvPicPr>
          <p:cNvPr id="38" name="commerce extra 3" descr="preencoded.png">    </p:cNvPr>
          <p:cNvPicPr>
            <a:picLocks noChangeAspect="1"/>
          </p:cNvPicPr>
          <p:nvPr/>
        </p:nvPicPr>
        <p:blipFill>
          <a:blip r:embed="rId8"/>
          <a:stretch>
            <a:fillRect/>
          </a:stretch>
        </p:blipFill>
        <p:spPr>
          <a:xfrm>
            <a:off x="8319943" y="4890943"/>
            <a:ext cx="294803" cy="294803"/>
          </a:xfrm>
          <a:prstGeom prst="rect">
            <a:avLst/>
          </a:prstGeom>
        </p:spPr>
      </p:pic>
      <p:sp>
        <p:nvSpPr>
          <p:cNvPr id="39" name="Text 29"/>
          <p:cNvSpPr txBox="1"/>
          <p:nvPr/>
        </p:nvSpPr>
        <p:spPr>
          <a:xfrm>
            <a:off x="8915400" y="4681728"/>
            <a:ext cx="2743200" cy="365760"/>
          </a:xfrm>
          <a:prstGeom prst="rect">
            <a:avLst/>
          </a:prstGeom>
          <a:noFill/>
          <a:ln/>
        </p:spPr>
        <p:txBody>
          <a:bodyPr wrap="square" lIns="0" tIns="0" rIns="0" bIns="0" rtlCol="0" anchor="t"/>
          <a:lstStyle/>
          <a:p>
            <a:pPr indent="0" marL="0">
              <a:buNone/>
            </a:pPr>
            <a:r>
              <a:rPr lang="en-US" sz="1600" b="1" dirty="0">
                <a:solidFill>
                  <a:schemeClr val="tx1"/>
                </a:solidFill>
              </a:rPr>
              <a:t>Go-live checklist</a:t>
            </a:r>
            <a:endParaRPr lang="en-US" sz="1600" dirty="0"/>
          </a:p>
        </p:txBody>
      </p:sp>
      <p:sp>
        <p:nvSpPr>
          <p:cNvPr id="40" name="Text 30"/>
          <p:cNvSpPr txBox="1"/>
          <p:nvPr/>
        </p:nvSpPr>
        <p:spPr>
          <a:xfrm>
            <a:off x="8915400" y="5047488"/>
            <a:ext cx="2743200" cy="731520"/>
          </a:xfrm>
          <a:prstGeom prst="rect">
            <a:avLst/>
          </a:prstGeom>
          <a:noFill/>
          <a:ln/>
        </p:spPr>
        <p:txBody>
          <a:bodyPr wrap="square" lIns="0" tIns="0" rIns="0" bIns="0" rtlCol="0" anchor="t"/>
          <a:lstStyle/>
          <a:p>
            <a:pPr indent="0" marL="0">
              <a:buNone/>
            </a:pPr>
            <a:r>
              <a:rPr lang="en-US" sz="1300" dirty="0">
                <a:solidFill>
                  <a:schemeClr val="tx2"/>
                </a:solidFill>
              </a:rPr>
              <a:t>Shows exactly what is left to connect</a:t>
            </a:r>
            <a:endParaRPr lang="en-US" sz="13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Send campaigns that people actually read</a:t>
            </a:r>
            <a:endParaRPr lang="en-US" sz="3200" dirty="0"/>
          </a:p>
        </p:txBody>
      </p:sp>
      <p:sp>
        <p:nvSpPr>
          <p:cNvPr id="3" name="campaign feature 1 circle"/>
          <p:cNvSpPr/>
          <p:nvPr/>
        </p:nvSpPr>
        <p:spPr>
          <a:xfrm>
            <a:off x="548640" y="1463040"/>
            <a:ext cx="640080" cy="640080"/>
          </a:xfrm>
          <a:prstGeom prst="ellipse">
            <a:avLst/>
          </a:prstGeom>
          <a:solidFill>
            <a:schemeClr val="accent2"/>
          </a:solidFill>
          <a:ln/>
        </p:spPr>
      </p:sp>
      <p:pic>
        <p:nvPicPr>
          <p:cNvPr id="4" name="campaign feature 1" descr="preencoded.png">    </p:cNvPr>
          <p:cNvPicPr>
            <a:picLocks noChangeAspect="1"/>
          </p:cNvPicPr>
          <p:nvPr/>
        </p:nvPicPr>
        <p:blipFill>
          <a:blip r:embed="rId1"/>
          <a:stretch>
            <a:fillRect/>
          </a:stretch>
        </p:blipFill>
        <p:spPr>
          <a:xfrm>
            <a:off x="702259" y="1616659"/>
            <a:ext cx="332842" cy="332842"/>
          </a:xfrm>
          <a:prstGeom prst="rect">
            <a:avLst/>
          </a:prstGeom>
        </p:spPr>
      </p:pic>
      <p:sp>
        <p:nvSpPr>
          <p:cNvPr id="5" name="Text 2"/>
          <p:cNvSpPr txBox="1"/>
          <p:nvPr/>
        </p:nvSpPr>
        <p:spPr>
          <a:xfrm>
            <a:off x="1417320" y="1463040"/>
            <a:ext cx="4937760" cy="365760"/>
          </a:xfrm>
          <a:prstGeom prst="rect">
            <a:avLst/>
          </a:prstGeom>
          <a:noFill/>
          <a:ln/>
        </p:spPr>
        <p:txBody>
          <a:bodyPr wrap="square" lIns="0" tIns="0" rIns="0" bIns="0" rtlCol="0" anchor="t"/>
          <a:lstStyle/>
          <a:p>
            <a:pPr indent="0" marL="0">
              <a:buNone/>
            </a:pPr>
            <a:r>
              <a:rPr lang="en-US" sz="1800" b="1" dirty="0">
                <a:solidFill>
                  <a:schemeClr val="tx1"/>
                </a:solidFill>
              </a:rPr>
              <a:t>Upload your Excel list</a:t>
            </a:r>
            <a:endParaRPr lang="en-US" sz="1800" dirty="0"/>
          </a:p>
        </p:txBody>
      </p:sp>
      <p:sp>
        <p:nvSpPr>
          <p:cNvPr id="6" name="Text 3"/>
          <p:cNvSpPr txBox="1"/>
          <p:nvPr/>
        </p:nvSpPr>
        <p:spPr>
          <a:xfrm>
            <a:off x="1417320" y="1847088"/>
            <a:ext cx="4937760" cy="548640"/>
          </a:xfrm>
          <a:prstGeom prst="rect">
            <a:avLst/>
          </a:prstGeom>
          <a:noFill/>
          <a:ln/>
        </p:spPr>
        <p:txBody>
          <a:bodyPr wrap="square" lIns="0" tIns="0" rIns="0" bIns="0" rtlCol="0" anchor="t"/>
          <a:lstStyle/>
          <a:p>
            <a:pPr indent="0" marL="0">
              <a:buNone/>
            </a:pPr>
            <a:r>
              <a:rPr lang="en-US" sz="1500" dirty="0">
                <a:solidFill>
                  <a:schemeClr val="tx2"/>
                </a:solidFill>
              </a:rPr>
              <a:t>Add names, offers and any detail as {{variables}}.</a:t>
            </a:r>
            <a:endParaRPr lang="en-US" sz="1500" dirty="0"/>
          </a:p>
        </p:txBody>
      </p:sp>
      <p:sp>
        <p:nvSpPr>
          <p:cNvPr id="7" name="campaign feature 2 circle"/>
          <p:cNvSpPr/>
          <p:nvPr/>
        </p:nvSpPr>
        <p:spPr>
          <a:xfrm>
            <a:off x="548640" y="2606040"/>
            <a:ext cx="640080" cy="640080"/>
          </a:xfrm>
          <a:prstGeom prst="ellipse">
            <a:avLst/>
          </a:prstGeom>
          <a:solidFill>
            <a:schemeClr val="accent4"/>
          </a:solidFill>
          <a:ln/>
        </p:spPr>
      </p:sp>
      <p:pic>
        <p:nvPicPr>
          <p:cNvPr id="8" name="campaign feature 2" descr="preencoded.png">    </p:cNvPr>
          <p:cNvPicPr>
            <a:picLocks noChangeAspect="1"/>
          </p:cNvPicPr>
          <p:nvPr/>
        </p:nvPicPr>
        <p:blipFill>
          <a:blip r:embed="rId2"/>
          <a:stretch>
            <a:fillRect/>
          </a:stretch>
        </p:blipFill>
        <p:spPr>
          <a:xfrm>
            <a:off x="702259" y="2759659"/>
            <a:ext cx="332842" cy="332842"/>
          </a:xfrm>
          <a:prstGeom prst="rect">
            <a:avLst/>
          </a:prstGeom>
        </p:spPr>
      </p:pic>
      <p:sp>
        <p:nvSpPr>
          <p:cNvPr id="9" name="Text 5"/>
          <p:cNvSpPr txBox="1"/>
          <p:nvPr/>
        </p:nvSpPr>
        <p:spPr>
          <a:xfrm>
            <a:off x="1417320" y="2606040"/>
            <a:ext cx="4937760" cy="365760"/>
          </a:xfrm>
          <a:prstGeom prst="rect">
            <a:avLst/>
          </a:prstGeom>
          <a:noFill/>
          <a:ln/>
        </p:spPr>
        <p:txBody>
          <a:bodyPr wrap="square" lIns="0" tIns="0" rIns="0" bIns="0" rtlCol="0" anchor="t"/>
          <a:lstStyle/>
          <a:p>
            <a:pPr indent="0" marL="0">
              <a:buNone/>
            </a:pPr>
            <a:r>
              <a:rPr lang="en-US" sz="1800" b="1" dirty="0">
                <a:solidFill>
                  <a:schemeClr val="tx1"/>
                </a:solidFill>
              </a:rPr>
              <a:t>Every Meta template type</a:t>
            </a:r>
            <a:endParaRPr lang="en-US" sz="1800" dirty="0"/>
          </a:p>
        </p:txBody>
      </p:sp>
      <p:sp>
        <p:nvSpPr>
          <p:cNvPr id="10" name="Text 6"/>
          <p:cNvSpPr txBox="1"/>
          <p:nvPr/>
        </p:nvSpPr>
        <p:spPr>
          <a:xfrm>
            <a:off x="1417320" y="2990088"/>
            <a:ext cx="4937760" cy="548640"/>
          </a:xfrm>
          <a:prstGeom prst="rect">
            <a:avLst/>
          </a:prstGeom>
          <a:noFill/>
          <a:ln/>
        </p:spPr>
        <p:txBody>
          <a:bodyPr wrap="square" lIns="0" tIns="0" rIns="0" bIns="0" rtlCol="0" anchor="t"/>
          <a:lstStyle/>
          <a:p>
            <a:pPr indent="0" marL="0">
              <a:buNone/>
            </a:pPr>
            <a:r>
              <a:rPr lang="en-US" sz="1500" dirty="0">
                <a:solidFill>
                  <a:schemeClr val="tx2"/>
                </a:solidFill>
              </a:rPr>
              <a:t>Images, videos, carousels, offers, coupon codes, catalog and forms.</a:t>
            </a:r>
            <a:endParaRPr lang="en-US" sz="1500" dirty="0"/>
          </a:p>
        </p:txBody>
      </p:sp>
      <p:sp>
        <p:nvSpPr>
          <p:cNvPr id="11" name="campaign feature 3 circle"/>
          <p:cNvSpPr/>
          <p:nvPr/>
        </p:nvSpPr>
        <p:spPr>
          <a:xfrm>
            <a:off x="548640" y="3749040"/>
            <a:ext cx="640080" cy="640080"/>
          </a:xfrm>
          <a:prstGeom prst="ellipse">
            <a:avLst/>
          </a:prstGeom>
          <a:solidFill>
            <a:schemeClr val="accent1"/>
          </a:solidFill>
          <a:ln/>
        </p:spPr>
      </p:sp>
      <p:pic>
        <p:nvPicPr>
          <p:cNvPr id="12" name="campaign feature 3" descr="preencoded.png">    </p:cNvPr>
          <p:cNvPicPr>
            <a:picLocks noChangeAspect="1"/>
          </p:cNvPicPr>
          <p:nvPr/>
        </p:nvPicPr>
        <p:blipFill>
          <a:blip r:embed="rId3"/>
          <a:stretch>
            <a:fillRect/>
          </a:stretch>
        </p:blipFill>
        <p:spPr>
          <a:xfrm>
            <a:off x="702259" y="3902659"/>
            <a:ext cx="332842" cy="332842"/>
          </a:xfrm>
          <a:prstGeom prst="rect">
            <a:avLst/>
          </a:prstGeom>
        </p:spPr>
      </p:pic>
      <p:sp>
        <p:nvSpPr>
          <p:cNvPr id="13" name="Text 8"/>
          <p:cNvSpPr txBox="1"/>
          <p:nvPr/>
        </p:nvSpPr>
        <p:spPr>
          <a:xfrm>
            <a:off x="1417320" y="3749040"/>
            <a:ext cx="4937760" cy="365760"/>
          </a:xfrm>
          <a:prstGeom prst="rect">
            <a:avLst/>
          </a:prstGeom>
          <a:noFill/>
          <a:ln/>
        </p:spPr>
        <p:txBody>
          <a:bodyPr wrap="square" lIns="0" tIns="0" rIns="0" bIns="0" rtlCol="0" anchor="t"/>
          <a:lstStyle/>
          <a:p>
            <a:pPr indent="0" marL="0">
              <a:buNone/>
            </a:pPr>
            <a:r>
              <a:rPr lang="en-US" sz="1800" b="1" dirty="0">
                <a:solidFill>
                  <a:schemeClr val="tx1"/>
                </a:solidFill>
              </a:rPr>
              <a:t>Approved by Meta, safe for your number</a:t>
            </a:r>
            <a:endParaRPr lang="en-US" sz="1800" dirty="0"/>
          </a:p>
        </p:txBody>
      </p:sp>
      <p:sp>
        <p:nvSpPr>
          <p:cNvPr id="14" name="Text 9"/>
          <p:cNvSpPr txBox="1"/>
          <p:nvPr/>
        </p:nvSpPr>
        <p:spPr>
          <a:xfrm>
            <a:off x="1417320" y="4133088"/>
            <a:ext cx="4937760" cy="548640"/>
          </a:xfrm>
          <a:prstGeom prst="rect">
            <a:avLst/>
          </a:prstGeom>
          <a:noFill/>
          <a:ln/>
        </p:spPr>
        <p:txBody>
          <a:bodyPr wrap="square" lIns="0" tIns="0" rIns="0" bIns="0" rtlCol="0" anchor="t"/>
          <a:lstStyle/>
          <a:p>
            <a:pPr indent="0" marL="0">
              <a:buNone/>
            </a:pPr>
            <a:r>
              <a:rPr lang="en-US" sz="1500" dirty="0">
                <a:solidFill>
                  <a:schemeClr val="tx2"/>
                </a:solidFill>
              </a:rPr>
              <a:t>Create templates and see approval live, like WhatsApp Manager.</a:t>
            </a:r>
            <a:endParaRPr lang="en-US" sz="1500" dirty="0"/>
          </a:p>
        </p:txBody>
      </p:sp>
      <p:sp>
        <p:nvSpPr>
          <p:cNvPr id="15" name="campaign feature 4 circle"/>
          <p:cNvSpPr/>
          <p:nvPr/>
        </p:nvSpPr>
        <p:spPr>
          <a:xfrm>
            <a:off x="548640" y="4892040"/>
            <a:ext cx="640080" cy="640080"/>
          </a:xfrm>
          <a:prstGeom prst="ellipse">
            <a:avLst/>
          </a:prstGeom>
          <a:solidFill>
            <a:schemeClr val="accent3"/>
          </a:solidFill>
          <a:ln/>
        </p:spPr>
      </p:sp>
      <p:pic>
        <p:nvPicPr>
          <p:cNvPr id="16" name="campaign feature 4" descr="preencoded.png">    </p:cNvPr>
          <p:cNvPicPr>
            <a:picLocks noChangeAspect="1"/>
          </p:cNvPicPr>
          <p:nvPr/>
        </p:nvPicPr>
        <p:blipFill>
          <a:blip r:embed="rId4"/>
          <a:stretch>
            <a:fillRect/>
          </a:stretch>
        </p:blipFill>
        <p:spPr>
          <a:xfrm>
            <a:off x="702259" y="5045659"/>
            <a:ext cx="332842" cy="332842"/>
          </a:xfrm>
          <a:prstGeom prst="rect">
            <a:avLst/>
          </a:prstGeom>
        </p:spPr>
      </p:pic>
      <p:sp>
        <p:nvSpPr>
          <p:cNvPr id="17" name="Text 11"/>
          <p:cNvSpPr txBox="1"/>
          <p:nvPr/>
        </p:nvSpPr>
        <p:spPr>
          <a:xfrm>
            <a:off x="1417320" y="4892040"/>
            <a:ext cx="4937760" cy="365760"/>
          </a:xfrm>
          <a:prstGeom prst="rect">
            <a:avLst/>
          </a:prstGeom>
          <a:noFill/>
          <a:ln/>
        </p:spPr>
        <p:txBody>
          <a:bodyPr wrap="square" lIns="0" tIns="0" rIns="0" bIns="0" rtlCol="0" anchor="t"/>
          <a:lstStyle/>
          <a:p>
            <a:pPr indent="0" marL="0">
              <a:buNone/>
            </a:pPr>
            <a:r>
              <a:rPr lang="en-US" sz="1800" b="1" dirty="0">
                <a:solidFill>
                  <a:schemeClr val="tx1"/>
                </a:solidFill>
              </a:rPr>
              <a:t>Schedule and reply</a:t>
            </a:r>
            <a:endParaRPr lang="en-US" sz="1800" dirty="0"/>
          </a:p>
        </p:txBody>
      </p:sp>
      <p:sp>
        <p:nvSpPr>
          <p:cNvPr id="18" name="Text 12"/>
          <p:cNvSpPr txBox="1"/>
          <p:nvPr/>
        </p:nvSpPr>
        <p:spPr>
          <a:xfrm>
            <a:off x="1417320" y="5276088"/>
            <a:ext cx="4937760" cy="548640"/>
          </a:xfrm>
          <a:prstGeom prst="rect">
            <a:avLst/>
          </a:prstGeom>
          <a:noFill/>
          <a:ln/>
        </p:spPr>
        <p:txBody>
          <a:bodyPr wrap="square" lIns="0" tIns="0" rIns="0" bIns="0" rtlCol="0" anchor="t"/>
          <a:lstStyle/>
          <a:p>
            <a:pPr indent="0" marL="0">
              <a:buNone/>
            </a:pPr>
            <a:r>
              <a:rPr lang="en-US" sz="1500" dirty="0">
                <a:solidFill>
                  <a:schemeClr val="tx2"/>
                </a:solidFill>
              </a:rPr>
              <a:t>Send now or later, and reply to responses from the same screen.</a:t>
            </a:r>
            <a:endParaRPr lang="en-US" sz="1500" dirty="0"/>
          </a:p>
        </p:txBody>
      </p:sp>
      <p:sp>
        <p:nvSpPr>
          <p:cNvPr id="19" name="campaign report"/>
          <p:cNvSpPr/>
          <p:nvPr/>
        </p:nvSpPr>
        <p:spPr>
          <a:xfrm>
            <a:off x="6858000" y="1371600"/>
            <a:ext cx="4754880" cy="4754880"/>
          </a:xfrm>
          <a:prstGeom prst="roundRect">
            <a:avLst>
              <a:gd name="adj" fmla="val 2308"/>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20" name="Text 14"/>
          <p:cNvSpPr txBox="1"/>
          <p:nvPr/>
        </p:nvSpPr>
        <p:spPr>
          <a:xfrm>
            <a:off x="7178040" y="16002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Track every message</a:t>
            </a:r>
            <a:endParaRPr lang="en-US" sz="1800" dirty="0"/>
          </a:p>
        </p:txBody>
      </p:sp>
      <p:sp>
        <p:nvSpPr>
          <p:cNvPr id="21" name="Text 15"/>
          <p:cNvSpPr txBox="1"/>
          <p:nvPr/>
        </p:nvSpPr>
        <p:spPr>
          <a:xfrm>
            <a:off x="7178040" y="2011680"/>
            <a:ext cx="4114800" cy="365760"/>
          </a:xfrm>
          <a:prstGeom prst="rect">
            <a:avLst/>
          </a:prstGeom>
          <a:noFill/>
          <a:ln/>
        </p:spPr>
        <p:txBody>
          <a:bodyPr wrap="square" lIns="0" tIns="0" rIns="0" bIns="0" rtlCol="0" anchor="t"/>
          <a:lstStyle/>
          <a:p>
            <a:pPr indent="0" marL="0">
              <a:buNone/>
            </a:pPr>
            <a:r>
              <a:rPr lang="en-US" sz="1300" dirty="0">
                <a:solidFill>
                  <a:schemeClr val="tx2"/>
                </a:solidFill>
              </a:rPr>
              <a:t>Each campaign shows these stages for every contact</a:t>
            </a:r>
            <a:endParaRPr lang="en-US" sz="1300" dirty="0"/>
          </a:p>
        </p:txBody>
      </p:sp>
      <p:sp>
        <p:nvSpPr>
          <p:cNvPr id="22" name="Sent stage"/>
          <p:cNvSpPr/>
          <p:nvPr/>
        </p:nvSpPr>
        <p:spPr>
          <a:xfrm>
            <a:off x="7178040" y="2606040"/>
            <a:ext cx="3931920" cy="457200"/>
          </a:xfrm>
          <a:prstGeom prst="roundRect">
            <a:avLst>
              <a:gd name="adj" fmla="val 16000"/>
            </a:avLst>
          </a:prstGeom>
          <a:solidFill>
            <a:schemeClr val="accent6"/>
          </a:solidFill>
          <a:ln/>
        </p:spPr>
      </p:sp>
      <p:sp>
        <p:nvSpPr>
          <p:cNvPr id="23" name="Text 17"/>
          <p:cNvSpPr txBox="1"/>
          <p:nvPr/>
        </p:nvSpPr>
        <p:spPr>
          <a:xfrm>
            <a:off x="7315200" y="2606040"/>
            <a:ext cx="2286000" cy="457200"/>
          </a:xfrm>
          <a:prstGeom prst="rect">
            <a:avLst/>
          </a:prstGeom>
          <a:noFill/>
          <a:ln/>
        </p:spPr>
        <p:txBody>
          <a:bodyPr wrap="square" lIns="0" tIns="0" rIns="0" bIns="0" rtlCol="0" anchor="ctr"/>
          <a:lstStyle/>
          <a:p>
            <a:pPr indent="0" marL="0">
              <a:buNone/>
            </a:pPr>
            <a:r>
              <a:rPr lang="en-US" sz="1400" b="1" dirty="0">
                <a:solidFill>
                  <a:schemeClr val="bg1"/>
                </a:solidFill>
              </a:rPr>
              <a:t>Sent</a:t>
            </a:r>
            <a:endParaRPr lang="en-US" sz="1400" dirty="0"/>
          </a:p>
        </p:txBody>
      </p:sp>
      <p:sp>
        <p:nvSpPr>
          <p:cNvPr id="24" name="Delivered stage"/>
          <p:cNvSpPr/>
          <p:nvPr/>
        </p:nvSpPr>
        <p:spPr>
          <a:xfrm>
            <a:off x="7178040" y="3264408"/>
            <a:ext cx="3566160" cy="457200"/>
          </a:xfrm>
          <a:prstGeom prst="roundRect">
            <a:avLst>
              <a:gd name="adj" fmla="val 16000"/>
            </a:avLst>
          </a:prstGeom>
          <a:solidFill>
            <a:schemeClr val="accent3"/>
          </a:solidFill>
          <a:ln/>
        </p:spPr>
      </p:sp>
      <p:sp>
        <p:nvSpPr>
          <p:cNvPr id="25" name="Text 19"/>
          <p:cNvSpPr txBox="1"/>
          <p:nvPr/>
        </p:nvSpPr>
        <p:spPr>
          <a:xfrm>
            <a:off x="7315200" y="3264408"/>
            <a:ext cx="2286000" cy="457200"/>
          </a:xfrm>
          <a:prstGeom prst="rect">
            <a:avLst/>
          </a:prstGeom>
          <a:noFill/>
          <a:ln/>
        </p:spPr>
        <p:txBody>
          <a:bodyPr wrap="square" lIns="0" tIns="0" rIns="0" bIns="0" rtlCol="0" anchor="ctr"/>
          <a:lstStyle/>
          <a:p>
            <a:pPr indent="0" marL="0">
              <a:buNone/>
            </a:pPr>
            <a:r>
              <a:rPr lang="en-US" sz="1400" b="1" dirty="0">
                <a:solidFill>
                  <a:schemeClr val="bg1"/>
                </a:solidFill>
              </a:rPr>
              <a:t>Delivered</a:t>
            </a:r>
            <a:endParaRPr lang="en-US" sz="1400" dirty="0"/>
          </a:p>
        </p:txBody>
      </p:sp>
      <p:sp>
        <p:nvSpPr>
          <p:cNvPr id="26" name="Read stage"/>
          <p:cNvSpPr/>
          <p:nvPr/>
        </p:nvSpPr>
        <p:spPr>
          <a:xfrm>
            <a:off x="7178040" y="3922776"/>
            <a:ext cx="2926080" cy="457200"/>
          </a:xfrm>
          <a:prstGeom prst="roundRect">
            <a:avLst>
              <a:gd name="adj" fmla="val 16000"/>
            </a:avLst>
          </a:prstGeom>
          <a:solidFill>
            <a:schemeClr val="accent1"/>
          </a:solidFill>
          <a:ln/>
        </p:spPr>
      </p:sp>
      <p:sp>
        <p:nvSpPr>
          <p:cNvPr id="27" name="Text 21"/>
          <p:cNvSpPr txBox="1"/>
          <p:nvPr/>
        </p:nvSpPr>
        <p:spPr>
          <a:xfrm>
            <a:off x="7315200" y="3922776"/>
            <a:ext cx="2286000" cy="457200"/>
          </a:xfrm>
          <a:prstGeom prst="rect">
            <a:avLst/>
          </a:prstGeom>
          <a:noFill/>
          <a:ln/>
        </p:spPr>
        <p:txBody>
          <a:bodyPr wrap="square" lIns="0" tIns="0" rIns="0" bIns="0" rtlCol="0" anchor="ctr"/>
          <a:lstStyle/>
          <a:p>
            <a:pPr indent="0" marL="0">
              <a:buNone/>
            </a:pPr>
            <a:r>
              <a:rPr lang="en-US" sz="1400" b="1" dirty="0">
                <a:solidFill>
                  <a:schemeClr val="bg1"/>
                </a:solidFill>
              </a:rPr>
              <a:t>Read</a:t>
            </a:r>
            <a:endParaRPr lang="en-US" sz="1400" dirty="0"/>
          </a:p>
        </p:txBody>
      </p:sp>
      <p:sp>
        <p:nvSpPr>
          <p:cNvPr id="28" name="Replied stage"/>
          <p:cNvSpPr/>
          <p:nvPr/>
        </p:nvSpPr>
        <p:spPr>
          <a:xfrm>
            <a:off x="7178040" y="4581144"/>
            <a:ext cx="1828800" cy="457200"/>
          </a:xfrm>
          <a:prstGeom prst="roundRect">
            <a:avLst>
              <a:gd name="adj" fmla="val 16000"/>
            </a:avLst>
          </a:prstGeom>
          <a:solidFill>
            <a:schemeClr val="accent2"/>
          </a:solidFill>
          <a:ln/>
        </p:spPr>
      </p:sp>
      <p:sp>
        <p:nvSpPr>
          <p:cNvPr id="29" name="Text 23"/>
          <p:cNvSpPr txBox="1"/>
          <p:nvPr/>
        </p:nvSpPr>
        <p:spPr>
          <a:xfrm>
            <a:off x="7315200" y="4581144"/>
            <a:ext cx="2286000" cy="457200"/>
          </a:xfrm>
          <a:prstGeom prst="rect">
            <a:avLst/>
          </a:prstGeom>
          <a:noFill/>
          <a:ln/>
        </p:spPr>
        <p:txBody>
          <a:bodyPr wrap="square" lIns="0" tIns="0" rIns="0" bIns="0" rtlCol="0" anchor="ctr"/>
          <a:lstStyle/>
          <a:p>
            <a:pPr indent="0" marL="0">
              <a:buNone/>
            </a:pPr>
            <a:r>
              <a:rPr lang="en-US" sz="1400" b="1" dirty="0">
                <a:solidFill>
                  <a:schemeClr val="bg1"/>
                </a:solidFill>
              </a:rPr>
              <a:t>Replied</a:t>
            </a:r>
            <a:endParaRPr lang="en-US" sz="1400" dirty="0"/>
          </a:p>
        </p:txBody>
      </p:sp>
      <p:sp>
        <p:nvSpPr>
          <p:cNvPr id="30" name="Converted stage"/>
          <p:cNvSpPr/>
          <p:nvPr/>
        </p:nvSpPr>
        <p:spPr>
          <a:xfrm>
            <a:off x="7178040" y="5239512"/>
            <a:ext cx="1097280" cy="457200"/>
          </a:xfrm>
          <a:prstGeom prst="roundRect">
            <a:avLst>
              <a:gd name="adj" fmla="val 16000"/>
            </a:avLst>
          </a:prstGeom>
          <a:solidFill>
            <a:schemeClr val="accent4"/>
          </a:solidFill>
          <a:ln/>
        </p:spPr>
      </p:sp>
      <p:sp>
        <p:nvSpPr>
          <p:cNvPr id="31" name="Text 25"/>
          <p:cNvSpPr txBox="1"/>
          <p:nvPr/>
        </p:nvSpPr>
        <p:spPr>
          <a:xfrm>
            <a:off x="7315200" y="5239512"/>
            <a:ext cx="2286000" cy="457200"/>
          </a:xfrm>
          <a:prstGeom prst="rect">
            <a:avLst/>
          </a:prstGeom>
          <a:noFill/>
          <a:ln/>
        </p:spPr>
        <p:txBody>
          <a:bodyPr wrap="square" lIns="0" tIns="0" rIns="0" bIns="0" rtlCol="0" anchor="ctr"/>
          <a:lstStyle/>
          <a:p>
            <a:pPr indent="0" marL="0">
              <a:buNone/>
            </a:pPr>
            <a:r>
              <a:rPr lang="en-US" sz="1400" b="1" dirty="0">
                <a:solidFill>
                  <a:schemeClr val="bg1"/>
                </a:solidFill>
              </a:rPr>
              <a:t>Converted</a:t>
            </a:r>
            <a:endParaRPr lang="en-US" sz="1400" dirty="0"/>
          </a:p>
        </p:txBody>
      </p:sp>
      <p:sp>
        <p:nvSpPr>
          <p:cNvPr id="32" name="Text 26"/>
          <p:cNvSpPr txBox="1"/>
          <p:nvPr/>
        </p:nvSpPr>
        <p:spPr>
          <a:xfrm>
            <a:off x="7178040" y="5760720"/>
            <a:ext cx="4114800" cy="274320"/>
          </a:xfrm>
          <a:prstGeom prst="rect">
            <a:avLst/>
          </a:prstGeom>
          <a:noFill/>
          <a:ln/>
        </p:spPr>
        <p:txBody>
          <a:bodyPr wrap="square" lIns="0" tIns="0" rIns="0" bIns="0" rtlCol="0" anchor="t"/>
          <a:lstStyle/>
          <a:p>
            <a:pPr indent="0" marL="0">
              <a:buNone/>
            </a:pPr>
            <a:r>
              <a:rPr lang="en-US" sz="1000" i="1" dirty="0">
                <a:solidFill>
                  <a:schemeClr val="accent6"/>
                </a:solidFill>
              </a:rPr>
              <a:t>Illustration of the report, not real data</a:t>
            </a:r>
            <a:endParaRPr lang="en-US" sz="10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Support customers and close more deals</a:t>
            </a:r>
            <a:endParaRPr lang="en-US" sz="3200" dirty="0"/>
          </a:p>
        </p:txBody>
      </p:sp>
      <p:sp>
        <p:nvSpPr>
          <p:cNvPr id="3" name="support feature 1"/>
          <p:cNvSpPr/>
          <p:nvPr/>
        </p:nvSpPr>
        <p:spPr>
          <a:xfrm>
            <a:off x="548640" y="1417320"/>
            <a:ext cx="5440680" cy="2148840"/>
          </a:xfrm>
          <a:prstGeom prst="roundRect">
            <a:avLst>
              <a:gd name="adj" fmla="val 5106"/>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4" name="support feature 1 icon circle"/>
          <p:cNvSpPr/>
          <p:nvPr/>
        </p:nvSpPr>
        <p:spPr>
          <a:xfrm>
            <a:off x="868680" y="1783080"/>
            <a:ext cx="685800" cy="685800"/>
          </a:xfrm>
          <a:prstGeom prst="ellipse">
            <a:avLst/>
          </a:prstGeom>
          <a:solidFill>
            <a:schemeClr val="accent5"/>
          </a:solidFill>
          <a:ln/>
        </p:spPr>
      </p:sp>
      <p:pic>
        <p:nvPicPr>
          <p:cNvPr id="5" name="support feature 1 icon" descr="preencoded.png">    </p:cNvPr>
          <p:cNvPicPr>
            <a:picLocks noChangeAspect="1"/>
          </p:cNvPicPr>
          <p:nvPr/>
        </p:nvPicPr>
        <p:blipFill>
          <a:blip r:embed="rId1"/>
          <a:stretch>
            <a:fillRect/>
          </a:stretch>
        </p:blipFill>
        <p:spPr>
          <a:xfrm>
            <a:off x="1033272" y="1947672"/>
            <a:ext cx="356616" cy="356616"/>
          </a:xfrm>
          <a:prstGeom prst="rect">
            <a:avLst/>
          </a:prstGeom>
        </p:spPr>
      </p:pic>
      <p:sp>
        <p:nvSpPr>
          <p:cNvPr id="6" name="Text 3"/>
          <p:cNvSpPr txBox="1"/>
          <p:nvPr/>
        </p:nvSpPr>
        <p:spPr>
          <a:xfrm>
            <a:off x="1783080" y="1801368"/>
            <a:ext cx="4023360" cy="457200"/>
          </a:xfrm>
          <a:prstGeom prst="rect">
            <a:avLst/>
          </a:prstGeom>
          <a:noFill/>
          <a:ln/>
        </p:spPr>
        <p:txBody>
          <a:bodyPr wrap="square" lIns="0" tIns="0" rIns="0" bIns="0" rtlCol="0" anchor="t"/>
          <a:lstStyle/>
          <a:p>
            <a:pPr indent="0" marL="0">
              <a:buNone/>
            </a:pPr>
            <a:r>
              <a:rPr lang="en-US" sz="1900" b="1" dirty="0">
                <a:solidFill>
                  <a:schemeClr val="tx1"/>
                </a:solidFill>
              </a:rPr>
              <a:t>Tickets with SLA</a:t>
            </a:r>
            <a:endParaRPr lang="en-US" sz="1900" dirty="0"/>
          </a:p>
        </p:txBody>
      </p:sp>
      <p:sp>
        <p:nvSpPr>
          <p:cNvPr id="7" name="Text 4"/>
          <p:cNvSpPr txBox="1"/>
          <p:nvPr/>
        </p:nvSpPr>
        <p:spPr>
          <a:xfrm>
            <a:off x="1783080" y="2286000"/>
            <a:ext cx="4023360" cy="1097280"/>
          </a:xfrm>
          <a:prstGeom prst="rect">
            <a:avLst/>
          </a:prstGeom>
          <a:noFill/>
          <a:ln/>
        </p:spPr>
        <p:txBody>
          <a:bodyPr wrap="square" lIns="0" tIns="0" rIns="0" bIns="0" rtlCol="0" anchor="t"/>
          <a:lstStyle/>
          <a:p>
            <a:pPr indent="0" marL="0">
              <a:buNone/>
            </a:pPr>
            <a:r>
              <a:rPr lang="en-US" sz="1500" dirty="0">
                <a:solidFill>
                  <a:schemeClr val="tx2"/>
                </a:solidFill>
              </a:rPr>
              <a:t>Every complaint gets a ticket, an owner and a time limit. Nothing is forgotten.</a:t>
            </a:r>
            <a:endParaRPr lang="en-US" sz="1500" dirty="0"/>
          </a:p>
        </p:txBody>
      </p:sp>
      <p:sp>
        <p:nvSpPr>
          <p:cNvPr id="8" name="support feature 2"/>
          <p:cNvSpPr/>
          <p:nvPr/>
        </p:nvSpPr>
        <p:spPr>
          <a:xfrm>
            <a:off x="6172200" y="1417320"/>
            <a:ext cx="5440680" cy="2148840"/>
          </a:xfrm>
          <a:prstGeom prst="roundRect">
            <a:avLst>
              <a:gd name="adj" fmla="val 5106"/>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9" name="support feature 2 icon circle"/>
          <p:cNvSpPr/>
          <p:nvPr/>
        </p:nvSpPr>
        <p:spPr>
          <a:xfrm>
            <a:off x="6492240" y="1783080"/>
            <a:ext cx="685800" cy="685800"/>
          </a:xfrm>
          <a:prstGeom prst="ellipse">
            <a:avLst/>
          </a:prstGeom>
          <a:solidFill>
            <a:schemeClr val="accent1"/>
          </a:solidFill>
          <a:ln/>
        </p:spPr>
      </p:sp>
      <p:pic>
        <p:nvPicPr>
          <p:cNvPr id="10" name="support feature 2 icon" descr="preencoded.png">    </p:cNvPr>
          <p:cNvPicPr>
            <a:picLocks noChangeAspect="1"/>
          </p:cNvPicPr>
          <p:nvPr/>
        </p:nvPicPr>
        <p:blipFill>
          <a:blip r:embed="rId2"/>
          <a:stretch>
            <a:fillRect/>
          </a:stretch>
        </p:blipFill>
        <p:spPr>
          <a:xfrm>
            <a:off x="6656832" y="1947672"/>
            <a:ext cx="356616" cy="356616"/>
          </a:xfrm>
          <a:prstGeom prst="rect">
            <a:avLst/>
          </a:prstGeom>
        </p:spPr>
      </p:pic>
      <p:sp>
        <p:nvSpPr>
          <p:cNvPr id="11" name="Text 7"/>
          <p:cNvSpPr txBox="1"/>
          <p:nvPr/>
        </p:nvSpPr>
        <p:spPr>
          <a:xfrm>
            <a:off x="7406640" y="1801368"/>
            <a:ext cx="4023360" cy="457200"/>
          </a:xfrm>
          <a:prstGeom prst="rect">
            <a:avLst/>
          </a:prstGeom>
          <a:noFill/>
          <a:ln/>
        </p:spPr>
        <p:txBody>
          <a:bodyPr wrap="square" lIns="0" tIns="0" rIns="0" bIns="0" rtlCol="0" anchor="t"/>
          <a:lstStyle/>
          <a:p>
            <a:pPr indent="0" marL="0">
              <a:buNone/>
            </a:pPr>
            <a:r>
              <a:rPr lang="en-US" sz="1900" b="1" dirty="0">
                <a:solidFill>
                  <a:schemeClr val="tx1"/>
                </a:solidFill>
              </a:rPr>
              <a:t>Sales pipeline</a:t>
            </a:r>
            <a:endParaRPr lang="en-US" sz="1900" dirty="0"/>
          </a:p>
        </p:txBody>
      </p:sp>
      <p:sp>
        <p:nvSpPr>
          <p:cNvPr id="12" name="Text 8"/>
          <p:cNvSpPr txBox="1"/>
          <p:nvPr/>
        </p:nvSpPr>
        <p:spPr>
          <a:xfrm>
            <a:off x="7406640" y="2286000"/>
            <a:ext cx="4023360" cy="1097280"/>
          </a:xfrm>
          <a:prstGeom prst="rect">
            <a:avLst/>
          </a:prstGeom>
          <a:noFill/>
          <a:ln/>
        </p:spPr>
        <p:txBody>
          <a:bodyPr wrap="square" lIns="0" tIns="0" rIns="0" bIns="0" rtlCol="0" anchor="t"/>
          <a:lstStyle/>
          <a:p>
            <a:pPr indent="0" marL="0">
              <a:buNone/>
            </a:pPr>
            <a:r>
              <a:rPr lang="en-US" sz="1500" dirty="0">
                <a:solidFill>
                  <a:schemeClr val="tx2"/>
                </a:solidFill>
              </a:rPr>
              <a:t>Hot, warm and cold leads in clear stages, with AI lead scores and reminders.</a:t>
            </a:r>
            <a:endParaRPr lang="en-US" sz="1500" dirty="0"/>
          </a:p>
        </p:txBody>
      </p:sp>
      <p:sp>
        <p:nvSpPr>
          <p:cNvPr id="13" name="support feature 3"/>
          <p:cNvSpPr/>
          <p:nvPr/>
        </p:nvSpPr>
        <p:spPr>
          <a:xfrm>
            <a:off x="548640" y="3794760"/>
            <a:ext cx="5440680" cy="2148840"/>
          </a:xfrm>
          <a:prstGeom prst="roundRect">
            <a:avLst>
              <a:gd name="adj" fmla="val 5106"/>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14" name="support feature 3 icon circle"/>
          <p:cNvSpPr/>
          <p:nvPr/>
        </p:nvSpPr>
        <p:spPr>
          <a:xfrm>
            <a:off x="868680" y="4160520"/>
            <a:ext cx="685800" cy="685800"/>
          </a:xfrm>
          <a:prstGeom prst="ellipse">
            <a:avLst/>
          </a:prstGeom>
          <a:solidFill>
            <a:schemeClr val="accent2"/>
          </a:solidFill>
          <a:ln/>
        </p:spPr>
      </p:sp>
      <p:pic>
        <p:nvPicPr>
          <p:cNvPr id="15" name="support feature 3 icon" descr="preencoded.png">    </p:cNvPr>
          <p:cNvPicPr>
            <a:picLocks noChangeAspect="1"/>
          </p:cNvPicPr>
          <p:nvPr/>
        </p:nvPicPr>
        <p:blipFill>
          <a:blip r:embed="rId3"/>
          <a:stretch>
            <a:fillRect/>
          </a:stretch>
        </p:blipFill>
        <p:spPr>
          <a:xfrm>
            <a:off x="1033272" y="4325112"/>
            <a:ext cx="356616" cy="356616"/>
          </a:xfrm>
          <a:prstGeom prst="rect">
            <a:avLst/>
          </a:prstGeom>
        </p:spPr>
      </p:pic>
      <p:sp>
        <p:nvSpPr>
          <p:cNvPr id="16" name="Text 11"/>
          <p:cNvSpPr txBox="1"/>
          <p:nvPr/>
        </p:nvSpPr>
        <p:spPr>
          <a:xfrm>
            <a:off x="1783080" y="4178808"/>
            <a:ext cx="4023360" cy="457200"/>
          </a:xfrm>
          <a:prstGeom prst="rect">
            <a:avLst/>
          </a:prstGeom>
          <a:noFill/>
          <a:ln/>
        </p:spPr>
        <p:txBody>
          <a:bodyPr wrap="square" lIns="0" tIns="0" rIns="0" bIns="0" rtlCol="0" anchor="t"/>
          <a:lstStyle/>
          <a:p>
            <a:pPr indent="0" marL="0">
              <a:buNone/>
            </a:pPr>
            <a:r>
              <a:rPr lang="en-US" sz="1900" b="1" dirty="0">
                <a:solidFill>
                  <a:schemeClr val="tx1"/>
                </a:solidFill>
              </a:rPr>
              <a:t>Flow builder and WhatsApp forms</a:t>
            </a:r>
            <a:endParaRPr lang="en-US" sz="1900" dirty="0"/>
          </a:p>
        </p:txBody>
      </p:sp>
      <p:sp>
        <p:nvSpPr>
          <p:cNvPr id="17" name="Text 12"/>
          <p:cNvSpPr txBox="1"/>
          <p:nvPr/>
        </p:nvSpPr>
        <p:spPr>
          <a:xfrm>
            <a:off x="1783080" y="4663440"/>
            <a:ext cx="4023360" cy="1097280"/>
          </a:xfrm>
          <a:prstGeom prst="rect">
            <a:avLst/>
          </a:prstGeom>
          <a:noFill/>
          <a:ln/>
        </p:spPr>
        <p:txBody>
          <a:bodyPr wrap="square" lIns="0" tIns="0" rIns="0" bIns="0" rtlCol="0" anchor="t"/>
          <a:lstStyle/>
          <a:p>
            <a:pPr indent="0" marL="0">
              <a:buNone/>
            </a:pPr>
            <a:r>
              <a:rPr lang="en-US" sz="1500" dirty="0">
                <a:solidFill>
                  <a:schemeClr val="tx2"/>
                </a:solidFill>
              </a:rPr>
              <a:t>Build menus, questions and forms with drag and drop. No coding needed.</a:t>
            </a:r>
            <a:endParaRPr lang="en-US" sz="1500" dirty="0"/>
          </a:p>
        </p:txBody>
      </p:sp>
      <p:sp>
        <p:nvSpPr>
          <p:cNvPr id="18" name="support feature 4"/>
          <p:cNvSpPr/>
          <p:nvPr/>
        </p:nvSpPr>
        <p:spPr>
          <a:xfrm>
            <a:off x="6172200" y="3794760"/>
            <a:ext cx="5440680" cy="2148840"/>
          </a:xfrm>
          <a:prstGeom prst="roundRect">
            <a:avLst>
              <a:gd name="adj" fmla="val 5106"/>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19" name="support feature 4 icon circle"/>
          <p:cNvSpPr/>
          <p:nvPr/>
        </p:nvSpPr>
        <p:spPr>
          <a:xfrm>
            <a:off x="6492240" y="4160520"/>
            <a:ext cx="685800" cy="685800"/>
          </a:xfrm>
          <a:prstGeom prst="ellipse">
            <a:avLst/>
          </a:prstGeom>
          <a:solidFill>
            <a:schemeClr val="accent4"/>
          </a:solidFill>
          <a:ln/>
        </p:spPr>
      </p:sp>
      <p:pic>
        <p:nvPicPr>
          <p:cNvPr id="20" name="support feature 4 icon" descr="preencoded.png">    </p:cNvPr>
          <p:cNvPicPr>
            <a:picLocks noChangeAspect="1"/>
          </p:cNvPicPr>
          <p:nvPr/>
        </p:nvPicPr>
        <p:blipFill>
          <a:blip r:embed="rId4"/>
          <a:stretch>
            <a:fillRect/>
          </a:stretch>
        </p:blipFill>
        <p:spPr>
          <a:xfrm>
            <a:off x="6656832" y="4325112"/>
            <a:ext cx="356616" cy="356616"/>
          </a:xfrm>
          <a:prstGeom prst="rect">
            <a:avLst/>
          </a:prstGeom>
        </p:spPr>
      </p:pic>
      <p:sp>
        <p:nvSpPr>
          <p:cNvPr id="21" name="Text 15"/>
          <p:cNvSpPr txBox="1"/>
          <p:nvPr/>
        </p:nvSpPr>
        <p:spPr>
          <a:xfrm>
            <a:off x="7406640" y="4178808"/>
            <a:ext cx="4023360" cy="457200"/>
          </a:xfrm>
          <a:prstGeom prst="rect">
            <a:avLst/>
          </a:prstGeom>
          <a:noFill/>
          <a:ln/>
        </p:spPr>
        <p:txBody>
          <a:bodyPr wrap="square" lIns="0" tIns="0" rIns="0" bIns="0" rtlCol="0" anchor="t"/>
          <a:lstStyle/>
          <a:p>
            <a:pPr indent="0" marL="0">
              <a:buNone/>
            </a:pPr>
            <a:r>
              <a:rPr lang="en-US" sz="1900" b="1" dirty="0">
                <a:solidFill>
                  <a:schemeClr val="tx1"/>
                </a:solidFill>
              </a:rPr>
              <a:t>Reports and insights</a:t>
            </a:r>
            <a:endParaRPr lang="en-US" sz="1900" dirty="0"/>
          </a:p>
        </p:txBody>
      </p:sp>
      <p:sp>
        <p:nvSpPr>
          <p:cNvPr id="22" name="Text 16"/>
          <p:cNvSpPr txBox="1"/>
          <p:nvPr/>
        </p:nvSpPr>
        <p:spPr>
          <a:xfrm>
            <a:off x="7406640" y="4663440"/>
            <a:ext cx="4023360" cy="1097280"/>
          </a:xfrm>
          <a:prstGeom prst="rect">
            <a:avLst/>
          </a:prstGeom>
          <a:noFill/>
          <a:ln/>
        </p:spPr>
        <p:txBody>
          <a:bodyPr wrap="square" lIns="0" tIns="0" rIns="0" bIns="0" rtlCol="0" anchor="t"/>
          <a:lstStyle/>
          <a:p>
            <a:pPr indent="0" marL="0">
              <a:buNone/>
            </a:pPr>
            <a:r>
              <a:rPr lang="en-US" sz="1500" dirty="0">
                <a:solidFill>
                  <a:schemeClr val="tx2"/>
                </a:solidFill>
              </a:rPr>
              <a:t>Leads, replies, sales and team performance on one dashboard.</a:t>
            </a:r>
            <a:endParaRPr lang="en-US" sz="15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What changes for your business</a:t>
            </a:r>
            <a:endParaRPr lang="en-US" sz="3200" dirty="0"/>
          </a:p>
        </p:txBody>
      </p:sp>
      <p:graphicFrame>
        <p:nvGraphicFramePr>
          <p:cNvPr id="12" name="before and after table"/>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554480"/>
                <a:gridCol w="2560320"/>
                <a:gridCol w="2834640"/>
              </a:tblGrid>
              <a:tr h="566928">
                <a:tc>
                  <a:txBody>
                    <a:bodyPr/>
                    <a:lstStyle/>
                    <a:p>
                      <a:pPr indent="0" marL="0">
                        <a:buNone/>
                      </a:pP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Before</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chemeClr val="accent5"/>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With WAMA CRM</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chemeClr val="accent2"/>
                    </a:solidFill>
                  </a:tcPr>
                </a:tc>
              </a:tr>
              <a:tr h="566928">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Reply time</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c>
                  <a:txBody>
                    <a:bodyPr/>
                    <a:lstStyle/>
                    <a:p>
                      <a:pPr indent="0" marL="0">
                        <a:buNone/>
                      </a:pPr>
                      <a:r>
                        <a:rPr lang="en-US" sz="1500" dirty="0">
                          <a:solidFill>
                            <a:schemeClr val="tx2"/>
                          </a:solidFill>
                          <a:latin typeface="Calibri" pitchFamily="34" charset="0"/>
                          <a:ea typeface="Calibri" pitchFamily="34" charset="-122"/>
                          <a:cs typeface="Calibri" pitchFamily="34" charset="-120"/>
                        </a:rPr>
                        <a:t>Hours, or next day</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Seconds, 24 hours a day</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r>
              <a:tr h="566928">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Leads</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c>
                  <a:txBody>
                    <a:bodyPr/>
                    <a:lstStyle/>
                    <a:p>
                      <a:pPr indent="0" marL="0">
                        <a:buNone/>
                      </a:pPr>
                      <a:r>
                        <a:rPr lang="en-US" sz="1500" dirty="0">
                          <a:solidFill>
                            <a:schemeClr val="tx2"/>
                          </a:solidFill>
                          <a:latin typeface="Calibri" pitchFamily="34" charset="0"/>
                          <a:ea typeface="Calibri" pitchFamily="34" charset="-122"/>
                          <a:cs typeface="Calibri" pitchFamily="34" charset="-120"/>
                        </a:rPr>
                        <a:t>Lost in staff phones</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Every lead saved in the CRM</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r>
              <a:tr h="566928">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Team</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c>
                  <a:txBody>
                    <a:bodyPr/>
                    <a:lstStyle/>
                    <a:p>
                      <a:pPr indent="0" marL="0">
                        <a:buNone/>
                      </a:pPr>
                      <a:r>
                        <a:rPr lang="en-US" sz="1500" dirty="0">
                          <a:solidFill>
                            <a:schemeClr val="tx2"/>
                          </a:solidFill>
                          <a:latin typeface="Calibri" pitchFamily="34" charset="0"/>
                          <a:ea typeface="Calibri" pitchFamily="34" charset="-122"/>
                          <a:cs typeface="Calibri" pitchFamily="34" charset="-120"/>
                        </a:rPr>
                        <a:t>One phone, one person</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Whole team on one number</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r>
              <a:tr h="566928">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Selling</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c>
                  <a:txBody>
                    <a:bodyPr/>
                    <a:lstStyle/>
                    <a:p>
                      <a:pPr indent="0" marL="0">
                        <a:buNone/>
                      </a:pPr>
                      <a:r>
                        <a:rPr lang="en-US" sz="1500" dirty="0">
                          <a:solidFill>
                            <a:schemeClr val="tx2"/>
                          </a:solidFill>
                          <a:latin typeface="Calibri" pitchFamily="34" charset="0"/>
                          <a:ea typeface="Calibri" pitchFamily="34" charset="-122"/>
                          <a:cs typeface="Calibri" pitchFamily="34" charset="-120"/>
                        </a:rPr>
                        <a:t>Send to website or call back</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Order and pay inside the chat</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r>
              <a:tr h="566928">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Marketing</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c>
                  <a:txBody>
                    <a:bodyPr/>
                    <a:lstStyle/>
                    <a:p>
                      <a:pPr indent="0" marL="0">
                        <a:buNone/>
                      </a:pPr>
                      <a:r>
                        <a:rPr lang="en-US" sz="1500" dirty="0">
                          <a:solidFill>
                            <a:schemeClr val="tx2"/>
                          </a:solidFill>
                          <a:latin typeface="Calibri" pitchFamily="34" charset="0"/>
                          <a:ea typeface="Calibri" pitchFamily="34" charset="-122"/>
                          <a:cs typeface="Calibri" pitchFamily="34" charset="-120"/>
                        </a:rPr>
                        <a:t>Copy-paste, risk of block</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Official, tracked campaigns</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r>
              <a:tr h="566928">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Decisions</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c>
                  <a:txBody>
                    <a:bodyPr/>
                    <a:lstStyle/>
                    <a:p>
                      <a:pPr indent="0" marL="0">
                        <a:buNone/>
                      </a:pPr>
                      <a:r>
                        <a:rPr lang="en-US" sz="1500" dirty="0">
                          <a:solidFill>
                            <a:schemeClr val="tx2"/>
                          </a:solidFill>
                          <a:latin typeface="Calibri" pitchFamily="34" charset="0"/>
                          <a:ea typeface="Calibri" pitchFamily="34" charset="-122"/>
                          <a:cs typeface="Calibri" pitchFamily="34" charset="-120"/>
                        </a:rPr>
                        <a:t>Guesswork</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Live reports</a:t>
                      </a:r>
                      <a:endParaRPr lang="en-US" sz="1500" dirty="0">
                        <a:latin typeface="Calibri" charset="0"/>
                        <a:ea typeface="Calibri" charset="0"/>
                        <a:cs typeface="Calibri" charset="0"/>
                      </a:endParaRPr>
                    </a:p>
                  </a:txBody>
                  <a:tcPr marL="73152" marR="73152" marT="73152" marB="73152"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tcPr>
                </a:tc>
              </a:tr>
            </a:tbl>
          </a:graphicData>
        </a:graphic>
      </p:graphicFrame>
      <p:sp>
        <p:nvSpPr>
          <p:cNvPr id="4" name="gain callout"/>
          <p:cNvSpPr/>
          <p:nvPr/>
        </p:nvSpPr>
        <p:spPr>
          <a:xfrm>
            <a:off x="7863840" y="1371600"/>
            <a:ext cx="3749040" cy="3977640"/>
          </a:xfrm>
          <a:prstGeom prst="roundRect">
            <a:avLst>
              <a:gd name="adj" fmla="val 2927"/>
            </a:avLst>
          </a:prstGeom>
          <a:solidFill>
            <a:schemeClr val="tx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5" name="Text 2"/>
          <p:cNvSpPr txBox="1"/>
          <p:nvPr/>
        </p:nvSpPr>
        <p:spPr>
          <a:xfrm>
            <a:off x="8183880" y="1645920"/>
            <a:ext cx="3108960" cy="365760"/>
          </a:xfrm>
          <a:prstGeom prst="rect">
            <a:avLst/>
          </a:prstGeom>
          <a:noFill/>
          <a:ln/>
        </p:spPr>
        <p:txBody>
          <a:bodyPr wrap="square" lIns="0" tIns="0" rIns="0" bIns="0" rtlCol="0" anchor="t"/>
          <a:lstStyle/>
          <a:p>
            <a:pPr indent="0" marL="0">
              <a:buNone/>
            </a:pPr>
            <a:r>
              <a:rPr lang="en-US" sz="1500" dirty="0">
                <a:solidFill>
                  <a:srgbClr val="9FB0D6"/>
                </a:solidFill>
              </a:rPr>
              <a:t>In our example</a:t>
            </a:r>
            <a:endParaRPr lang="en-US" sz="1500" dirty="0"/>
          </a:p>
        </p:txBody>
      </p:sp>
      <p:sp>
        <p:nvSpPr>
          <p:cNvPr id="6" name="Text 3"/>
          <p:cNvSpPr txBox="1"/>
          <p:nvPr/>
        </p:nvSpPr>
        <p:spPr>
          <a:xfrm>
            <a:off x="8183880" y="2057400"/>
            <a:ext cx="3108960" cy="822960"/>
          </a:xfrm>
          <a:prstGeom prst="rect">
            <a:avLst/>
          </a:prstGeom>
          <a:noFill/>
          <a:ln/>
        </p:spPr>
        <p:txBody>
          <a:bodyPr wrap="square" lIns="0" tIns="0" rIns="0" bIns="0" rtlCol="0" anchor="t"/>
          <a:lstStyle/>
          <a:p>
            <a:pPr indent="0" marL="0">
              <a:buNone/>
            </a:pPr>
            <a:r>
              <a:rPr lang="en-US" sz="4800" b="1" dirty="0">
                <a:solidFill>
                  <a:srgbClr val="3BE07A"/>
                </a:solidFill>
              </a:rPr>
              <a:t>₹3.3 lakh</a:t>
            </a:r>
            <a:endParaRPr lang="en-US" sz="4800" dirty="0"/>
          </a:p>
        </p:txBody>
      </p:sp>
      <p:sp>
        <p:nvSpPr>
          <p:cNvPr id="7" name="Text 4"/>
          <p:cNvSpPr txBox="1"/>
          <p:nvPr/>
        </p:nvSpPr>
        <p:spPr>
          <a:xfrm>
            <a:off x="8183880" y="2926080"/>
            <a:ext cx="3108960" cy="914400"/>
          </a:xfrm>
          <a:prstGeom prst="rect">
            <a:avLst/>
          </a:prstGeom>
          <a:noFill/>
          <a:ln/>
        </p:spPr>
        <p:txBody>
          <a:bodyPr wrap="square" lIns="0" tIns="0" rIns="0" bIns="0" rtlCol="0" anchor="t"/>
          <a:lstStyle/>
          <a:p>
            <a:pPr indent="0" marL="0">
              <a:buNone/>
            </a:pPr>
            <a:r>
              <a:rPr lang="en-US" sz="1600" dirty="0">
                <a:solidFill>
                  <a:schemeClr val="bg1"/>
                </a:solidFill>
              </a:rPr>
              <a:t>extra a year by saving just half of the lost sales and staff time</a:t>
            </a:r>
            <a:endParaRPr lang="en-US" sz="1600" dirty="0"/>
          </a:p>
        </p:txBody>
      </p:sp>
      <p:sp>
        <p:nvSpPr>
          <p:cNvPr id="8" name="Text 5"/>
          <p:cNvSpPr txBox="1"/>
          <p:nvPr/>
        </p:nvSpPr>
        <p:spPr>
          <a:xfrm>
            <a:off x="8183880" y="4160520"/>
            <a:ext cx="3108960" cy="822960"/>
          </a:xfrm>
          <a:prstGeom prst="rect">
            <a:avLst/>
          </a:prstGeom>
          <a:noFill/>
          <a:ln/>
        </p:spPr>
        <p:txBody>
          <a:bodyPr wrap="square" lIns="0" tIns="0" rIns="0" bIns="0" rtlCol="0" anchor="t"/>
          <a:lstStyle/>
          <a:p>
            <a:pPr indent="0" marL="0">
              <a:buNone/>
            </a:pPr>
            <a:r>
              <a:rPr lang="en-US" sz="1300" i="1" dirty="0">
                <a:solidFill>
                  <a:srgbClr val="9FB0D6"/>
                </a:solidFill>
              </a:rPr>
              <a:t>Half of ₹6.7 lakh. Most businesses save more.</a:t>
            </a:r>
            <a:endParaRPr lang="en-US" sz="13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Trusted by organisations that serve people</a:t>
            </a:r>
            <a:endParaRPr lang="en-US" sz="3200" dirty="0"/>
          </a:p>
        </p:txBody>
      </p:sp>
      <p:sp>
        <p:nvSpPr>
          <p:cNvPr id="3" name="DEEP INDIA card"/>
          <p:cNvSpPr/>
          <p:nvPr/>
        </p:nvSpPr>
        <p:spPr>
          <a:xfrm>
            <a:off x="548640" y="1371600"/>
            <a:ext cx="5440680" cy="4754880"/>
          </a:xfrm>
          <a:prstGeom prst="roundRect">
            <a:avLst>
              <a:gd name="adj" fmla="val 2308"/>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4" name="DEEP INDIA logo area"/>
          <p:cNvSpPr/>
          <p:nvPr/>
        </p:nvSpPr>
        <p:spPr>
          <a:xfrm>
            <a:off x="868680" y="1645920"/>
            <a:ext cx="4800600" cy="1143000"/>
          </a:xfrm>
          <a:prstGeom prst="roundRect">
            <a:avLst>
              <a:gd name="adj" fmla="val 8000"/>
            </a:avLst>
          </a:prstGeom>
          <a:solidFill>
            <a:schemeClr val="bg2"/>
          </a:solidFill>
          <a:ln w="12700">
            <a:solidFill>
              <a:srgbClr val="E1E7F2"/>
            </a:solidFill>
            <a:prstDash val="solid"/>
          </a:ln>
        </p:spPr>
      </p:sp>
      <p:sp>
        <p:nvSpPr>
          <p:cNvPr id="5" name="DEEP INDIA logo"/>
          <p:cNvSpPr txBox="1"/>
          <p:nvPr/>
        </p:nvSpPr>
        <p:spPr>
          <a:xfrm>
            <a:off x="1051560" y="1691640"/>
            <a:ext cx="4434840" cy="685800"/>
          </a:xfrm>
          <a:prstGeom prst="rect">
            <a:avLst/>
          </a:prstGeom>
          <a:noFill/>
          <a:ln/>
        </p:spPr>
        <p:txBody>
          <a:bodyPr wrap="square" lIns="0" tIns="0" rIns="0" bIns="0" rtlCol="0" anchor="ctr"/>
          <a:lstStyle/>
          <a:p>
            <a:pPr algn="ctr" indent="0" marL="0">
              <a:buNone/>
            </a:pPr>
            <a:r>
              <a:rPr lang="en-US" sz="2600" b="1" dirty="0">
                <a:solidFill>
                  <a:schemeClr val="tx1"/>
                </a:solidFill>
              </a:rPr>
              <a:t>DEEP INDIA</a:t>
            </a:r>
            <a:endParaRPr lang="en-US" sz="2600" dirty="0"/>
          </a:p>
        </p:txBody>
      </p:sp>
      <p:sp>
        <p:nvSpPr>
          <p:cNvPr id="6" name="Text 4"/>
          <p:cNvSpPr txBox="1"/>
          <p:nvPr/>
        </p:nvSpPr>
        <p:spPr>
          <a:xfrm>
            <a:off x="1051560" y="2331720"/>
            <a:ext cx="4434840" cy="365760"/>
          </a:xfrm>
          <a:prstGeom prst="rect">
            <a:avLst/>
          </a:prstGeom>
          <a:noFill/>
          <a:ln/>
        </p:spPr>
        <p:txBody>
          <a:bodyPr wrap="square" lIns="0" tIns="0" rIns="0" bIns="0" rtlCol="0" anchor="t"/>
          <a:lstStyle/>
          <a:p>
            <a:pPr algn="ctr" indent="0" marL="0">
              <a:buNone/>
            </a:pPr>
            <a:r>
              <a:rPr lang="en-US" sz="1400" dirty="0">
                <a:solidFill>
                  <a:schemeClr val="accent1"/>
                </a:solidFill>
              </a:rPr>
              <a:t>deepindia.org</a:t>
            </a:r>
            <a:endParaRPr lang="en-US" sz="1400" dirty="0"/>
          </a:p>
        </p:txBody>
      </p:sp>
      <p:sp>
        <p:nvSpPr>
          <p:cNvPr id="7" name="DEEP INDIA use icon circle"/>
          <p:cNvSpPr/>
          <p:nvPr/>
        </p:nvSpPr>
        <p:spPr>
          <a:xfrm>
            <a:off x="868680" y="3063240"/>
            <a:ext cx="566928" cy="566928"/>
          </a:xfrm>
          <a:prstGeom prst="ellipse">
            <a:avLst/>
          </a:prstGeom>
          <a:solidFill>
            <a:schemeClr val="accent5"/>
          </a:solidFill>
          <a:ln/>
        </p:spPr>
      </p:sp>
      <p:pic>
        <p:nvPicPr>
          <p:cNvPr id="8" name="DEEP INDIA use icon" descr="preencoded.png">    </p:cNvPr>
          <p:cNvPicPr>
            <a:picLocks noChangeAspect="1"/>
          </p:cNvPicPr>
          <p:nvPr/>
        </p:nvPicPr>
        <p:blipFill>
          <a:blip r:embed="rId1"/>
          <a:stretch>
            <a:fillRect/>
          </a:stretch>
        </p:blipFill>
        <p:spPr>
          <a:xfrm>
            <a:off x="1004743" y="3199303"/>
            <a:ext cx="294803" cy="294803"/>
          </a:xfrm>
          <a:prstGeom prst="rect">
            <a:avLst/>
          </a:prstGeom>
        </p:spPr>
      </p:pic>
      <p:sp>
        <p:nvSpPr>
          <p:cNvPr id="9" name="Text 6"/>
          <p:cNvSpPr txBox="1"/>
          <p:nvPr/>
        </p:nvSpPr>
        <p:spPr>
          <a:xfrm>
            <a:off x="1600200" y="3063240"/>
            <a:ext cx="4114800" cy="566928"/>
          </a:xfrm>
          <a:prstGeom prst="rect">
            <a:avLst/>
          </a:prstGeom>
          <a:noFill/>
          <a:ln/>
        </p:spPr>
        <p:txBody>
          <a:bodyPr wrap="square" lIns="0" tIns="0" rIns="0" bIns="0" rtlCol="0" anchor="ctr"/>
          <a:lstStyle/>
          <a:p>
            <a:pPr indent="0" marL="0">
              <a:buNone/>
            </a:pPr>
            <a:r>
              <a:rPr lang="en-US" sz="1800" b="1" dirty="0">
                <a:solidFill>
                  <a:schemeClr val="tx1"/>
                </a:solidFill>
              </a:rPr>
              <a:t>Health screening campaigns and support</a:t>
            </a:r>
            <a:endParaRPr lang="en-US" sz="1800" dirty="0"/>
          </a:p>
        </p:txBody>
      </p:sp>
      <p:sp>
        <p:nvSpPr>
          <p:cNvPr id="10" name="Text 7"/>
          <p:cNvSpPr txBox="1"/>
          <p:nvPr/>
        </p:nvSpPr>
        <p:spPr>
          <a:xfrm>
            <a:off x="868680" y="3794760"/>
            <a:ext cx="4800600" cy="1097280"/>
          </a:xfrm>
          <a:prstGeom prst="rect">
            <a:avLst/>
          </a:prstGeom>
          <a:noFill/>
          <a:ln/>
        </p:spPr>
        <p:txBody>
          <a:bodyPr wrap="square" lIns="0" tIns="0" rIns="0" bIns="0" rtlCol="0" anchor="t"/>
          <a:lstStyle/>
          <a:p>
            <a:pPr indent="0" marL="0">
              <a:buNone/>
            </a:pPr>
            <a:r>
              <a:rPr lang="en-US" sz="1500" dirty="0">
                <a:solidFill>
                  <a:schemeClr val="tx2"/>
                </a:solidFill>
              </a:rPr>
              <a:t>Uses WAMA CRM to run WhatsApp campaigns for health screening, and to answer and support people who reach out.</a:t>
            </a:r>
            <a:endParaRPr lang="en-US" sz="1500" dirty="0"/>
          </a:p>
        </p:txBody>
      </p:sp>
      <p:sp>
        <p:nvSpPr>
          <p:cNvPr id="11" name="DEEP INDIA feature 1"/>
          <p:cNvSpPr/>
          <p:nvPr/>
        </p:nvSpPr>
        <p:spPr>
          <a:xfrm>
            <a:off x="868680" y="4983480"/>
            <a:ext cx="2286000" cy="365760"/>
          </a:xfrm>
          <a:prstGeom prst="roundRect">
            <a:avLst>
              <a:gd name="adj" fmla="val 50000"/>
            </a:avLst>
          </a:prstGeom>
          <a:solidFill>
            <a:srgbClr val="E8F7EF"/>
          </a:solidFill>
          <a:ln/>
        </p:spPr>
      </p:sp>
      <p:sp>
        <p:nvSpPr>
          <p:cNvPr id="12" name="Text 9"/>
          <p:cNvSpPr txBox="1"/>
          <p:nvPr/>
        </p:nvSpPr>
        <p:spPr>
          <a:xfrm>
            <a:off x="868680" y="4983480"/>
            <a:ext cx="2286000" cy="365760"/>
          </a:xfrm>
          <a:prstGeom prst="rect">
            <a:avLst/>
          </a:prstGeom>
          <a:noFill/>
          <a:ln/>
        </p:spPr>
        <p:txBody>
          <a:bodyPr wrap="square" lIns="0" tIns="0" rIns="0" bIns="0" rtlCol="0" anchor="ctr"/>
          <a:lstStyle/>
          <a:p>
            <a:pPr algn="ctr" indent="0" marL="0">
              <a:buNone/>
            </a:pPr>
            <a:r>
              <a:rPr lang="en-US" sz="1200" b="1" dirty="0">
                <a:solidFill>
                  <a:schemeClr val="accent2"/>
                </a:solidFill>
              </a:rPr>
              <a:t>Bulk campaigns</a:t>
            </a:r>
            <a:endParaRPr lang="en-US" sz="1200" dirty="0"/>
          </a:p>
        </p:txBody>
      </p:sp>
      <p:sp>
        <p:nvSpPr>
          <p:cNvPr id="13" name="DEEP INDIA feature 2"/>
          <p:cNvSpPr/>
          <p:nvPr/>
        </p:nvSpPr>
        <p:spPr>
          <a:xfrm>
            <a:off x="3291840" y="4983480"/>
            <a:ext cx="2286000" cy="365760"/>
          </a:xfrm>
          <a:prstGeom prst="roundRect">
            <a:avLst>
              <a:gd name="adj" fmla="val 50000"/>
            </a:avLst>
          </a:prstGeom>
          <a:solidFill>
            <a:srgbClr val="E8F7EF"/>
          </a:solidFill>
          <a:ln/>
        </p:spPr>
      </p:sp>
      <p:sp>
        <p:nvSpPr>
          <p:cNvPr id="14" name="Text 11"/>
          <p:cNvSpPr txBox="1"/>
          <p:nvPr/>
        </p:nvSpPr>
        <p:spPr>
          <a:xfrm>
            <a:off x="3291840" y="4983480"/>
            <a:ext cx="2286000" cy="365760"/>
          </a:xfrm>
          <a:prstGeom prst="rect">
            <a:avLst/>
          </a:prstGeom>
          <a:noFill/>
          <a:ln/>
        </p:spPr>
        <p:txBody>
          <a:bodyPr wrap="square" lIns="0" tIns="0" rIns="0" bIns="0" rtlCol="0" anchor="ctr"/>
          <a:lstStyle/>
          <a:p>
            <a:pPr algn="ctr" indent="0" marL="0">
              <a:buNone/>
            </a:pPr>
            <a:r>
              <a:rPr lang="en-US" sz="1200" b="1" dirty="0">
                <a:solidFill>
                  <a:schemeClr val="accent2"/>
                </a:solidFill>
              </a:rPr>
              <a:t>Meta templates</a:t>
            </a:r>
            <a:endParaRPr lang="en-US" sz="1200" dirty="0"/>
          </a:p>
        </p:txBody>
      </p:sp>
      <p:sp>
        <p:nvSpPr>
          <p:cNvPr id="15" name="DEEP INDIA feature 3"/>
          <p:cNvSpPr/>
          <p:nvPr/>
        </p:nvSpPr>
        <p:spPr>
          <a:xfrm>
            <a:off x="868680" y="5440680"/>
            <a:ext cx="2286000" cy="365760"/>
          </a:xfrm>
          <a:prstGeom prst="roundRect">
            <a:avLst>
              <a:gd name="adj" fmla="val 50000"/>
            </a:avLst>
          </a:prstGeom>
          <a:solidFill>
            <a:srgbClr val="E8F7EF"/>
          </a:solidFill>
          <a:ln/>
        </p:spPr>
      </p:sp>
      <p:sp>
        <p:nvSpPr>
          <p:cNvPr id="16" name="Text 13"/>
          <p:cNvSpPr txBox="1"/>
          <p:nvPr/>
        </p:nvSpPr>
        <p:spPr>
          <a:xfrm>
            <a:off x="868680" y="5440680"/>
            <a:ext cx="2286000" cy="365760"/>
          </a:xfrm>
          <a:prstGeom prst="rect">
            <a:avLst/>
          </a:prstGeom>
          <a:noFill/>
          <a:ln/>
        </p:spPr>
        <p:txBody>
          <a:bodyPr wrap="square" lIns="0" tIns="0" rIns="0" bIns="0" rtlCol="0" anchor="ctr"/>
          <a:lstStyle/>
          <a:p>
            <a:pPr algn="ctr" indent="0" marL="0">
              <a:buNone/>
            </a:pPr>
            <a:r>
              <a:rPr lang="en-US" sz="1200" b="1" dirty="0">
                <a:solidFill>
                  <a:schemeClr val="accent2"/>
                </a:solidFill>
              </a:rPr>
              <a:t>Team inbox</a:t>
            </a:r>
            <a:endParaRPr lang="en-US" sz="1200" dirty="0"/>
          </a:p>
        </p:txBody>
      </p:sp>
      <p:sp>
        <p:nvSpPr>
          <p:cNvPr id="17" name="DEEP INDIA feature 4"/>
          <p:cNvSpPr/>
          <p:nvPr/>
        </p:nvSpPr>
        <p:spPr>
          <a:xfrm>
            <a:off x="3291840" y="5440680"/>
            <a:ext cx="2286000" cy="365760"/>
          </a:xfrm>
          <a:prstGeom prst="roundRect">
            <a:avLst>
              <a:gd name="adj" fmla="val 50000"/>
            </a:avLst>
          </a:prstGeom>
          <a:solidFill>
            <a:srgbClr val="E8F7EF"/>
          </a:solidFill>
          <a:ln/>
        </p:spPr>
      </p:sp>
      <p:sp>
        <p:nvSpPr>
          <p:cNvPr id="18" name="Text 15"/>
          <p:cNvSpPr txBox="1"/>
          <p:nvPr/>
        </p:nvSpPr>
        <p:spPr>
          <a:xfrm>
            <a:off x="3291840" y="5440680"/>
            <a:ext cx="2286000" cy="365760"/>
          </a:xfrm>
          <a:prstGeom prst="rect">
            <a:avLst/>
          </a:prstGeom>
          <a:noFill/>
          <a:ln/>
        </p:spPr>
        <p:txBody>
          <a:bodyPr wrap="square" lIns="0" tIns="0" rIns="0" bIns="0" rtlCol="0" anchor="ctr"/>
          <a:lstStyle/>
          <a:p>
            <a:pPr algn="ctr" indent="0" marL="0">
              <a:buNone/>
            </a:pPr>
            <a:r>
              <a:rPr lang="en-US" sz="1200" b="1" dirty="0">
                <a:solidFill>
                  <a:schemeClr val="accent2"/>
                </a:solidFill>
              </a:rPr>
              <a:t>Contacts</a:t>
            </a:r>
            <a:endParaRPr lang="en-US" sz="1200" dirty="0"/>
          </a:p>
        </p:txBody>
      </p:sp>
      <p:sp>
        <p:nvSpPr>
          <p:cNvPr id="19" name="CONSULAR HELPDESK card"/>
          <p:cNvSpPr/>
          <p:nvPr/>
        </p:nvSpPr>
        <p:spPr>
          <a:xfrm>
            <a:off x="6172200" y="1371600"/>
            <a:ext cx="5440680" cy="4754880"/>
          </a:xfrm>
          <a:prstGeom prst="roundRect">
            <a:avLst>
              <a:gd name="adj" fmla="val 2308"/>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20" name="CONSULAR HELPDESK logo area"/>
          <p:cNvSpPr/>
          <p:nvPr/>
        </p:nvSpPr>
        <p:spPr>
          <a:xfrm>
            <a:off x="6492240" y="1645920"/>
            <a:ext cx="4800600" cy="1143000"/>
          </a:xfrm>
          <a:prstGeom prst="roundRect">
            <a:avLst>
              <a:gd name="adj" fmla="val 8000"/>
            </a:avLst>
          </a:prstGeom>
          <a:solidFill>
            <a:schemeClr val="bg2"/>
          </a:solidFill>
          <a:ln w="12700">
            <a:solidFill>
              <a:srgbClr val="E1E7F2"/>
            </a:solidFill>
            <a:prstDash val="solid"/>
          </a:ln>
        </p:spPr>
      </p:sp>
      <p:sp>
        <p:nvSpPr>
          <p:cNvPr id="21" name="CONSULAR HELPDESK logo"/>
          <p:cNvSpPr txBox="1"/>
          <p:nvPr/>
        </p:nvSpPr>
        <p:spPr>
          <a:xfrm>
            <a:off x="6675120" y="1691640"/>
            <a:ext cx="4434840" cy="685800"/>
          </a:xfrm>
          <a:prstGeom prst="rect">
            <a:avLst/>
          </a:prstGeom>
          <a:noFill/>
          <a:ln/>
        </p:spPr>
        <p:txBody>
          <a:bodyPr wrap="square" lIns="0" tIns="0" rIns="0" bIns="0" rtlCol="0" anchor="ctr"/>
          <a:lstStyle/>
          <a:p>
            <a:pPr algn="ctr" indent="0" marL="0">
              <a:buNone/>
            </a:pPr>
            <a:r>
              <a:rPr lang="en-US" sz="2600" b="1" dirty="0">
                <a:solidFill>
                  <a:schemeClr val="tx1"/>
                </a:solidFill>
              </a:rPr>
              <a:t>CONSULAR HELPDESK</a:t>
            </a:r>
            <a:endParaRPr lang="en-US" sz="2600" dirty="0"/>
          </a:p>
        </p:txBody>
      </p:sp>
      <p:sp>
        <p:nvSpPr>
          <p:cNvPr id="22" name="Text 19"/>
          <p:cNvSpPr txBox="1"/>
          <p:nvPr/>
        </p:nvSpPr>
        <p:spPr>
          <a:xfrm>
            <a:off x="6675120" y="2331720"/>
            <a:ext cx="4434840" cy="365760"/>
          </a:xfrm>
          <a:prstGeom prst="rect">
            <a:avLst/>
          </a:prstGeom>
          <a:noFill/>
          <a:ln/>
        </p:spPr>
        <p:txBody>
          <a:bodyPr wrap="square" lIns="0" tIns="0" rIns="0" bIns="0" rtlCol="0" anchor="t"/>
          <a:lstStyle/>
          <a:p>
            <a:pPr algn="ctr" indent="0" marL="0">
              <a:buNone/>
            </a:pPr>
            <a:r>
              <a:rPr lang="en-US" sz="1400" dirty="0">
                <a:solidFill>
                  <a:schemeClr val="accent1"/>
                </a:solidFill>
              </a:rPr>
              <a:t>consularhelpdesk.com</a:t>
            </a:r>
            <a:endParaRPr lang="en-US" sz="1400" dirty="0"/>
          </a:p>
        </p:txBody>
      </p:sp>
      <p:sp>
        <p:nvSpPr>
          <p:cNvPr id="23" name="CONSULAR HELPDESK use icon circle"/>
          <p:cNvSpPr/>
          <p:nvPr/>
        </p:nvSpPr>
        <p:spPr>
          <a:xfrm>
            <a:off x="6492240" y="3063240"/>
            <a:ext cx="566928" cy="566928"/>
          </a:xfrm>
          <a:prstGeom prst="ellipse">
            <a:avLst/>
          </a:prstGeom>
          <a:solidFill>
            <a:schemeClr val="accent1"/>
          </a:solidFill>
          <a:ln/>
        </p:spPr>
      </p:sp>
      <p:pic>
        <p:nvPicPr>
          <p:cNvPr id="24" name="CONSULAR HELPDESK use icon" descr="preencoded.png">    </p:cNvPr>
          <p:cNvPicPr>
            <a:picLocks noChangeAspect="1"/>
          </p:cNvPicPr>
          <p:nvPr/>
        </p:nvPicPr>
        <p:blipFill>
          <a:blip r:embed="rId2"/>
          <a:stretch>
            <a:fillRect/>
          </a:stretch>
        </p:blipFill>
        <p:spPr>
          <a:xfrm>
            <a:off x="6628303" y="3199303"/>
            <a:ext cx="294803" cy="294803"/>
          </a:xfrm>
          <a:prstGeom prst="rect">
            <a:avLst/>
          </a:prstGeom>
        </p:spPr>
      </p:pic>
      <p:sp>
        <p:nvSpPr>
          <p:cNvPr id="25" name="Text 21"/>
          <p:cNvSpPr txBox="1"/>
          <p:nvPr/>
        </p:nvSpPr>
        <p:spPr>
          <a:xfrm>
            <a:off x="7223760" y="3063240"/>
            <a:ext cx="4114800" cy="566928"/>
          </a:xfrm>
          <a:prstGeom prst="rect">
            <a:avLst/>
          </a:prstGeom>
          <a:noFill/>
          <a:ln/>
        </p:spPr>
        <p:txBody>
          <a:bodyPr wrap="square" lIns="0" tIns="0" rIns="0" bIns="0" rtlCol="0" anchor="ctr"/>
          <a:lstStyle/>
          <a:p>
            <a:pPr indent="0" marL="0">
              <a:buNone/>
            </a:pPr>
            <a:r>
              <a:rPr lang="en-US" sz="1800" b="1" dirty="0">
                <a:solidFill>
                  <a:schemeClr val="tx1"/>
                </a:solidFill>
              </a:rPr>
              <a:t>AI chat support with ticketing</a:t>
            </a:r>
            <a:endParaRPr lang="en-US" sz="1800" dirty="0"/>
          </a:p>
        </p:txBody>
      </p:sp>
      <p:sp>
        <p:nvSpPr>
          <p:cNvPr id="26" name="Text 22"/>
          <p:cNvSpPr txBox="1"/>
          <p:nvPr/>
        </p:nvSpPr>
        <p:spPr>
          <a:xfrm>
            <a:off x="6492240" y="3794760"/>
            <a:ext cx="4800600" cy="1097280"/>
          </a:xfrm>
          <a:prstGeom prst="rect">
            <a:avLst/>
          </a:prstGeom>
          <a:noFill/>
          <a:ln/>
        </p:spPr>
        <p:txBody>
          <a:bodyPr wrap="square" lIns="0" tIns="0" rIns="0" bIns="0" rtlCol="0" anchor="t"/>
          <a:lstStyle/>
          <a:p>
            <a:pPr indent="0" marL="0">
              <a:buNone/>
            </a:pPr>
            <a:r>
              <a:rPr lang="en-US" sz="1500" dirty="0">
                <a:solidFill>
                  <a:schemeClr val="tx2"/>
                </a:solidFill>
              </a:rPr>
              <a:t>Uses WAMA CRM for AI-powered chat support on WhatsApp, with tickets so every request is tracked till it is solved.</a:t>
            </a:r>
            <a:endParaRPr lang="en-US" sz="1500" dirty="0"/>
          </a:p>
        </p:txBody>
      </p:sp>
      <p:sp>
        <p:nvSpPr>
          <p:cNvPr id="27" name="CONSULAR HELPDESK feature 1"/>
          <p:cNvSpPr/>
          <p:nvPr/>
        </p:nvSpPr>
        <p:spPr>
          <a:xfrm>
            <a:off x="6492240" y="4983480"/>
            <a:ext cx="2286000" cy="365760"/>
          </a:xfrm>
          <a:prstGeom prst="roundRect">
            <a:avLst>
              <a:gd name="adj" fmla="val 50000"/>
            </a:avLst>
          </a:prstGeom>
          <a:solidFill>
            <a:srgbClr val="E8F7EF"/>
          </a:solidFill>
          <a:ln/>
        </p:spPr>
      </p:sp>
      <p:sp>
        <p:nvSpPr>
          <p:cNvPr id="28" name="Text 24"/>
          <p:cNvSpPr txBox="1"/>
          <p:nvPr/>
        </p:nvSpPr>
        <p:spPr>
          <a:xfrm>
            <a:off x="6492240" y="4983480"/>
            <a:ext cx="2286000" cy="365760"/>
          </a:xfrm>
          <a:prstGeom prst="rect">
            <a:avLst/>
          </a:prstGeom>
          <a:noFill/>
          <a:ln/>
        </p:spPr>
        <p:txBody>
          <a:bodyPr wrap="square" lIns="0" tIns="0" rIns="0" bIns="0" rtlCol="0" anchor="ctr"/>
          <a:lstStyle/>
          <a:p>
            <a:pPr algn="ctr" indent="0" marL="0">
              <a:buNone/>
            </a:pPr>
            <a:r>
              <a:rPr lang="en-US" sz="1200" b="1" dirty="0">
                <a:solidFill>
                  <a:schemeClr val="accent2"/>
                </a:solidFill>
              </a:rPr>
              <a:t>AI chatbot</a:t>
            </a:r>
            <a:endParaRPr lang="en-US" sz="1200" dirty="0"/>
          </a:p>
        </p:txBody>
      </p:sp>
      <p:sp>
        <p:nvSpPr>
          <p:cNvPr id="29" name="CONSULAR HELPDESK feature 2"/>
          <p:cNvSpPr/>
          <p:nvPr/>
        </p:nvSpPr>
        <p:spPr>
          <a:xfrm>
            <a:off x="8915400" y="4983480"/>
            <a:ext cx="2286000" cy="365760"/>
          </a:xfrm>
          <a:prstGeom prst="roundRect">
            <a:avLst>
              <a:gd name="adj" fmla="val 50000"/>
            </a:avLst>
          </a:prstGeom>
          <a:solidFill>
            <a:srgbClr val="E8F7EF"/>
          </a:solidFill>
          <a:ln/>
        </p:spPr>
      </p:sp>
      <p:sp>
        <p:nvSpPr>
          <p:cNvPr id="30" name="Text 26"/>
          <p:cNvSpPr txBox="1"/>
          <p:nvPr/>
        </p:nvSpPr>
        <p:spPr>
          <a:xfrm>
            <a:off x="8915400" y="4983480"/>
            <a:ext cx="2286000" cy="365760"/>
          </a:xfrm>
          <a:prstGeom prst="rect">
            <a:avLst/>
          </a:prstGeom>
          <a:noFill/>
          <a:ln/>
        </p:spPr>
        <p:txBody>
          <a:bodyPr wrap="square" lIns="0" tIns="0" rIns="0" bIns="0" rtlCol="0" anchor="ctr"/>
          <a:lstStyle/>
          <a:p>
            <a:pPr algn="ctr" indent="0" marL="0">
              <a:buNone/>
            </a:pPr>
            <a:r>
              <a:rPr lang="en-US" sz="1200" b="1" dirty="0">
                <a:solidFill>
                  <a:schemeClr val="accent2"/>
                </a:solidFill>
              </a:rPr>
              <a:t>Tickets and SLA</a:t>
            </a:r>
            <a:endParaRPr lang="en-US" sz="1200" dirty="0"/>
          </a:p>
        </p:txBody>
      </p:sp>
      <p:sp>
        <p:nvSpPr>
          <p:cNvPr id="31" name="CONSULAR HELPDESK feature 3"/>
          <p:cNvSpPr/>
          <p:nvPr/>
        </p:nvSpPr>
        <p:spPr>
          <a:xfrm>
            <a:off x="6492240" y="5440680"/>
            <a:ext cx="2286000" cy="365760"/>
          </a:xfrm>
          <a:prstGeom prst="roundRect">
            <a:avLst>
              <a:gd name="adj" fmla="val 50000"/>
            </a:avLst>
          </a:prstGeom>
          <a:solidFill>
            <a:srgbClr val="E8F7EF"/>
          </a:solidFill>
          <a:ln/>
        </p:spPr>
      </p:sp>
      <p:sp>
        <p:nvSpPr>
          <p:cNvPr id="32" name="Text 28"/>
          <p:cNvSpPr txBox="1"/>
          <p:nvPr/>
        </p:nvSpPr>
        <p:spPr>
          <a:xfrm>
            <a:off x="6492240" y="5440680"/>
            <a:ext cx="2286000" cy="365760"/>
          </a:xfrm>
          <a:prstGeom prst="rect">
            <a:avLst/>
          </a:prstGeom>
          <a:noFill/>
          <a:ln/>
        </p:spPr>
        <p:txBody>
          <a:bodyPr wrap="square" lIns="0" tIns="0" rIns="0" bIns="0" rtlCol="0" anchor="ctr"/>
          <a:lstStyle/>
          <a:p>
            <a:pPr algn="ctr" indent="0" marL="0">
              <a:buNone/>
            </a:pPr>
            <a:r>
              <a:rPr lang="en-US" sz="1200" b="1" dirty="0">
                <a:solidFill>
                  <a:schemeClr val="accent2"/>
                </a:solidFill>
              </a:rPr>
              <a:t>Team inbox</a:t>
            </a:r>
            <a:endParaRPr lang="en-US" sz="1200" dirty="0"/>
          </a:p>
        </p:txBody>
      </p:sp>
      <p:sp>
        <p:nvSpPr>
          <p:cNvPr id="33" name="CONSULAR HELPDESK feature 4"/>
          <p:cNvSpPr/>
          <p:nvPr/>
        </p:nvSpPr>
        <p:spPr>
          <a:xfrm>
            <a:off x="8915400" y="5440680"/>
            <a:ext cx="2286000" cy="365760"/>
          </a:xfrm>
          <a:prstGeom prst="roundRect">
            <a:avLst>
              <a:gd name="adj" fmla="val 50000"/>
            </a:avLst>
          </a:prstGeom>
          <a:solidFill>
            <a:srgbClr val="E8F7EF"/>
          </a:solidFill>
          <a:ln/>
        </p:spPr>
      </p:sp>
      <p:sp>
        <p:nvSpPr>
          <p:cNvPr id="34" name="Text 30"/>
          <p:cNvSpPr txBox="1"/>
          <p:nvPr/>
        </p:nvSpPr>
        <p:spPr>
          <a:xfrm>
            <a:off x="8915400" y="5440680"/>
            <a:ext cx="2286000" cy="365760"/>
          </a:xfrm>
          <a:prstGeom prst="rect">
            <a:avLst/>
          </a:prstGeom>
          <a:noFill/>
          <a:ln/>
        </p:spPr>
        <p:txBody>
          <a:bodyPr wrap="square" lIns="0" tIns="0" rIns="0" bIns="0" rtlCol="0" anchor="ctr"/>
          <a:lstStyle/>
          <a:p>
            <a:pPr algn="ctr" indent="0" marL="0">
              <a:buNone/>
            </a:pPr>
            <a:r>
              <a:rPr lang="en-US" sz="1200" b="1" dirty="0">
                <a:solidFill>
                  <a:schemeClr val="accent2"/>
                </a:solidFill>
              </a:rPr>
              <a:t>Hand-over to agents</a:t>
            </a:r>
            <a:endParaRPr lang="en-US" sz="12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Why businesses choose WAMA CRM</a:t>
            </a:r>
            <a:endParaRPr lang="en-US" sz="3200" dirty="0"/>
          </a:p>
        </p:txBody>
      </p:sp>
      <p:sp>
        <p:nvSpPr>
          <p:cNvPr id="3" name="reason 1"/>
          <p:cNvSpPr/>
          <p:nvPr/>
        </p:nvSpPr>
        <p:spPr>
          <a:xfrm>
            <a:off x="548640" y="1417320"/>
            <a:ext cx="3520440" cy="2148840"/>
          </a:xfrm>
          <a:prstGeom prst="roundRect">
            <a:avLst>
              <a:gd name="adj" fmla="val 5106"/>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4" name="reason 1 icon circle"/>
          <p:cNvSpPr/>
          <p:nvPr/>
        </p:nvSpPr>
        <p:spPr>
          <a:xfrm>
            <a:off x="822960" y="1691640"/>
            <a:ext cx="566928" cy="566928"/>
          </a:xfrm>
          <a:prstGeom prst="ellipse">
            <a:avLst/>
          </a:prstGeom>
          <a:solidFill>
            <a:schemeClr val="accent1"/>
          </a:solidFill>
          <a:ln/>
        </p:spPr>
      </p:sp>
      <p:pic>
        <p:nvPicPr>
          <p:cNvPr id="5" name="reason 1 icon" descr="preencoded.png">    </p:cNvPr>
          <p:cNvPicPr>
            <a:picLocks noChangeAspect="1"/>
          </p:cNvPicPr>
          <p:nvPr/>
        </p:nvPicPr>
        <p:blipFill>
          <a:blip r:embed="rId1"/>
          <a:stretch>
            <a:fillRect/>
          </a:stretch>
        </p:blipFill>
        <p:spPr>
          <a:xfrm>
            <a:off x="959023" y="1827703"/>
            <a:ext cx="294803" cy="294803"/>
          </a:xfrm>
          <a:prstGeom prst="rect">
            <a:avLst/>
          </a:prstGeom>
        </p:spPr>
      </p:pic>
      <p:sp>
        <p:nvSpPr>
          <p:cNvPr id="6" name="Text 3"/>
          <p:cNvSpPr txBox="1"/>
          <p:nvPr/>
        </p:nvSpPr>
        <p:spPr>
          <a:xfrm>
            <a:off x="1536192" y="1691640"/>
            <a:ext cx="2423160" cy="566928"/>
          </a:xfrm>
          <a:prstGeom prst="rect">
            <a:avLst/>
          </a:prstGeom>
          <a:noFill/>
          <a:ln/>
        </p:spPr>
        <p:txBody>
          <a:bodyPr wrap="square" lIns="0" tIns="0" rIns="0" bIns="0" rtlCol="0" anchor="ctr"/>
          <a:lstStyle/>
          <a:p>
            <a:pPr indent="0" marL="0">
              <a:buNone/>
            </a:pPr>
            <a:r>
              <a:rPr lang="en-US" sz="1600" b="1" dirty="0">
                <a:solidFill>
                  <a:schemeClr val="tx1"/>
                </a:solidFill>
              </a:rPr>
              <a:t>Official Meta Tech Provider</a:t>
            </a:r>
            <a:endParaRPr lang="en-US" sz="1600" dirty="0"/>
          </a:p>
        </p:txBody>
      </p:sp>
      <p:sp>
        <p:nvSpPr>
          <p:cNvPr id="7" name="Text 4"/>
          <p:cNvSpPr txBox="1"/>
          <p:nvPr/>
        </p:nvSpPr>
        <p:spPr>
          <a:xfrm>
            <a:off x="822960" y="2441448"/>
            <a:ext cx="3017520" cy="960120"/>
          </a:xfrm>
          <a:prstGeom prst="rect">
            <a:avLst/>
          </a:prstGeom>
          <a:noFill/>
          <a:ln/>
        </p:spPr>
        <p:txBody>
          <a:bodyPr wrap="square" lIns="0" tIns="0" rIns="0" bIns="0" rtlCol="0" anchor="t"/>
          <a:lstStyle/>
          <a:p>
            <a:pPr indent="0" marL="0">
              <a:buNone/>
            </a:pPr>
            <a:r>
              <a:rPr lang="en-US" sz="1500" dirty="0">
                <a:solidFill>
                  <a:schemeClr val="tx2"/>
                </a:solidFill>
              </a:rPr>
              <a:t>Built on the official WhatsApp Business Platform.</a:t>
            </a:r>
            <a:endParaRPr lang="en-US" sz="1500" dirty="0"/>
          </a:p>
        </p:txBody>
      </p:sp>
      <p:sp>
        <p:nvSpPr>
          <p:cNvPr id="8" name="reason 2"/>
          <p:cNvSpPr/>
          <p:nvPr/>
        </p:nvSpPr>
        <p:spPr>
          <a:xfrm>
            <a:off x="4297680" y="1417320"/>
            <a:ext cx="3520440" cy="2148840"/>
          </a:xfrm>
          <a:prstGeom prst="roundRect">
            <a:avLst>
              <a:gd name="adj" fmla="val 5106"/>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9" name="reason 2 icon circle"/>
          <p:cNvSpPr/>
          <p:nvPr/>
        </p:nvSpPr>
        <p:spPr>
          <a:xfrm>
            <a:off x="4572000" y="1691640"/>
            <a:ext cx="566928" cy="566928"/>
          </a:xfrm>
          <a:prstGeom prst="ellipse">
            <a:avLst/>
          </a:prstGeom>
          <a:solidFill>
            <a:schemeClr val="accent2"/>
          </a:solidFill>
          <a:ln/>
        </p:spPr>
      </p:sp>
      <p:pic>
        <p:nvPicPr>
          <p:cNvPr id="10" name="reason 2 icon" descr="preencoded.png">    </p:cNvPr>
          <p:cNvPicPr>
            <a:picLocks noChangeAspect="1"/>
          </p:cNvPicPr>
          <p:nvPr/>
        </p:nvPicPr>
        <p:blipFill>
          <a:blip r:embed="rId2"/>
          <a:stretch>
            <a:fillRect/>
          </a:stretch>
        </p:blipFill>
        <p:spPr>
          <a:xfrm>
            <a:off x="4708063" y="1827703"/>
            <a:ext cx="294803" cy="294803"/>
          </a:xfrm>
          <a:prstGeom prst="rect">
            <a:avLst/>
          </a:prstGeom>
        </p:spPr>
      </p:pic>
      <p:sp>
        <p:nvSpPr>
          <p:cNvPr id="11" name="Text 7"/>
          <p:cNvSpPr txBox="1"/>
          <p:nvPr/>
        </p:nvSpPr>
        <p:spPr>
          <a:xfrm>
            <a:off x="5285232" y="1691640"/>
            <a:ext cx="2423160" cy="566928"/>
          </a:xfrm>
          <a:prstGeom prst="rect">
            <a:avLst/>
          </a:prstGeom>
          <a:noFill/>
          <a:ln/>
        </p:spPr>
        <p:txBody>
          <a:bodyPr wrap="square" lIns="0" tIns="0" rIns="0" bIns="0" rtlCol="0" anchor="ctr"/>
          <a:lstStyle/>
          <a:p>
            <a:pPr indent="0" marL="0">
              <a:buNone/>
            </a:pPr>
            <a:r>
              <a:rPr lang="en-US" sz="1600" b="1" dirty="0">
                <a:solidFill>
                  <a:schemeClr val="tx1"/>
                </a:solidFill>
              </a:rPr>
              <a:t>0% markup on Meta charges</a:t>
            </a:r>
            <a:endParaRPr lang="en-US" sz="1600" dirty="0"/>
          </a:p>
        </p:txBody>
      </p:sp>
      <p:sp>
        <p:nvSpPr>
          <p:cNvPr id="12" name="Text 8"/>
          <p:cNvSpPr txBox="1"/>
          <p:nvPr/>
        </p:nvSpPr>
        <p:spPr>
          <a:xfrm>
            <a:off x="4572000" y="2441448"/>
            <a:ext cx="3017520" cy="960120"/>
          </a:xfrm>
          <a:prstGeom prst="rect">
            <a:avLst/>
          </a:prstGeom>
          <a:noFill/>
          <a:ln/>
        </p:spPr>
        <p:txBody>
          <a:bodyPr wrap="square" lIns="0" tIns="0" rIns="0" bIns="0" rtlCol="0" anchor="t"/>
          <a:lstStyle/>
          <a:p>
            <a:pPr indent="0" marL="0">
              <a:buNone/>
            </a:pPr>
            <a:r>
              <a:rPr lang="en-US" sz="1500" dirty="0">
                <a:solidFill>
                  <a:schemeClr val="tx2"/>
                </a:solidFill>
              </a:rPr>
              <a:t>You pay Meta’s message rates directly. No hidden extras.</a:t>
            </a:r>
            <a:endParaRPr lang="en-US" sz="1500" dirty="0"/>
          </a:p>
        </p:txBody>
      </p:sp>
      <p:sp>
        <p:nvSpPr>
          <p:cNvPr id="13" name="reason 3"/>
          <p:cNvSpPr/>
          <p:nvPr/>
        </p:nvSpPr>
        <p:spPr>
          <a:xfrm>
            <a:off x="8046720" y="1417320"/>
            <a:ext cx="3520440" cy="2148840"/>
          </a:xfrm>
          <a:prstGeom prst="roundRect">
            <a:avLst>
              <a:gd name="adj" fmla="val 5106"/>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14" name="reason 3 icon circle"/>
          <p:cNvSpPr/>
          <p:nvPr/>
        </p:nvSpPr>
        <p:spPr>
          <a:xfrm>
            <a:off x="8321040" y="1691640"/>
            <a:ext cx="566928" cy="566928"/>
          </a:xfrm>
          <a:prstGeom prst="ellipse">
            <a:avLst/>
          </a:prstGeom>
          <a:solidFill>
            <a:schemeClr val="accent3"/>
          </a:solidFill>
          <a:ln/>
        </p:spPr>
      </p:sp>
      <p:pic>
        <p:nvPicPr>
          <p:cNvPr id="15" name="reason 3 icon" descr="preencoded.png">    </p:cNvPr>
          <p:cNvPicPr>
            <a:picLocks noChangeAspect="1"/>
          </p:cNvPicPr>
          <p:nvPr/>
        </p:nvPicPr>
        <p:blipFill>
          <a:blip r:embed="rId3"/>
          <a:stretch>
            <a:fillRect/>
          </a:stretch>
        </p:blipFill>
        <p:spPr>
          <a:xfrm>
            <a:off x="8457103" y="1827703"/>
            <a:ext cx="294803" cy="294803"/>
          </a:xfrm>
          <a:prstGeom prst="rect">
            <a:avLst/>
          </a:prstGeom>
        </p:spPr>
      </p:pic>
      <p:sp>
        <p:nvSpPr>
          <p:cNvPr id="16" name="Text 11"/>
          <p:cNvSpPr txBox="1"/>
          <p:nvPr/>
        </p:nvSpPr>
        <p:spPr>
          <a:xfrm>
            <a:off x="9034272" y="1691640"/>
            <a:ext cx="2423160" cy="566928"/>
          </a:xfrm>
          <a:prstGeom prst="rect">
            <a:avLst/>
          </a:prstGeom>
          <a:noFill/>
          <a:ln/>
        </p:spPr>
        <p:txBody>
          <a:bodyPr wrap="square" lIns="0" tIns="0" rIns="0" bIns="0" rtlCol="0" anchor="ctr"/>
          <a:lstStyle/>
          <a:p>
            <a:pPr indent="0" marL="0">
              <a:buNone/>
            </a:pPr>
            <a:r>
              <a:rPr lang="en-US" sz="1600" b="1" dirty="0">
                <a:solidFill>
                  <a:schemeClr val="tx1"/>
                </a:solidFill>
              </a:rPr>
              <a:t>Made for India</a:t>
            </a:r>
            <a:endParaRPr lang="en-US" sz="1600" dirty="0"/>
          </a:p>
        </p:txBody>
      </p:sp>
      <p:sp>
        <p:nvSpPr>
          <p:cNvPr id="17" name="Text 12"/>
          <p:cNvSpPr txBox="1"/>
          <p:nvPr/>
        </p:nvSpPr>
        <p:spPr>
          <a:xfrm>
            <a:off x="8321040" y="2441448"/>
            <a:ext cx="3017520" cy="960120"/>
          </a:xfrm>
          <a:prstGeom prst="rect">
            <a:avLst/>
          </a:prstGeom>
          <a:noFill/>
          <a:ln/>
        </p:spPr>
        <p:txBody>
          <a:bodyPr wrap="square" lIns="0" tIns="0" rIns="0" bIns="0" rtlCol="0" anchor="t"/>
          <a:lstStyle/>
          <a:p>
            <a:pPr indent="0" marL="0">
              <a:buNone/>
            </a:pPr>
            <a:r>
              <a:rPr lang="en-US" sz="1500" dirty="0">
                <a:solidFill>
                  <a:schemeClr val="tx2"/>
                </a:solidFill>
              </a:rPr>
              <a:t>Indian languages, ₹ pricing, UPI and Cash on Delivery.</a:t>
            </a:r>
            <a:endParaRPr lang="en-US" sz="1500" dirty="0"/>
          </a:p>
        </p:txBody>
      </p:sp>
      <p:sp>
        <p:nvSpPr>
          <p:cNvPr id="18" name="reason 4"/>
          <p:cNvSpPr/>
          <p:nvPr/>
        </p:nvSpPr>
        <p:spPr>
          <a:xfrm>
            <a:off x="548640" y="3794760"/>
            <a:ext cx="3520440" cy="2148840"/>
          </a:xfrm>
          <a:prstGeom prst="roundRect">
            <a:avLst>
              <a:gd name="adj" fmla="val 5106"/>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19" name="reason 4 icon circle"/>
          <p:cNvSpPr/>
          <p:nvPr/>
        </p:nvSpPr>
        <p:spPr>
          <a:xfrm>
            <a:off x="822960" y="4069080"/>
            <a:ext cx="566928" cy="566928"/>
          </a:xfrm>
          <a:prstGeom prst="ellipse">
            <a:avLst/>
          </a:prstGeom>
          <a:solidFill>
            <a:schemeClr val="accent4"/>
          </a:solidFill>
          <a:ln/>
        </p:spPr>
      </p:sp>
      <p:pic>
        <p:nvPicPr>
          <p:cNvPr id="20" name="reason 4 icon" descr="preencoded.png">    </p:cNvPr>
          <p:cNvPicPr>
            <a:picLocks noChangeAspect="1"/>
          </p:cNvPicPr>
          <p:nvPr/>
        </p:nvPicPr>
        <p:blipFill>
          <a:blip r:embed="rId4"/>
          <a:stretch>
            <a:fillRect/>
          </a:stretch>
        </p:blipFill>
        <p:spPr>
          <a:xfrm>
            <a:off x="959023" y="4205143"/>
            <a:ext cx="294803" cy="294803"/>
          </a:xfrm>
          <a:prstGeom prst="rect">
            <a:avLst/>
          </a:prstGeom>
        </p:spPr>
      </p:pic>
      <p:sp>
        <p:nvSpPr>
          <p:cNvPr id="21" name="Text 15"/>
          <p:cNvSpPr txBox="1"/>
          <p:nvPr/>
        </p:nvSpPr>
        <p:spPr>
          <a:xfrm>
            <a:off x="1536192" y="4069080"/>
            <a:ext cx="2423160" cy="566928"/>
          </a:xfrm>
          <a:prstGeom prst="rect">
            <a:avLst/>
          </a:prstGeom>
          <a:noFill/>
          <a:ln/>
        </p:spPr>
        <p:txBody>
          <a:bodyPr wrap="square" lIns="0" tIns="0" rIns="0" bIns="0" rtlCol="0" anchor="ctr"/>
          <a:lstStyle/>
          <a:p>
            <a:pPr indent="0" marL="0">
              <a:buNone/>
            </a:pPr>
            <a:r>
              <a:rPr lang="en-US" sz="1600" b="1" dirty="0">
                <a:solidFill>
                  <a:schemeClr val="tx1"/>
                </a:solidFill>
              </a:rPr>
              <a:t>Quick setup</a:t>
            </a:r>
            <a:endParaRPr lang="en-US" sz="1600" dirty="0"/>
          </a:p>
        </p:txBody>
      </p:sp>
      <p:sp>
        <p:nvSpPr>
          <p:cNvPr id="22" name="Text 16"/>
          <p:cNvSpPr txBox="1"/>
          <p:nvPr/>
        </p:nvSpPr>
        <p:spPr>
          <a:xfrm>
            <a:off x="822960" y="4818888"/>
            <a:ext cx="3017520" cy="960120"/>
          </a:xfrm>
          <a:prstGeom prst="rect">
            <a:avLst/>
          </a:prstGeom>
          <a:noFill/>
          <a:ln/>
        </p:spPr>
        <p:txBody>
          <a:bodyPr wrap="square" lIns="0" tIns="0" rIns="0" bIns="0" rtlCol="0" anchor="t"/>
          <a:lstStyle/>
          <a:p>
            <a:pPr indent="0" marL="0">
              <a:buNone/>
            </a:pPr>
            <a:r>
              <a:rPr lang="en-US" sz="1500" dirty="0">
                <a:solidFill>
                  <a:schemeClr val="tx2"/>
                </a:solidFill>
              </a:rPr>
              <a:t>Connect your WhatsApp number in minutes, no coding.</a:t>
            </a:r>
            <a:endParaRPr lang="en-US" sz="1500" dirty="0"/>
          </a:p>
        </p:txBody>
      </p:sp>
      <p:sp>
        <p:nvSpPr>
          <p:cNvPr id="23" name="reason 5"/>
          <p:cNvSpPr/>
          <p:nvPr/>
        </p:nvSpPr>
        <p:spPr>
          <a:xfrm>
            <a:off x="4297680" y="3794760"/>
            <a:ext cx="3520440" cy="2148840"/>
          </a:xfrm>
          <a:prstGeom prst="roundRect">
            <a:avLst>
              <a:gd name="adj" fmla="val 5106"/>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24" name="reason 5 icon circle"/>
          <p:cNvSpPr/>
          <p:nvPr/>
        </p:nvSpPr>
        <p:spPr>
          <a:xfrm>
            <a:off x="4572000" y="4069080"/>
            <a:ext cx="566928" cy="566928"/>
          </a:xfrm>
          <a:prstGeom prst="ellipse">
            <a:avLst/>
          </a:prstGeom>
          <a:solidFill>
            <a:schemeClr val="accent1"/>
          </a:solidFill>
          <a:ln/>
        </p:spPr>
      </p:sp>
      <p:pic>
        <p:nvPicPr>
          <p:cNvPr id="25" name="reason 5 icon" descr="preencoded.png">    </p:cNvPr>
          <p:cNvPicPr>
            <a:picLocks noChangeAspect="1"/>
          </p:cNvPicPr>
          <p:nvPr/>
        </p:nvPicPr>
        <p:blipFill>
          <a:blip r:embed="rId5"/>
          <a:stretch>
            <a:fillRect/>
          </a:stretch>
        </p:blipFill>
        <p:spPr>
          <a:xfrm>
            <a:off x="4708063" y="4205143"/>
            <a:ext cx="294803" cy="294803"/>
          </a:xfrm>
          <a:prstGeom prst="rect">
            <a:avLst/>
          </a:prstGeom>
        </p:spPr>
      </p:pic>
      <p:sp>
        <p:nvSpPr>
          <p:cNvPr id="26" name="Text 19"/>
          <p:cNvSpPr txBox="1"/>
          <p:nvPr/>
        </p:nvSpPr>
        <p:spPr>
          <a:xfrm>
            <a:off x="5285232" y="4069080"/>
            <a:ext cx="2423160" cy="566928"/>
          </a:xfrm>
          <a:prstGeom prst="rect">
            <a:avLst/>
          </a:prstGeom>
          <a:noFill/>
          <a:ln/>
        </p:spPr>
        <p:txBody>
          <a:bodyPr wrap="square" lIns="0" tIns="0" rIns="0" bIns="0" rtlCol="0" anchor="ctr"/>
          <a:lstStyle/>
          <a:p>
            <a:pPr indent="0" marL="0">
              <a:buNone/>
            </a:pPr>
            <a:r>
              <a:rPr lang="en-US" sz="1600" b="1" dirty="0">
                <a:solidFill>
                  <a:schemeClr val="tx1"/>
                </a:solidFill>
              </a:rPr>
              <a:t>Your data is safe</a:t>
            </a:r>
            <a:endParaRPr lang="en-US" sz="1600" dirty="0"/>
          </a:p>
        </p:txBody>
      </p:sp>
      <p:sp>
        <p:nvSpPr>
          <p:cNvPr id="27" name="Text 20"/>
          <p:cNvSpPr txBox="1"/>
          <p:nvPr/>
        </p:nvSpPr>
        <p:spPr>
          <a:xfrm>
            <a:off x="4572000" y="4818888"/>
            <a:ext cx="3017520" cy="960120"/>
          </a:xfrm>
          <a:prstGeom prst="rect">
            <a:avLst/>
          </a:prstGeom>
          <a:noFill/>
          <a:ln/>
        </p:spPr>
        <p:txBody>
          <a:bodyPr wrap="square" lIns="0" tIns="0" rIns="0" bIns="0" rtlCol="0" anchor="t"/>
          <a:lstStyle/>
          <a:p>
            <a:pPr indent="0" marL="0">
              <a:buNone/>
            </a:pPr>
            <a:r>
              <a:rPr lang="en-US" sz="1500" dirty="0">
                <a:solidFill>
                  <a:schemeClr val="tx2"/>
                </a:solidFill>
              </a:rPr>
              <a:t>Separate workspace for each business, with role-based access.</a:t>
            </a:r>
            <a:endParaRPr lang="en-US" sz="1500" dirty="0"/>
          </a:p>
        </p:txBody>
      </p:sp>
      <p:sp>
        <p:nvSpPr>
          <p:cNvPr id="28" name="reason 6"/>
          <p:cNvSpPr/>
          <p:nvPr/>
        </p:nvSpPr>
        <p:spPr>
          <a:xfrm>
            <a:off x="8046720" y="3794760"/>
            <a:ext cx="3520440" cy="2148840"/>
          </a:xfrm>
          <a:prstGeom prst="roundRect">
            <a:avLst>
              <a:gd name="adj" fmla="val 5106"/>
            </a:avLst>
          </a:prstGeom>
          <a:solidFill>
            <a:schemeClr val="bg1"/>
          </a:solidFill>
          <a:ln w="12700">
            <a:solidFill>
              <a:srgbClr val="E1E7F2"/>
            </a:solidFill>
            <a:prstDash val="solid"/>
          </a:ln>
          <a:effectLst>
            <a:outerShdw sx="100000" sy="100000" kx="0" ky="0" algn="bl" rotWithShape="0" blurRad="127000" dist="38100" dir="5400000">
              <a:srgbClr val="0E1B3D">
                <a:alpha val="12000"/>
              </a:srgbClr>
            </a:outerShdw>
          </a:effectLst>
        </p:spPr>
      </p:sp>
      <p:sp>
        <p:nvSpPr>
          <p:cNvPr id="29" name="reason 6 icon circle"/>
          <p:cNvSpPr/>
          <p:nvPr/>
        </p:nvSpPr>
        <p:spPr>
          <a:xfrm>
            <a:off x="8321040" y="4069080"/>
            <a:ext cx="566928" cy="566928"/>
          </a:xfrm>
          <a:prstGeom prst="ellipse">
            <a:avLst/>
          </a:prstGeom>
          <a:solidFill>
            <a:schemeClr val="accent2"/>
          </a:solidFill>
          <a:ln/>
        </p:spPr>
      </p:sp>
      <p:pic>
        <p:nvPicPr>
          <p:cNvPr id="30" name="reason 6 icon" descr="preencoded.png">    </p:cNvPr>
          <p:cNvPicPr>
            <a:picLocks noChangeAspect="1"/>
          </p:cNvPicPr>
          <p:nvPr/>
        </p:nvPicPr>
        <p:blipFill>
          <a:blip r:embed="rId6"/>
          <a:stretch>
            <a:fillRect/>
          </a:stretch>
        </p:blipFill>
        <p:spPr>
          <a:xfrm>
            <a:off x="8457103" y="4205143"/>
            <a:ext cx="294803" cy="294803"/>
          </a:xfrm>
          <a:prstGeom prst="rect">
            <a:avLst/>
          </a:prstGeom>
        </p:spPr>
      </p:pic>
      <p:sp>
        <p:nvSpPr>
          <p:cNvPr id="31" name="Text 23"/>
          <p:cNvSpPr txBox="1"/>
          <p:nvPr/>
        </p:nvSpPr>
        <p:spPr>
          <a:xfrm>
            <a:off x="9034272" y="4069080"/>
            <a:ext cx="2423160" cy="566928"/>
          </a:xfrm>
          <a:prstGeom prst="rect">
            <a:avLst/>
          </a:prstGeom>
          <a:noFill/>
          <a:ln/>
        </p:spPr>
        <p:txBody>
          <a:bodyPr wrap="square" lIns="0" tIns="0" rIns="0" bIns="0" rtlCol="0" anchor="ctr"/>
          <a:lstStyle/>
          <a:p>
            <a:pPr indent="0" marL="0">
              <a:buNone/>
            </a:pPr>
            <a:r>
              <a:rPr lang="en-US" sz="1600" b="1" dirty="0">
                <a:solidFill>
                  <a:schemeClr val="tx1"/>
                </a:solidFill>
              </a:rPr>
              <a:t>Local support</a:t>
            </a:r>
            <a:endParaRPr lang="en-US" sz="1600" dirty="0"/>
          </a:p>
        </p:txBody>
      </p:sp>
      <p:sp>
        <p:nvSpPr>
          <p:cNvPr id="32" name="Text 24"/>
          <p:cNvSpPr txBox="1"/>
          <p:nvPr/>
        </p:nvSpPr>
        <p:spPr>
          <a:xfrm>
            <a:off x="8321040" y="4818888"/>
            <a:ext cx="3017520" cy="960120"/>
          </a:xfrm>
          <a:prstGeom prst="rect">
            <a:avLst/>
          </a:prstGeom>
          <a:noFill/>
          <a:ln/>
        </p:spPr>
        <p:txBody>
          <a:bodyPr wrap="square" lIns="0" tIns="0" rIns="0" bIns="0" rtlCol="0" anchor="t"/>
          <a:lstStyle/>
          <a:p>
            <a:pPr indent="0" marL="0">
              <a:buNone/>
            </a:pPr>
            <a:r>
              <a:rPr lang="en-US" sz="1500" dirty="0">
                <a:solidFill>
                  <a:schemeClr val="tx2"/>
                </a:solidFill>
              </a:rPr>
              <a:t>The Magnetora team helps you set up and grow.</a:t>
            </a:r>
            <a:endParaRPr lang="en-US" sz="15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WAMA CRM logo" descr="/home/user/Marketing-CRM/docs/brand/wamacrm-logo-horizontal-light.png">    </p:cNvPr>
          <p:cNvPicPr>
            <a:picLocks noChangeAspect="1"/>
          </p:cNvPicPr>
          <p:nvPr/>
        </p:nvPicPr>
        <p:blipFill>
          <a:blip r:embed="rId1"/>
          <a:stretch>
            <a:fillRect/>
          </a:stretch>
        </p:blipFill>
        <p:spPr>
          <a:xfrm>
            <a:off x="640080" y="548640"/>
            <a:ext cx="3200400" cy="914400"/>
          </a:xfrm>
          <a:prstGeom prst="rect">
            <a:avLst/>
          </a:prstGeom>
        </p:spPr>
      </p:pic>
      <p:sp>
        <p:nvSpPr>
          <p:cNvPr id="3" name="Text 0"/>
          <p:cNvSpPr/>
          <p:nvPr>
            <p:ph idx="100" type="title" hasCustomPrompt="1"/>
          </p:nvPr>
        </p:nvSpPr>
        <p:spPr>
          <a:xfrm>
            <a:off x="640080" y="2011680"/>
            <a:ext cx="6766560" cy="1828800"/>
          </a:xfrm>
          <a:prstGeom prst="rect">
            <a:avLst/>
          </a:prstGeom>
          <a:noFill/>
          <a:ln/>
        </p:spPr>
        <p:txBody>
          <a:bodyPr wrap="square" lIns="0" tIns="0" rIns="0" bIns="0" rtlCol="0" anchor="b"/>
          <a:lstStyle/>
          <a:p>
            <a:pPr algn="l" indent="0" marL="0">
              <a:buNone/>
            </a:pPr>
            <a:r>
              <a:rPr lang="en-US" sz="4400" b="1" dirty="0">
                <a:solidFill>
                  <a:schemeClr val="bg1"/>
                </a:solidFill>
              </a:rPr>
              <a:t>Start in 3 simple steps</a:t>
            </a:r>
            <a:endParaRPr lang="en-US" sz="4400" dirty="0"/>
          </a:p>
        </p:txBody>
      </p:sp>
      <p:sp>
        <p:nvSpPr>
          <p:cNvPr id="4" name="Text 0"/>
          <p:cNvSpPr/>
          <p:nvPr>
            <p:ph idx="101" type="body" hasCustomPrompt="1"/>
          </p:nvPr>
        </p:nvSpPr>
        <p:spPr>
          <a:xfrm>
            <a:off x="640080" y="4023360"/>
            <a:ext cx="6766560" cy="1188720"/>
          </a:xfrm>
          <a:prstGeom prst="rect">
            <a:avLst/>
          </a:prstGeom>
          <a:noFill/>
          <a:ln/>
        </p:spPr>
        <p:txBody>
          <a:bodyPr wrap="square" lIns="0" tIns="0" rIns="0" bIns="0" rtlCol="0" anchor="t"/>
          <a:lstStyle/>
          <a:p>
            <a:pPr algn="l" indent="0" marL="0">
              <a:buNone/>
            </a:pPr>
            <a:r>
              <a:rPr lang="en-US" sz="1800" dirty="0">
                <a:solidFill>
                  <a:srgbClr val="C9D6F2"/>
                </a:solidFill>
              </a:rPr>
              <a:t>Free 14-day trial. Visit wamacrm.magnetora.in or talk to the Magnetora team today.</a:t>
            </a:r>
            <a:endParaRPr lang="en-US" sz="1800" dirty="0"/>
          </a:p>
        </p:txBody>
      </p:sp>
      <p:sp>
        <p:nvSpPr>
          <p:cNvPr id="5" name="next step 1"/>
          <p:cNvSpPr/>
          <p:nvPr/>
        </p:nvSpPr>
        <p:spPr>
          <a:xfrm>
            <a:off x="7680960" y="1097280"/>
            <a:ext cx="3931920" cy="1371600"/>
          </a:xfrm>
          <a:prstGeom prst="roundRect">
            <a:avLst>
              <a:gd name="adj" fmla="val 8000"/>
            </a:avLst>
          </a:prstGeom>
          <a:solidFill>
            <a:srgbClr val="1B2A55"/>
          </a:solidFill>
          <a:ln w="12700">
            <a:solidFill>
              <a:srgbClr val="2E4380"/>
            </a:solidFill>
            <a:prstDash val="solid"/>
          </a:ln>
        </p:spPr>
      </p:sp>
      <p:sp>
        <p:nvSpPr>
          <p:cNvPr id="6" name="next step 1 icon circle"/>
          <p:cNvSpPr/>
          <p:nvPr/>
        </p:nvSpPr>
        <p:spPr>
          <a:xfrm>
            <a:off x="7909560" y="1481328"/>
            <a:ext cx="603504" cy="603504"/>
          </a:xfrm>
          <a:prstGeom prst="ellipse">
            <a:avLst/>
          </a:prstGeom>
          <a:solidFill>
            <a:schemeClr val="accent2"/>
          </a:solidFill>
          <a:ln/>
        </p:spPr>
      </p:sp>
      <p:pic>
        <p:nvPicPr>
          <p:cNvPr id="7" name="next step 1 icon" descr="preencoded.png">    </p:cNvPr>
          <p:cNvPicPr>
            <a:picLocks noChangeAspect="1"/>
          </p:cNvPicPr>
          <p:nvPr/>
        </p:nvPicPr>
        <p:blipFill>
          <a:blip r:embed="rId2"/>
          <a:stretch>
            <a:fillRect/>
          </a:stretch>
        </p:blipFill>
        <p:spPr>
          <a:xfrm>
            <a:off x="8054401" y="1626169"/>
            <a:ext cx="313822" cy="313822"/>
          </a:xfrm>
          <a:prstGeom prst="rect">
            <a:avLst/>
          </a:prstGeom>
        </p:spPr>
      </p:pic>
      <p:sp>
        <p:nvSpPr>
          <p:cNvPr id="8" name="Text 4"/>
          <p:cNvSpPr txBox="1"/>
          <p:nvPr/>
        </p:nvSpPr>
        <p:spPr>
          <a:xfrm>
            <a:off x="8686800" y="1298448"/>
            <a:ext cx="2788920" cy="365760"/>
          </a:xfrm>
          <a:prstGeom prst="rect">
            <a:avLst/>
          </a:prstGeom>
          <a:noFill/>
          <a:ln/>
        </p:spPr>
        <p:txBody>
          <a:bodyPr wrap="square" lIns="0" tIns="0" rIns="0" bIns="0" rtlCol="0" anchor="t"/>
          <a:lstStyle/>
          <a:p>
            <a:pPr indent="0" marL="0">
              <a:buNone/>
            </a:pPr>
            <a:r>
              <a:rPr lang="en-US" sz="1700" b="1" dirty="0">
                <a:solidFill>
                  <a:schemeClr val="bg1"/>
                </a:solidFill>
              </a:rPr>
              <a:t>1. Free demo</a:t>
            </a:r>
            <a:endParaRPr lang="en-US" sz="1700" dirty="0"/>
          </a:p>
        </p:txBody>
      </p:sp>
      <p:sp>
        <p:nvSpPr>
          <p:cNvPr id="9" name="Text 5"/>
          <p:cNvSpPr txBox="1"/>
          <p:nvPr/>
        </p:nvSpPr>
        <p:spPr>
          <a:xfrm>
            <a:off x="8686800" y="1691640"/>
            <a:ext cx="2788920" cy="640080"/>
          </a:xfrm>
          <a:prstGeom prst="rect">
            <a:avLst/>
          </a:prstGeom>
          <a:noFill/>
          <a:ln/>
        </p:spPr>
        <p:txBody>
          <a:bodyPr wrap="square" lIns="0" tIns="0" rIns="0" bIns="0" rtlCol="0" anchor="t"/>
          <a:lstStyle/>
          <a:p>
            <a:pPr indent="0" marL="0">
              <a:buNone/>
            </a:pPr>
            <a:r>
              <a:rPr lang="en-US" sz="1300" dirty="0">
                <a:solidFill>
                  <a:srgbClr val="9FB0D6"/>
                </a:solidFill>
              </a:rPr>
              <a:t>We show WAMA CRM with your own business example.</a:t>
            </a:r>
            <a:endParaRPr lang="en-US" sz="1300" dirty="0"/>
          </a:p>
        </p:txBody>
      </p:sp>
      <p:sp>
        <p:nvSpPr>
          <p:cNvPr id="10" name="next step 2"/>
          <p:cNvSpPr/>
          <p:nvPr/>
        </p:nvSpPr>
        <p:spPr>
          <a:xfrm>
            <a:off x="7680960" y="2697480"/>
            <a:ext cx="3931920" cy="1371600"/>
          </a:xfrm>
          <a:prstGeom prst="roundRect">
            <a:avLst>
              <a:gd name="adj" fmla="val 8000"/>
            </a:avLst>
          </a:prstGeom>
          <a:solidFill>
            <a:srgbClr val="1B2A55"/>
          </a:solidFill>
          <a:ln w="12700">
            <a:solidFill>
              <a:srgbClr val="2E4380"/>
            </a:solidFill>
            <a:prstDash val="solid"/>
          </a:ln>
        </p:spPr>
      </p:sp>
      <p:sp>
        <p:nvSpPr>
          <p:cNvPr id="11" name="next step 2 icon circle"/>
          <p:cNvSpPr/>
          <p:nvPr/>
        </p:nvSpPr>
        <p:spPr>
          <a:xfrm>
            <a:off x="7909560" y="3081528"/>
            <a:ext cx="603504" cy="603504"/>
          </a:xfrm>
          <a:prstGeom prst="ellipse">
            <a:avLst/>
          </a:prstGeom>
          <a:solidFill>
            <a:schemeClr val="accent1"/>
          </a:solidFill>
          <a:ln/>
        </p:spPr>
      </p:sp>
      <p:pic>
        <p:nvPicPr>
          <p:cNvPr id="12" name="next step 2 icon" descr="preencoded.png">    </p:cNvPr>
          <p:cNvPicPr>
            <a:picLocks noChangeAspect="1"/>
          </p:cNvPicPr>
          <p:nvPr/>
        </p:nvPicPr>
        <p:blipFill>
          <a:blip r:embed="rId3"/>
          <a:stretch>
            <a:fillRect/>
          </a:stretch>
        </p:blipFill>
        <p:spPr>
          <a:xfrm>
            <a:off x="8054401" y="3226369"/>
            <a:ext cx="313822" cy="313822"/>
          </a:xfrm>
          <a:prstGeom prst="rect">
            <a:avLst/>
          </a:prstGeom>
        </p:spPr>
      </p:pic>
      <p:sp>
        <p:nvSpPr>
          <p:cNvPr id="13" name="Text 8"/>
          <p:cNvSpPr txBox="1"/>
          <p:nvPr/>
        </p:nvSpPr>
        <p:spPr>
          <a:xfrm>
            <a:off x="8686800" y="2898648"/>
            <a:ext cx="2788920" cy="365760"/>
          </a:xfrm>
          <a:prstGeom prst="rect">
            <a:avLst/>
          </a:prstGeom>
          <a:noFill/>
          <a:ln/>
        </p:spPr>
        <p:txBody>
          <a:bodyPr wrap="square" lIns="0" tIns="0" rIns="0" bIns="0" rtlCol="0" anchor="t"/>
          <a:lstStyle/>
          <a:p>
            <a:pPr indent="0" marL="0">
              <a:buNone/>
            </a:pPr>
            <a:r>
              <a:rPr lang="en-US" sz="1700" b="1" dirty="0">
                <a:solidFill>
                  <a:schemeClr val="bg1"/>
                </a:solidFill>
              </a:rPr>
              <a:t>2. Connect WhatsApp</a:t>
            </a:r>
            <a:endParaRPr lang="en-US" sz="1700" dirty="0"/>
          </a:p>
        </p:txBody>
      </p:sp>
      <p:sp>
        <p:nvSpPr>
          <p:cNvPr id="14" name="Text 9"/>
          <p:cNvSpPr txBox="1"/>
          <p:nvPr/>
        </p:nvSpPr>
        <p:spPr>
          <a:xfrm>
            <a:off x="8686800" y="3291840"/>
            <a:ext cx="2788920" cy="640080"/>
          </a:xfrm>
          <a:prstGeom prst="rect">
            <a:avLst/>
          </a:prstGeom>
          <a:noFill/>
          <a:ln/>
        </p:spPr>
        <p:txBody>
          <a:bodyPr wrap="square" lIns="0" tIns="0" rIns="0" bIns="0" rtlCol="0" anchor="t"/>
          <a:lstStyle/>
          <a:p>
            <a:pPr indent="0" marL="0">
              <a:buNone/>
            </a:pPr>
            <a:r>
              <a:rPr lang="en-US" sz="1300" dirty="0">
                <a:solidFill>
                  <a:srgbClr val="9FB0D6"/>
                </a:solidFill>
              </a:rPr>
              <a:t>Link your number through Meta’s official signup in minutes.</a:t>
            </a:r>
            <a:endParaRPr lang="en-US" sz="1300" dirty="0"/>
          </a:p>
        </p:txBody>
      </p:sp>
      <p:sp>
        <p:nvSpPr>
          <p:cNvPr id="15" name="next step 3"/>
          <p:cNvSpPr/>
          <p:nvPr/>
        </p:nvSpPr>
        <p:spPr>
          <a:xfrm>
            <a:off x="7680960" y="4297680"/>
            <a:ext cx="3931920" cy="1371600"/>
          </a:xfrm>
          <a:prstGeom prst="roundRect">
            <a:avLst>
              <a:gd name="adj" fmla="val 8000"/>
            </a:avLst>
          </a:prstGeom>
          <a:solidFill>
            <a:srgbClr val="1B2A55"/>
          </a:solidFill>
          <a:ln w="12700">
            <a:solidFill>
              <a:srgbClr val="2E4380"/>
            </a:solidFill>
            <a:prstDash val="solid"/>
          </a:ln>
        </p:spPr>
      </p:sp>
      <p:sp>
        <p:nvSpPr>
          <p:cNvPr id="16" name="next step 3 icon circle"/>
          <p:cNvSpPr/>
          <p:nvPr/>
        </p:nvSpPr>
        <p:spPr>
          <a:xfrm>
            <a:off x="7909560" y="4681728"/>
            <a:ext cx="603504" cy="603504"/>
          </a:xfrm>
          <a:prstGeom prst="ellipse">
            <a:avLst/>
          </a:prstGeom>
          <a:solidFill>
            <a:schemeClr val="accent4"/>
          </a:solidFill>
          <a:ln/>
        </p:spPr>
      </p:sp>
      <p:pic>
        <p:nvPicPr>
          <p:cNvPr id="17" name="next step 3 icon" descr="preencoded.png">    </p:cNvPr>
          <p:cNvPicPr>
            <a:picLocks noChangeAspect="1"/>
          </p:cNvPicPr>
          <p:nvPr/>
        </p:nvPicPr>
        <p:blipFill>
          <a:blip r:embed="rId4"/>
          <a:stretch>
            <a:fillRect/>
          </a:stretch>
        </p:blipFill>
        <p:spPr>
          <a:xfrm>
            <a:off x="8054401" y="4826569"/>
            <a:ext cx="313822" cy="313822"/>
          </a:xfrm>
          <a:prstGeom prst="rect">
            <a:avLst/>
          </a:prstGeom>
        </p:spPr>
      </p:pic>
      <p:sp>
        <p:nvSpPr>
          <p:cNvPr id="18" name="Text 12"/>
          <p:cNvSpPr txBox="1"/>
          <p:nvPr/>
        </p:nvSpPr>
        <p:spPr>
          <a:xfrm>
            <a:off x="8686800" y="4498848"/>
            <a:ext cx="2788920" cy="365760"/>
          </a:xfrm>
          <a:prstGeom prst="rect">
            <a:avLst/>
          </a:prstGeom>
          <a:noFill/>
          <a:ln/>
        </p:spPr>
        <p:txBody>
          <a:bodyPr wrap="square" lIns="0" tIns="0" rIns="0" bIns="0" rtlCol="0" anchor="t"/>
          <a:lstStyle/>
          <a:p>
            <a:pPr indent="0" marL="0">
              <a:buNone/>
            </a:pPr>
            <a:r>
              <a:rPr lang="en-US" sz="1700" b="1" dirty="0">
                <a:solidFill>
                  <a:schemeClr val="bg1"/>
                </a:solidFill>
              </a:rPr>
              <a:t>3. Go live</a:t>
            </a:r>
            <a:endParaRPr lang="en-US" sz="1700" dirty="0"/>
          </a:p>
        </p:txBody>
      </p:sp>
      <p:sp>
        <p:nvSpPr>
          <p:cNvPr id="19" name="Text 13"/>
          <p:cNvSpPr txBox="1"/>
          <p:nvPr/>
        </p:nvSpPr>
        <p:spPr>
          <a:xfrm>
            <a:off x="8686800" y="4892040"/>
            <a:ext cx="2788920" cy="640080"/>
          </a:xfrm>
          <a:prstGeom prst="rect">
            <a:avLst/>
          </a:prstGeom>
          <a:noFill/>
          <a:ln/>
        </p:spPr>
        <p:txBody>
          <a:bodyPr wrap="square" lIns="0" tIns="0" rIns="0" bIns="0" rtlCol="0" anchor="t"/>
          <a:lstStyle/>
          <a:p>
            <a:pPr indent="0" marL="0">
              <a:buNone/>
            </a:pPr>
            <a:r>
              <a:rPr lang="en-US" sz="1300" dirty="0">
                <a:solidFill>
                  <a:srgbClr val="9FB0D6"/>
                </a:solidFill>
              </a:rPr>
              <a:t>Turn on the AI, import contacts and start your first campaign.</a:t>
            </a:r>
            <a:endParaRPr lang="en-US" sz="1300" dirty="0"/>
          </a:p>
        </p:txBody>
      </p:sp>
      <p:sp>
        <p:nvSpPr>
          <p:cNvPr id="20" name="Text 14"/>
          <p:cNvSpPr txBox="1"/>
          <p:nvPr/>
        </p:nvSpPr>
        <p:spPr>
          <a:xfrm>
            <a:off x="640080" y="5760720"/>
            <a:ext cx="6766560" cy="365760"/>
          </a:xfrm>
          <a:prstGeom prst="rect">
            <a:avLst/>
          </a:prstGeom>
          <a:noFill/>
          <a:ln/>
        </p:spPr>
        <p:txBody>
          <a:bodyPr wrap="square" lIns="0" tIns="0" rIns="0" bIns="0" rtlCol="0" anchor="t"/>
          <a:lstStyle/>
          <a:p>
            <a:pPr indent="0" marL="0">
              <a:buNone/>
            </a:pPr>
            <a:r>
              <a:rPr lang="en-US" sz="1600" b="1" dirty="0">
                <a:solidFill>
                  <a:srgbClr val="3BE07A"/>
                </a:solidFill>
              </a:rPr>
              <a:t>Thank you · Dhanyavaadalu · Dhanyavaad</a:t>
            </a:r>
            <a:endParaRPr lang="en-US" sz="1600" dirty="0"/>
          </a:p>
        </p:txBody>
      </p:sp>
    </p:spTree>
  </p:cSld>
  <p:clrMapOvr>
    <a:masterClrMapping/>
  </p:clrMapOvr>
</p:sld>
</file>

<file path=ppt/theme/theme1.xml><?xml version="1.0" encoding="utf-8"?>
<a:theme xmlns:a="http://schemas.openxmlformats.org/drawingml/2006/main" name="WAMA CRM">
  <a:themeElements>
    <a:clrScheme name="WAMA CRM">
      <a:dk1>
        <a:srgbClr val="0E1B3D"/>
      </a:dk1>
      <a:lt1>
        <a:srgbClr val="FFFFFF"/>
      </a:lt1>
      <a:dk2>
        <a:srgbClr val="4A5874"/>
      </a:dk2>
      <a:lt2>
        <a:srgbClr val="F2F6FD"/>
      </a:lt2>
      <a:accent1>
        <a:srgbClr val="1D5BEA"/>
      </a:accent1>
      <a:accent2>
        <a:srgbClr val="00A884"/>
      </a:accent2>
      <a:accent3>
        <a:srgbClr val="19C6F5"/>
      </a:accent3>
      <a:accent4>
        <a:srgbClr val="F59E0B"/>
      </a:accent4>
      <a:accent5>
        <a:srgbClr val="E5484D"/>
      </a:accent5>
      <a:accent6>
        <a:srgbClr val="8A96B0"/>
      </a:accent6>
      <a:hlink>
        <a:srgbClr val="1D5BEA"/>
      </a:hlink>
      <a:folHlink>
        <a:srgbClr val="4A5874"/>
      </a:folHlink>
    </a:clrScheme>
    <a:fontScheme name="WAMA CR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Magnetora AI Solutions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WAMA CRM: WhatsApp AI CRM for Indian businesses</dc:title>
  <dc:subject>PptxGenJS Presentation</dc:subject>
  <dc:creator>Magnetora AI Solutions</dc:creator>
  <cp:lastModifiedBy>Magnetora AI Solutions</cp:lastModifiedBy>
  <cp:revision>1</cp:revision>
  <dcterms:created xsi:type="dcterms:W3CDTF">2026-10-23T19:23:49Z</dcterms:created>
  <dcterms:modified xsi:type="dcterms:W3CDTF">2026-10-23T19:23:49Z</dcterms:modified>
</cp:coreProperties>
</file>