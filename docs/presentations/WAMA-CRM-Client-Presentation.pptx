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2161198-1806-e045-d395-7ae7b2f44fcf}">
          <p14:sldIdLst>
            <p14:sldId id="256"/>
          </p14:sldIdLst>
        </p14:section>
        <p14:section name="The problem" id="{429cb1a9-d867-c459-cb1b-634aabb3b816}">
          <p14:sldIdLst>
            <p14:sldId id="257"/>
            <p14:sldId id="258"/>
          </p14:sldIdLst>
        </p14:section>
        <p14:section name="Who we are" id="{0c6d5635-08eb-1e3c-1fb4-912e1e94b273}">
          <p14:sldIdLst>
            <p14:sldId id="259"/>
          </p14:sldIdLst>
        </p14:section>
        <p14:section name="The solution" id="{13d245f8-4100-bcdb-6aa6-3e7be69df3cc}">
          <p14:sldIdLst>
            <p14:sldId id="260"/>
            <p14:sldId id="261"/>
          </p14:sldIdLst>
        </p14:section>
        <p14:section name="E-commerce" id="{20ee187e-0a2a-3223-8e32-729d2f5ee6ba}">
          <p14:sldIdLst>
            <p14:sldId id="262"/>
            <p14:sldId id="263"/>
          </p14:sldIdLst>
        </p14:section>
        <p14:section name="Features" id="{b1129d50-5d40-bfbc-ce4a-271bf7a0c1df}">
          <p14:sldIdLst>
            <p14:sldId id="264"/>
            <p14:sldId id="265"/>
          </p14:sldIdLst>
        </p14:section>
        <p14:section name="Your gain" id="{d06f95f9-7a64-8e15-bc14-bdb57182f59e}">
          <p14:sldIdLst>
            <p14:sldId id="266"/>
          </p14:sldIdLst>
        </p14:section>
        <p14:section name="Trusted by" id="{e589c2c2-5937-03ef-ae99-3f793788fdc1}">
          <p14:sldIdLst>
            <p14:sldId id="267"/>
            <p14:sldId id="268"/>
          </p14:sldIdLst>
        </p14:section>
        <p14:section name="Next steps" id="{1162f9ed-9e41-8be3-891e-ece204d42bc9}">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Namaste! WAMA CRM turns WhatsApp chats into sales: AI replies, a shop inside WhatsApp, campaigns and support, all in one app. Built by Magnetora AI Solutions, an official Meta Tech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client: which of these happens in your business today? Most say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replies cost about 36,000 rupees a month, no follow-up about 12,000, and staff time about 7,800. That is 55,800 a month, about 6.7 lakh a year. Redo this with the client’s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Magnetora AI Solutions builds AI products for Indian businesses. We are an official Meta Tech Provider, so we connect you to WhatsApp the official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WAMA CRM does four jobs in one app: replies, selling, marketing and support. Your whole team works from one WhatsApp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understands how Indians really type, including Telugu and Hindi in English letters, and answers from your own product list and FAQs.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 one for shops and brands. Customers see your catalog, add to cart, give their address and pay, without leaving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tile quickly. Stress UPI and Cash on Delivery, and that every order lands in the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Upload an Excel sheet, pick a Meta-approved template and send. You see who received, read and replied.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answers first. When a person is needed, a ticket is created and assigned with a reply time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left side, then the right. In our example, even saving half the loss is about 3.3 lakh rupees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Trust (Disease Eradication through Education and Prevention) uses WAMA CRM for health screening campaigns and support. Consular Helpdesk uses it for AI chat support with tickets for passport, OCI and PCC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reasons: official Meta connection, no markup on Meta charges, built for India, and quick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 the demo date before you leave the meeting. Offer to connect their WhatsApp number together on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DARK-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035040" cy="192024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640080" y="3794760"/>
            <a:ext cx="6035040" cy="822960"/>
          </a:xfrm>
          <a:prstGeom prst="rect">
            <a:avLst/>
          </a:prstGeom>
          <a:noFill/>
          <a:ln/>
        </p:spPr>
        <p:txBody>
          <a:bodyPr wrap="square" rtlCol="0"/>
          <a:lstStyle>
            <a:lvl1pPr algn="l" indent="0" marL="0">
              <a:buNone/>
              <a:defRPr lang="en-US" sz="2000" dirty="0">
                <a:solidFill>
                  <a:srgbClr val="DCE6FF"/>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pic>
        <p:nvPicPr>
          <p:cNvPr id="3" name="Image 0" descr="/home/user/Marketing-CRM/docs/brand/wamacrm-logo-horizontal.png">    </p:cNvPr>
          <p:cNvPicPr>
            <a:picLocks noChangeAspect="1"/>
          </p:cNvPicPr>
          <p:nvPr/>
        </p:nvPicPr>
        <p:blipFill>
          <a:blip r:embed="rId1"/>
          <a:stretch>
            <a:fillRect/>
          </a:stretch>
        </p:blipFill>
        <p:spPr>
          <a:xfrm>
            <a:off x="548640" y="6382512"/>
            <a:ext cx="1280160" cy="365760"/>
          </a:xfrm>
          <a:prstGeom prst="rect">
            <a:avLst/>
          </a:prstGeom>
        </p:spPr>
      </p:pic>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2.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3.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AMA CRM logo" descr="/home/user/Marketing-CRM/docs/brand/wamacrm-logo-horizontal-light.png">    </p:cNvPr>
          <p:cNvPicPr>
            <a:picLocks noChangeAspect="1"/>
          </p:cNvPicPr>
          <p:nvPr/>
        </p:nvPicPr>
        <p:blipFill>
          <a:blip r:embed="rId2"/>
          <a:stretch>
            <a:fillRect/>
          </a:stretch>
        </p:blipFill>
        <p:spPr>
          <a:xfrm>
            <a:off x="640080" y="502920"/>
            <a:ext cx="3520440" cy="1005840"/>
          </a:xfrm>
          <a:prstGeom prst="rect">
            <a:avLst/>
          </a:prstGeom>
        </p:spPr>
      </p:pic>
      <p:sp>
        <p:nvSpPr>
          <p:cNvPr id="3" name="Text 0"/>
          <p:cNvSpPr/>
          <p:nvPr>
            <p:ph idx="100" type="title" hasCustomPrompt="1"/>
          </p:nvPr>
        </p:nvSpPr>
        <p:spPr>
          <a:xfrm>
            <a:off x="640080" y="1737360"/>
            <a:ext cx="6035040" cy="1920240"/>
          </a:xfrm>
          <a:prstGeom prst="rect">
            <a:avLst/>
          </a:prstGeom>
          <a:noFill/>
          <a:ln/>
        </p:spPr>
        <p:txBody>
          <a:bodyPr wrap="square" lIns="0" tIns="0" rIns="0" bIns="0" rtlCol="0" anchor="b"/>
          <a:lstStyle/>
          <a:p>
            <a:pPr algn="l" indent="0" marL="0">
              <a:buNone/>
            </a:pPr>
            <a:r>
              <a:rPr lang="en-US" sz="4600" b="1" dirty="0">
                <a:solidFill>
                  <a:schemeClr val="bg1"/>
                </a:solidFill>
              </a:rPr>
              <a:t>Turn WhatsApp chats into sales</a:t>
            </a:r>
            <a:endParaRPr lang="en-US" sz="4600" dirty="0"/>
          </a:p>
        </p:txBody>
      </p:sp>
      <p:sp>
        <p:nvSpPr>
          <p:cNvPr id="4" name="Text 0"/>
          <p:cNvSpPr/>
          <p:nvPr>
            <p:ph idx="101" type="body" hasCustomPrompt="1"/>
          </p:nvPr>
        </p:nvSpPr>
        <p:spPr>
          <a:xfrm>
            <a:off x="640080" y="3794760"/>
            <a:ext cx="6035040" cy="822960"/>
          </a:xfrm>
          <a:prstGeom prst="rect">
            <a:avLst/>
          </a:prstGeom>
          <a:noFill/>
          <a:ln/>
        </p:spPr>
        <p:txBody>
          <a:bodyPr wrap="square" lIns="0" tIns="0" rIns="0" bIns="0" rtlCol="0" anchor="t"/>
          <a:lstStyle/>
          <a:p>
            <a:pPr algn="l" indent="0" marL="0">
              <a:buNone/>
            </a:pPr>
            <a:r>
              <a:rPr lang="en-US" sz="2000" dirty="0">
                <a:solidFill>
                  <a:srgbClr val="DCE6FF"/>
                </a:solidFill>
              </a:rPr>
              <a:t>AI replies · Shop in chat · Campaigns · Support</a:t>
            </a:r>
            <a:endParaRPr lang="en-US" sz="2000" dirty="0"/>
          </a:p>
        </p:txBody>
      </p:sp>
      <p:sp>
        <p:nvSpPr>
          <p:cNvPr id="5" name="     Official Meta Tech Provider chip"/>
          <p:cNvSpPr/>
          <p:nvPr/>
        </p:nvSpPr>
        <p:spPr>
          <a:xfrm>
            <a:off x="640080" y="4892040"/>
            <a:ext cx="3474720" cy="438912"/>
          </a:xfrm>
          <a:prstGeom prst="roundRect">
            <a:avLst>
              <a:gd name="adj" fmla="val 50000"/>
            </a:avLst>
          </a:prstGeom>
          <a:solidFill>
            <a:schemeClr val="accent2"/>
          </a:solidFill>
          <a:ln/>
        </p:spPr>
      </p:sp>
      <p:sp>
        <p:nvSpPr>
          <p:cNvPr id="6" name="Text 3"/>
          <p:cNvSpPr txBox="1"/>
          <p:nvPr/>
        </p:nvSpPr>
        <p:spPr>
          <a:xfrm>
            <a:off x="640080" y="4892040"/>
            <a:ext cx="3474720" cy="438912"/>
          </a:xfrm>
          <a:prstGeom prst="rect">
            <a:avLst/>
          </a:prstGeom>
          <a:noFill/>
          <a:ln/>
        </p:spPr>
        <p:txBody>
          <a:bodyPr wrap="square" lIns="0" tIns="0" rIns="0" bIns="0" rtlCol="0" anchor="ctr"/>
          <a:lstStyle/>
          <a:p>
            <a:pPr algn="ctr" indent="0" marL="0">
              <a:buNone/>
            </a:pPr>
            <a:r>
              <a:rPr lang="en-US" sz="1500" b="1" dirty="0">
                <a:solidFill>
                  <a:schemeClr val="bg1"/>
                </a:solidFill>
              </a:rPr>
              <a:t>     Official Meta Tech Provider</a:t>
            </a:r>
            <a:endParaRPr lang="en-US" sz="1500" dirty="0"/>
          </a:p>
        </p:txBody>
      </p:sp>
      <p:pic>
        <p:nvPicPr>
          <p:cNvPr id="7" name="badge icon" descr="preencoded.png">    </p:cNvPr>
          <p:cNvPicPr>
            <a:picLocks noChangeAspect="1"/>
          </p:cNvPicPr>
          <p:nvPr/>
        </p:nvPicPr>
        <p:blipFill>
          <a:blip r:embed="rId3"/>
          <a:stretch>
            <a:fillRect/>
          </a:stretch>
        </p:blipFill>
        <p:spPr>
          <a:xfrm>
            <a:off x="841248" y="4992624"/>
            <a:ext cx="237744" cy="237744"/>
          </a:xfrm>
          <a:prstGeom prst="rect">
            <a:avLst/>
          </a:prstGeom>
        </p:spPr>
      </p:pic>
      <p:sp>
        <p:nvSpPr>
          <p:cNvPr id="8" name="Text 4"/>
          <p:cNvSpPr txBox="1"/>
          <p:nvPr/>
        </p:nvSpPr>
        <p:spPr>
          <a:xfrm>
            <a:off x="640080" y="5989320"/>
            <a:ext cx="4572000" cy="365760"/>
          </a:xfrm>
          <a:prstGeom prst="rect">
            <a:avLst/>
          </a:prstGeom>
          <a:noFill/>
          <a:ln/>
        </p:spPr>
        <p:txBody>
          <a:bodyPr wrap="square" lIns="0" tIns="0" rIns="0" bIns="0" rtlCol="0" anchor="t"/>
          <a:lstStyle/>
          <a:p>
            <a:pPr indent="0" marL="0">
              <a:buNone/>
            </a:pPr>
            <a:r>
              <a:rPr lang="en-US" sz="1500" dirty="0">
                <a:solidFill>
                  <a:srgbClr val="B9C7EC"/>
                </a:solidFill>
              </a:rPr>
              <a:t>by Magnetora AI Solutions</a:t>
            </a:r>
            <a:endParaRPr lang="en-US" sz="1500" dirty="0"/>
          </a:p>
        </p:txBody>
      </p:sp>
      <p:pic>
        <p:nvPicPr>
          <p:cNvPr id="9" name="AI chat phone" descr="/tmp/claude-0/-home-user-Marketing-CRM/cda677d3-5399-55f3-b900-902225faa9ab/scratchpad/deck/img/phone-ai.png">    </p:cNvPr>
          <p:cNvPicPr>
            <a:picLocks noChangeAspect="1"/>
          </p:cNvPicPr>
          <p:nvPr/>
        </p:nvPicPr>
        <p:blipFill>
          <a:blip r:embed="rId4"/>
          <a:stretch>
            <a:fillRect/>
          </a:stretch>
        </p:blipFill>
        <p:spPr>
          <a:xfrm>
            <a:off x="6903720" y="502920"/>
            <a:ext cx="3120390" cy="5943600"/>
          </a:xfrm>
          <a:prstGeom prst="rect">
            <a:avLst/>
          </a:prstGeom>
        </p:spPr>
      </p:pic>
      <p:pic>
        <p:nvPicPr>
          <p:cNvPr id="10" name="payment phone" descr="/tmp/claude-0/-home-user-Marketing-CRM/cda677d3-5399-55f3-b900-902225faa9ab/scratchpad/deck/img/phone-pay.png">    </p:cNvPr>
          <p:cNvPicPr>
            <a:picLocks noChangeAspect="1"/>
          </p:cNvPicPr>
          <p:nvPr/>
        </p:nvPicPr>
        <p:blipFill>
          <a:blip r:embed="rId5"/>
          <a:stretch>
            <a:fillRect/>
          </a:stretch>
        </p:blipFill>
        <p:spPr>
          <a:xfrm>
            <a:off x="9098280" y="914400"/>
            <a:ext cx="2976372" cy="56692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Customers message. Who replies?</a:t>
            </a:r>
            <a:endParaRPr lang="en-US" sz="3600" dirty="0"/>
          </a:p>
        </p:txBody>
      </p:sp>
      <p:sp>
        <p:nvSpPr>
          <p:cNvPr id="3" name="pain 1"/>
          <p:cNvSpPr/>
          <p:nvPr/>
        </p:nvSpPr>
        <p:spPr>
          <a:xfrm>
            <a:off x="548640" y="1463040"/>
            <a:ext cx="2615184" cy="4480560"/>
          </a:xfrm>
          <a:prstGeom prst="roundRect">
            <a:avLst>
              <a:gd name="adj" fmla="val 6294"/>
            </a:avLst>
          </a:prstGeom>
          <a:solidFill>
            <a:schemeClr val="accent6"/>
          </a:solidFill>
          <a:ln/>
          <a:effectLst>
            <a:outerShdw sx="100000" sy="100000" kx="0" ky="0" algn="bl" rotWithShape="0" blurRad="152400" dist="50800" dir="5400000">
              <a:srgbClr val="0E1B3D">
                <a:alpha val="14000"/>
              </a:srgbClr>
            </a:outerShdw>
          </a:effectLst>
        </p:spPr>
      </p:sp>
      <p:sp>
        <p:nvSpPr>
          <p:cNvPr id="4" name="pain 1 icon circle"/>
          <p:cNvSpPr/>
          <p:nvPr/>
        </p:nvSpPr>
        <p:spPr>
          <a:xfrm>
            <a:off x="1261872" y="2148840"/>
            <a:ext cx="1188720" cy="1188720"/>
          </a:xfrm>
          <a:prstGeom prst="ellipse">
            <a:avLst/>
          </a:prstGeom>
          <a:solidFill>
            <a:schemeClr val="bg1"/>
          </a:solidFill>
          <a:ln/>
        </p:spPr>
      </p:sp>
      <p:pic>
        <p:nvPicPr>
          <p:cNvPr id="5" name="pain 1 icon" descr="preencoded.png">    </p:cNvPr>
          <p:cNvPicPr>
            <a:picLocks noChangeAspect="1"/>
          </p:cNvPicPr>
          <p:nvPr/>
        </p:nvPicPr>
        <p:blipFill>
          <a:blip r:embed="rId1"/>
          <a:stretch>
            <a:fillRect/>
          </a:stretch>
        </p:blipFill>
        <p:spPr>
          <a:xfrm>
            <a:off x="1559052" y="2446020"/>
            <a:ext cx="594360" cy="594360"/>
          </a:xfrm>
          <a:prstGeom prst="rect">
            <a:avLst/>
          </a:prstGeom>
        </p:spPr>
      </p:pic>
      <p:sp>
        <p:nvSpPr>
          <p:cNvPr id="6" name="Text 3"/>
          <p:cNvSpPr txBox="1"/>
          <p:nvPr/>
        </p:nvSpPr>
        <p:spPr>
          <a:xfrm>
            <a:off x="731520" y="3657600"/>
            <a:ext cx="2249424" cy="548640"/>
          </a:xfrm>
          <a:prstGeom prst="rect">
            <a:avLst/>
          </a:prstGeom>
          <a:noFill/>
          <a:ln/>
        </p:spPr>
        <p:txBody>
          <a:bodyPr wrap="square" lIns="0" tIns="0" rIns="0" bIns="0" rtlCol="0" anchor="t"/>
          <a:lstStyle/>
          <a:p>
            <a:pPr algn="ctr" indent="0" marL="0">
              <a:buNone/>
            </a:pPr>
            <a:r>
              <a:rPr lang="en-US" sz="2600" b="1" dirty="0">
                <a:solidFill>
                  <a:schemeClr val="bg1"/>
                </a:solidFill>
              </a:rPr>
              <a:t>Late replies</a:t>
            </a:r>
            <a:endParaRPr lang="en-US" sz="2600" dirty="0"/>
          </a:p>
        </p:txBody>
      </p:sp>
      <p:sp>
        <p:nvSpPr>
          <p:cNvPr id="7" name="Text 4"/>
          <p:cNvSpPr txBox="1"/>
          <p:nvPr/>
        </p:nvSpPr>
        <p:spPr>
          <a:xfrm>
            <a:off x="777240" y="4297680"/>
            <a:ext cx="2157984" cy="1097280"/>
          </a:xfrm>
          <a:prstGeom prst="rect">
            <a:avLst/>
          </a:prstGeom>
          <a:noFill/>
          <a:ln/>
        </p:spPr>
        <p:txBody>
          <a:bodyPr wrap="square" lIns="0" tIns="0" rIns="0" bIns="0" rtlCol="0" anchor="t"/>
          <a:lstStyle/>
          <a:p>
            <a:pPr algn="ctr" indent="0" marL="0">
              <a:buNone/>
            </a:pPr>
            <a:r>
              <a:rPr lang="en-US" sz="1800" dirty="0">
                <a:solidFill>
                  <a:schemeClr val="bg1"/>
                </a:solidFill>
              </a:rPr>
              <a:t>They buy from someone else</a:t>
            </a:r>
            <a:endParaRPr lang="en-US" sz="1800" dirty="0"/>
          </a:p>
        </p:txBody>
      </p:sp>
      <p:sp>
        <p:nvSpPr>
          <p:cNvPr id="8" name="pain 2"/>
          <p:cNvSpPr/>
          <p:nvPr/>
        </p:nvSpPr>
        <p:spPr>
          <a:xfrm>
            <a:off x="3346704" y="1463040"/>
            <a:ext cx="2615184" cy="4480560"/>
          </a:xfrm>
          <a:prstGeom prst="roundRect">
            <a:avLst>
              <a:gd name="adj" fmla="val 6294"/>
            </a:avLst>
          </a:prstGeom>
          <a:solidFill>
            <a:schemeClr val="accent3"/>
          </a:solidFill>
          <a:ln/>
          <a:effectLst>
            <a:outerShdw sx="100000" sy="100000" kx="0" ky="0" algn="bl" rotWithShape="0" blurRad="152400" dist="50800" dir="5400000">
              <a:srgbClr val="0E1B3D">
                <a:alpha val="14000"/>
              </a:srgbClr>
            </a:outerShdw>
          </a:effectLst>
        </p:spPr>
      </p:sp>
      <p:sp>
        <p:nvSpPr>
          <p:cNvPr id="9" name="pain 2 icon circle"/>
          <p:cNvSpPr/>
          <p:nvPr/>
        </p:nvSpPr>
        <p:spPr>
          <a:xfrm>
            <a:off x="4059936" y="2148840"/>
            <a:ext cx="1188720" cy="1188720"/>
          </a:xfrm>
          <a:prstGeom prst="ellipse">
            <a:avLst/>
          </a:prstGeom>
          <a:solidFill>
            <a:schemeClr val="bg1"/>
          </a:solidFill>
          <a:ln/>
        </p:spPr>
      </p:sp>
      <p:pic>
        <p:nvPicPr>
          <p:cNvPr id="10" name="pain 2 icon" descr="preencoded.png">    </p:cNvPr>
          <p:cNvPicPr>
            <a:picLocks noChangeAspect="1"/>
          </p:cNvPicPr>
          <p:nvPr/>
        </p:nvPicPr>
        <p:blipFill>
          <a:blip r:embed="rId2"/>
          <a:stretch>
            <a:fillRect/>
          </a:stretch>
        </p:blipFill>
        <p:spPr>
          <a:xfrm>
            <a:off x="4357116" y="2446020"/>
            <a:ext cx="594360" cy="594360"/>
          </a:xfrm>
          <a:prstGeom prst="rect">
            <a:avLst/>
          </a:prstGeom>
        </p:spPr>
      </p:pic>
      <p:sp>
        <p:nvSpPr>
          <p:cNvPr id="11" name="Text 7"/>
          <p:cNvSpPr txBox="1"/>
          <p:nvPr/>
        </p:nvSpPr>
        <p:spPr>
          <a:xfrm>
            <a:off x="3529584" y="3657600"/>
            <a:ext cx="2249424" cy="548640"/>
          </a:xfrm>
          <a:prstGeom prst="rect">
            <a:avLst/>
          </a:prstGeom>
          <a:noFill/>
          <a:ln/>
        </p:spPr>
        <p:txBody>
          <a:bodyPr wrap="square" lIns="0" tIns="0" rIns="0" bIns="0" rtlCol="0" anchor="t"/>
          <a:lstStyle/>
          <a:p>
            <a:pPr algn="ctr" indent="0" marL="0">
              <a:buNone/>
            </a:pPr>
            <a:r>
              <a:rPr lang="en-US" sz="2600" b="1" dirty="0">
                <a:solidFill>
                  <a:schemeClr val="bg1"/>
                </a:solidFill>
              </a:rPr>
              <a:t>Leads lost</a:t>
            </a:r>
            <a:endParaRPr lang="en-US" sz="2600" dirty="0"/>
          </a:p>
        </p:txBody>
      </p:sp>
      <p:sp>
        <p:nvSpPr>
          <p:cNvPr id="12" name="Text 8"/>
          <p:cNvSpPr txBox="1"/>
          <p:nvPr/>
        </p:nvSpPr>
        <p:spPr>
          <a:xfrm>
            <a:off x="3575304" y="4297680"/>
            <a:ext cx="2157984" cy="1097280"/>
          </a:xfrm>
          <a:prstGeom prst="rect">
            <a:avLst/>
          </a:prstGeom>
          <a:noFill/>
          <a:ln/>
        </p:spPr>
        <p:txBody>
          <a:bodyPr wrap="square" lIns="0" tIns="0" rIns="0" bIns="0" rtlCol="0" anchor="t"/>
          <a:lstStyle/>
          <a:p>
            <a:pPr algn="ctr" indent="0" marL="0">
              <a:buNone/>
            </a:pPr>
            <a:r>
              <a:rPr lang="en-US" sz="1800" dirty="0">
                <a:solidFill>
                  <a:schemeClr val="bg1"/>
                </a:solidFill>
              </a:rPr>
              <a:t>Chats stuck in staff phones</a:t>
            </a:r>
            <a:endParaRPr lang="en-US" sz="1800" dirty="0"/>
          </a:p>
        </p:txBody>
      </p:sp>
      <p:sp>
        <p:nvSpPr>
          <p:cNvPr id="13" name="pain 3"/>
          <p:cNvSpPr/>
          <p:nvPr/>
        </p:nvSpPr>
        <p:spPr>
          <a:xfrm>
            <a:off x="6144768" y="1463040"/>
            <a:ext cx="2615184" cy="4480560"/>
          </a:xfrm>
          <a:prstGeom prst="roundRect">
            <a:avLst>
              <a:gd name="adj" fmla="val 6294"/>
            </a:avLst>
          </a:prstGeom>
          <a:solidFill>
            <a:schemeClr val="accent5"/>
          </a:solidFill>
          <a:ln/>
          <a:effectLst>
            <a:outerShdw sx="100000" sy="100000" kx="0" ky="0" algn="bl" rotWithShape="0" blurRad="152400" dist="50800" dir="5400000">
              <a:srgbClr val="0E1B3D">
                <a:alpha val="14000"/>
              </a:srgbClr>
            </a:outerShdw>
          </a:effectLst>
        </p:spPr>
      </p:sp>
      <p:sp>
        <p:nvSpPr>
          <p:cNvPr id="14" name="pain 3 icon circle"/>
          <p:cNvSpPr/>
          <p:nvPr/>
        </p:nvSpPr>
        <p:spPr>
          <a:xfrm>
            <a:off x="6858000" y="2148840"/>
            <a:ext cx="1188720" cy="1188720"/>
          </a:xfrm>
          <a:prstGeom prst="ellipse">
            <a:avLst/>
          </a:prstGeom>
          <a:solidFill>
            <a:schemeClr val="bg1"/>
          </a:solidFill>
          <a:ln/>
        </p:spPr>
      </p:sp>
      <p:pic>
        <p:nvPicPr>
          <p:cNvPr id="15" name="pain 3 icon" descr="preencoded.png">    </p:cNvPr>
          <p:cNvPicPr>
            <a:picLocks noChangeAspect="1"/>
          </p:cNvPicPr>
          <p:nvPr/>
        </p:nvPicPr>
        <p:blipFill>
          <a:blip r:embed="rId3"/>
          <a:stretch>
            <a:fillRect/>
          </a:stretch>
        </p:blipFill>
        <p:spPr>
          <a:xfrm>
            <a:off x="7155180" y="2446020"/>
            <a:ext cx="594360" cy="594360"/>
          </a:xfrm>
          <a:prstGeom prst="rect">
            <a:avLst/>
          </a:prstGeom>
        </p:spPr>
      </p:pic>
      <p:sp>
        <p:nvSpPr>
          <p:cNvPr id="16" name="Text 11"/>
          <p:cNvSpPr txBox="1"/>
          <p:nvPr/>
        </p:nvSpPr>
        <p:spPr>
          <a:xfrm>
            <a:off x="6327648" y="3657600"/>
            <a:ext cx="2249424" cy="548640"/>
          </a:xfrm>
          <a:prstGeom prst="rect">
            <a:avLst/>
          </a:prstGeom>
          <a:noFill/>
          <a:ln/>
        </p:spPr>
        <p:txBody>
          <a:bodyPr wrap="square" lIns="0" tIns="0" rIns="0" bIns="0" rtlCol="0" anchor="t"/>
          <a:lstStyle/>
          <a:p>
            <a:pPr algn="ctr" indent="0" marL="0">
              <a:buNone/>
            </a:pPr>
            <a:r>
              <a:rPr lang="en-US" sz="2600" b="1" dirty="0">
                <a:solidFill>
                  <a:schemeClr val="bg1"/>
                </a:solidFill>
              </a:rPr>
              <a:t>No follow-up</a:t>
            </a:r>
            <a:endParaRPr lang="en-US" sz="2600" dirty="0"/>
          </a:p>
        </p:txBody>
      </p:sp>
      <p:sp>
        <p:nvSpPr>
          <p:cNvPr id="17" name="Text 12"/>
          <p:cNvSpPr txBox="1"/>
          <p:nvPr/>
        </p:nvSpPr>
        <p:spPr>
          <a:xfrm>
            <a:off x="6373368" y="4297680"/>
            <a:ext cx="2157984" cy="1097280"/>
          </a:xfrm>
          <a:prstGeom prst="rect">
            <a:avLst/>
          </a:prstGeom>
          <a:noFill/>
          <a:ln/>
        </p:spPr>
        <p:txBody>
          <a:bodyPr wrap="square" lIns="0" tIns="0" rIns="0" bIns="0" rtlCol="0" anchor="t"/>
          <a:lstStyle/>
          <a:p>
            <a:pPr algn="ctr" indent="0" marL="0">
              <a:buNone/>
            </a:pPr>
            <a:r>
              <a:rPr lang="en-US" sz="1800" dirty="0">
                <a:solidFill>
                  <a:schemeClr val="bg1"/>
                </a:solidFill>
              </a:rPr>
              <a:t>Interested buyers forgotten</a:t>
            </a:r>
            <a:endParaRPr lang="en-US" sz="1800" dirty="0"/>
          </a:p>
        </p:txBody>
      </p:sp>
      <p:sp>
        <p:nvSpPr>
          <p:cNvPr id="18" name="pain 4"/>
          <p:cNvSpPr/>
          <p:nvPr/>
        </p:nvSpPr>
        <p:spPr>
          <a:xfrm>
            <a:off x="8942832" y="1463040"/>
            <a:ext cx="2615184" cy="4480560"/>
          </a:xfrm>
          <a:prstGeom prst="roundRect">
            <a:avLst>
              <a:gd name="adj" fmla="val 6294"/>
            </a:avLst>
          </a:prstGeom>
          <a:solidFill>
            <a:schemeClr val="accent4"/>
          </a:solidFill>
          <a:ln/>
          <a:effectLst>
            <a:outerShdw sx="100000" sy="100000" kx="0" ky="0" algn="bl" rotWithShape="0" blurRad="152400" dist="50800" dir="5400000">
              <a:srgbClr val="0E1B3D">
                <a:alpha val="14000"/>
              </a:srgbClr>
            </a:outerShdw>
          </a:effectLst>
        </p:spPr>
      </p:sp>
      <p:sp>
        <p:nvSpPr>
          <p:cNvPr id="19" name="pain 4 icon circle"/>
          <p:cNvSpPr/>
          <p:nvPr/>
        </p:nvSpPr>
        <p:spPr>
          <a:xfrm>
            <a:off x="9656064" y="2148840"/>
            <a:ext cx="1188720" cy="1188720"/>
          </a:xfrm>
          <a:prstGeom prst="ellipse">
            <a:avLst/>
          </a:prstGeom>
          <a:solidFill>
            <a:schemeClr val="bg1"/>
          </a:solidFill>
          <a:ln/>
        </p:spPr>
      </p:sp>
      <p:pic>
        <p:nvPicPr>
          <p:cNvPr id="20" name="pain 4 icon" descr="preencoded.png">    </p:cNvPr>
          <p:cNvPicPr>
            <a:picLocks noChangeAspect="1"/>
          </p:cNvPicPr>
          <p:nvPr/>
        </p:nvPicPr>
        <p:blipFill>
          <a:blip r:embed="rId4"/>
          <a:stretch>
            <a:fillRect/>
          </a:stretch>
        </p:blipFill>
        <p:spPr>
          <a:xfrm>
            <a:off x="9953244" y="2446020"/>
            <a:ext cx="594360" cy="594360"/>
          </a:xfrm>
          <a:prstGeom prst="rect">
            <a:avLst/>
          </a:prstGeom>
        </p:spPr>
      </p:pic>
      <p:sp>
        <p:nvSpPr>
          <p:cNvPr id="21" name="Text 15"/>
          <p:cNvSpPr txBox="1"/>
          <p:nvPr/>
        </p:nvSpPr>
        <p:spPr>
          <a:xfrm>
            <a:off x="9125712" y="3657600"/>
            <a:ext cx="2249424" cy="548640"/>
          </a:xfrm>
          <a:prstGeom prst="rect">
            <a:avLst/>
          </a:prstGeom>
          <a:noFill/>
          <a:ln/>
        </p:spPr>
        <p:txBody>
          <a:bodyPr wrap="square" lIns="0" tIns="0" rIns="0" bIns="0" rtlCol="0" anchor="t"/>
          <a:lstStyle/>
          <a:p>
            <a:pPr algn="ctr" indent="0" marL="0">
              <a:buNone/>
            </a:pPr>
            <a:r>
              <a:rPr lang="en-US" sz="2600" b="1" dirty="0">
                <a:solidFill>
                  <a:schemeClr val="bg1"/>
                </a:solidFill>
              </a:rPr>
              <a:t>Same questions</a:t>
            </a:r>
            <a:endParaRPr lang="en-US" sz="2600" dirty="0"/>
          </a:p>
        </p:txBody>
      </p:sp>
      <p:sp>
        <p:nvSpPr>
          <p:cNvPr id="22" name="Text 16"/>
          <p:cNvSpPr txBox="1"/>
          <p:nvPr/>
        </p:nvSpPr>
        <p:spPr>
          <a:xfrm>
            <a:off x="9171432" y="4297680"/>
            <a:ext cx="2157984" cy="1097280"/>
          </a:xfrm>
          <a:prstGeom prst="rect">
            <a:avLst/>
          </a:prstGeom>
          <a:noFill/>
          <a:ln/>
        </p:spPr>
        <p:txBody>
          <a:bodyPr wrap="square" lIns="0" tIns="0" rIns="0" bIns="0" rtlCol="0" anchor="t"/>
          <a:lstStyle/>
          <a:p>
            <a:pPr algn="ctr" indent="0" marL="0">
              <a:buNone/>
            </a:pPr>
            <a:r>
              <a:rPr lang="en-US" sz="1800" dirty="0">
                <a:solidFill>
                  <a:schemeClr val="bg1"/>
                </a:solidFill>
              </a:rPr>
              <a:t>“Price? Timing? Address?”</a:t>
            </a:r>
            <a:endParaRPr lang="en-US" sz="18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What it costs you</a:t>
            </a:r>
            <a:endParaRPr lang="en-US" sz="3600" dirty="0"/>
          </a:p>
        </p:txBody>
      </p:sp>
      <p:sp>
        <p:nvSpPr>
          <p:cNvPr id="3" name="loss panel"/>
          <p:cNvSpPr/>
          <p:nvPr/>
        </p:nvSpPr>
        <p:spPr>
          <a:xfrm>
            <a:off x="548640" y="1417320"/>
            <a:ext cx="5760720" cy="4526280"/>
          </a:xfrm>
          <a:prstGeom prst="roundRect">
            <a:avLst>
              <a:gd name="adj" fmla="val 3636"/>
            </a:avLst>
          </a:prstGeom>
          <a:solidFill>
            <a:schemeClr val="accent6"/>
          </a:solidFill>
          <a:ln/>
          <a:effectLst>
            <a:outerShdw sx="100000" sy="100000" kx="0" ky="0" algn="bl" rotWithShape="0" blurRad="152400" dist="50800" dir="5400000">
              <a:srgbClr val="0E1B3D">
                <a:alpha val="14000"/>
              </a:srgbClr>
            </a:outerShdw>
          </a:effectLst>
        </p:spPr>
      </p:sp>
      <p:sp>
        <p:nvSpPr>
          <p:cNvPr id="4" name="Text 2"/>
          <p:cNvSpPr txBox="1"/>
          <p:nvPr/>
        </p:nvSpPr>
        <p:spPr>
          <a:xfrm>
            <a:off x="914400" y="1783080"/>
            <a:ext cx="5029200" cy="457200"/>
          </a:xfrm>
          <a:prstGeom prst="rect">
            <a:avLst/>
          </a:prstGeom>
          <a:noFill/>
          <a:ln/>
        </p:spPr>
        <p:txBody>
          <a:bodyPr wrap="square" lIns="0" tIns="0" rIns="0" bIns="0" rtlCol="0" anchor="t"/>
          <a:lstStyle/>
          <a:p>
            <a:pPr indent="0" marL="0">
              <a:buNone/>
            </a:pPr>
            <a:r>
              <a:rPr lang="en-US" sz="2200" dirty="0">
                <a:solidFill>
                  <a:srgbClr val="FFE4E6"/>
                </a:solidFill>
              </a:rPr>
              <a:t>You may be losing</a:t>
            </a:r>
            <a:endParaRPr lang="en-US" sz="2200" dirty="0"/>
          </a:p>
        </p:txBody>
      </p:sp>
      <p:sp>
        <p:nvSpPr>
          <p:cNvPr id="5" name="Text 3"/>
          <p:cNvSpPr txBox="1"/>
          <p:nvPr/>
        </p:nvSpPr>
        <p:spPr>
          <a:xfrm>
            <a:off x="914400" y="2286000"/>
            <a:ext cx="5029200" cy="1280160"/>
          </a:xfrm>
          <a:prstGeom prst="rect">
            <a:avLst/>
          </a:prstGeom>
          <a:noFill/>
          <a:ln/>
        </p:spPr>
        <p:txBody>
          <a:bodyPr wrap="square" lIns="0" tIns="0" rIns="0" bIns="0" rtlCol="0" anchor="t"/>
          <a:lstStyle/>
          <a:p>
            <a:pPr indent="0" marL="0">
              <a:buNone/>
            </a:pPr>
            <a:r>
              <a:rPr lang="en-US" sz="8000" b="1" dirty="0">
                <a:solidFill>
                  <a:schemeClr val="bg1"/>
                </a:solidFill>
              </a:rPr>
              <a:t>₹6.7 lakh</a:t>
            </a:r>
            <a:endParaRPr lang="en-US" sz="8000" dirty="0"/>
          </a:p>
        </p:txBody>
      </p:sp>
      <p:sp>
        <p:nvSpPr>
          <p:cNvPr id="6" name="Text 4"/>
          <p:cNvSpPr txBox="1"/>
          <p:nvPr/>
        </p:nvSpPr>
        <p:spPr>
          <a:xfrm>
            <a:off x="914400" y="3611880"/>
            <a:ext cx="5029200" cy="548640"/>
          </a:xfrm>
          <a:prstGeom prst="rect">
            <a:avLst/>
          </a:prstGeom>
          <a:noFill/>
          <a:ln/>
        </p:spPr>
        <p:txBody>
          <a:bodyPr wrap="square" lIns="0" tIns="0" rIns="0" bIns="0" rtlCol="0" anchor="t"/>
          <a:lstStyle/>
          <a:p>
            <a:pPr indent="0" marL="0">
              <a:buNone/>
            </a:pPr>
            <a:r>
              <a:rPr lang="en-US" sz="3000" b="1" dirty="0">
                <a:solidFill>
                  <a:schemeClr val="bg1"/>
                </a:solidFill>
              </a:rPr>
              <a:t>every year</a:t>
            </a:r>
            <a:endParaRPr lang="en-US" sz="3000" dirty="0"/>
          </a:p>
        </p:txBody>
      </p:sp>
      <p:sp>
        <p:nvSpPr>
          <p:cNvPr id="7" name="Text 5"/>
          <p:cNvSpPr txBox="1"/>
          <p:nvPr/>
        </p:nvSpPr>
        <p:spPr>
          <a:xfrm>
            <a:off x="914400" y="5257800"/>
            <a:ext cx="5120640" cy="365760"/>
          </a:xfrm>
          <a:prstGeom prst="rect">
            <a:avLst/>
          </a:prstGeom>
          <a:noFill/>
          <a:ln/>
        </p:spPr>
        <p:txBody>
          <a:bodyPr wrap="square" lIns="0" tIns="0" rIns="0" bIns="0" rtlCol="0" anchor="t"/>
          <a:lstStyle/>
          <a:p>
            <a:pPr indent="0" marL="0">
              <a:buNone/>
            </a:pPr>
            <a:r>
              <a:rPr lang="en-US" sz="1300" i="1" dirty="0">
                <a:solidFill>
                  <a:srgbClr val="FFE4E6"/>
                </a:solidFill>
              </a:rPr>
              <a:t>Example: 300 enquiries a month, ₹2,000 average sale</a:t>
            </a:r>
            <a:endParaRPr lang="en-US" sz="1300" dirty="0"/>
          </a:p>
        </p:txBody>
      </p:sp>
      <p:sp>
        <p:nvSpPr>
          <p:cNvPr id="8" name="leak 1"/>
          <p:cNvSpPr/>
          <p:nvPr/>
        </p:nvSpPr>
        <p:spPr>
          <a:xfrm>
            <a:off x="6675120" y="1417320"/>
            <a:ext cx="4937760" cy="1371600"/>
          </a:xfrm>
          <a:prstGeom prst="roundRect">
            <a:avLst>
              <a:gd name="adj" fmla="val 12000"/>
            </a:avLst>
          </a:prstGeom>
          <a:solidFill>
            <a:srgbClr val="FFF1F2"/>
          </a:solidFill>
          <a:ln/>
          <a:effectLst>
            <a:outerShdw sx="100000" sy="100000" kx="0" ky="0" algn="bl" rotWithShape="0" blurRad="152400" dist="50800" dir="5400000">
              <a:srgbClr val="0E1B3D">
                <a:alpha val="14000"/>
              </a:srgbClr>
            </a:outerShdw>
          </a:effectLst>
        </p:spPr>
      </p:sp>
      <p:sp>
        <p:nvSpPr>
          <p:cNvPr id="9" name="leak 1 icon circle"/>
          <p:cNvSpPr/>
          <p:nvPr/>
        </p:nvSpPr>
        <p:spPr>
          <a:xfrm>
            <a:off x="6903720" y="1691640"/>
            <a:ext cx="822960" cy="822960"/>
          </a:xfrm>
          <a:prstGeom prst="ellipse">
            <a:avLst/>
          </a:prstGeom>
          <a:solidFill>
            <a:schemeClr val="accent3"/>
          </a:solidFill>
          <a:ln/>
        </p:spPr>
      </p:sp>
      <p:pic>
        <p:nvPicPr>
          <p:cNvPr id="10" name="leak 1 icon" descr="preencoded.png">    </p:cNvPr>
          <p:cNvPicPr>
            <a:picLocks noChangeAspect="1"/>
          </p:cNvPicPr>
          <p:nvPr/>
        </p:nvPicPr>
        <p:blipFill>
          <a:blip r:embed="rId1"/>
          <a:stretch>
            <a:fillRect/>
          </a:stretch>
        </p:blipFill>
        <p:spPr>
          <a:xfrm>
            <a:off x="7109460" y="1897380"/>
            <a:ext cx="411480" cy="411480"/>
          </a:xfrm>
          <a:prstGeom prst="rect">
            <a:avLst/>
          </a:prstGeom>
        </p:spPr>
      </p:pic>
      <p:sp>
        <p:nvSpPr>
          <p:cNvPr id="11" name="Text 8"/>
          <p:cNvSpPr txBox="1"/>
          <p:nvPr/>
        </p:nvSpPr>
        <p:spPr>
          <a:xfrm>
            <a:off x="7955280" y="1581912"/>
            <a:ext cx="3474720" cy="594360"/>
          </a:xfrm>
          <a:prstGeom prst="rect">
            <a:avLst/>
          </a:prstGeom>
          <a:noFill/>
          <a:ln/>
        </p:spPr>
        <p:txBody>
          <a:bodyPr wrap="square" lIns="0" tIns="0" rIns="0" bIns="0" rtlCol="0" anchor="t"/>
          <a:lstStyle/>
          <a:p>
            <a:pPr indent="0" marL="0">
              <a:buNone/>
            </a:pPr>
            <a:r>
              <a:rPr lang="en-US" sz="3200" b="1" dirty="0">
                <a:solidFill>
                  <a:schemeClr val="tx1"/>
                </a:solidFill>
              </a:rPr>
              <a:t>90</a:t>
            </a:r>
            <a:endParaRPr lang="en-US" sz="3200" dirty="0"/>
          </a:p>
        </p:txBody>
      </p:sp>
      <p:sp>
        <p:nvSpPr>
          <p:cNvPr id="12" name="Text 9"/>
          <p:cNvSpPr txBox="1"/>
          <p:nvPr/>
        </p:nvSpPr>
        <p:spPr>
          <a:xfrm>
            <a:off x="7955280" y="2194560"/>
            <a:ext cx="3474720" cy="411480"/>
          </a:xfrm>
          <a:prstGeom prst="rect">
            <a:avLst/>
          </a:prstGeom>
          <a:noFill/>
          <a:ln/>
        </p:spPr>
        <p:txBody>
          <a:bodyPr wrap="square" lIns="0" tIns="0" rIns="0" bIns="0" rtlCol="0" anchor="t"/>
          <a:lstStyle/>
          <a:p>
            <a:pPr indent="0" marL="0">
              <a:buNone/>
            </a:pPr>
            <a:r>
              <a:rPr lang="en-US" sz="1600" dirty="0">
                <a:solidFill>
                  <a:schemeClr val="tx2"/>
                </a:solidFill>
              </a:rPr>
              <a:t>enquiries a month get no quick reply</a:t>
            </a:r>
            <a:endParaRPr lang="en-US" sz="1600" dirty="0"/>
          </a:p>
        </p:txBody>
      </p:sp>
      <p:sp>
        <p:nvSpPr>
          <p:cNvPr id="13" name="leak 2"/>
          <p:cNvSpPr/>
          <p:nvPr/>
        </p:nvSpPr>
        <p:spPr>
          <a:xfrm>
            <a:off x="6675120" y="2971800"/>
            <a:ext cx="4937760" cy="1371600"/>
          </a:xfrm>
          <a:prstGeom prst="roundRect">
            <a:avLst>
              <a:gd name="adj" fmla="val 12000"/>
            </a:avLst>
          </a:prstGeom>
          <a:solidFill>
            <a:srgbClr val="FFF1F2"/>
          </a:solidFill>
          <a:ln/>
          <a:effectLst>
            <a:outerShdw sx="100000" sy="100000" kx="0" ky="0" algn="bl" rotWithShape="0" blurRad="152400" dist="50800" dir="5400000">
              <a:srgbClr val="0E1B3D">
                <a:alpha val="14000"/>
              </a:srgbClr>
            </a:outerShdw>
          </a:effectLst>
        </p:spPr>
      </p:sp>
      <p:sp>
        <p:nvSpPr>
          <p:cNvPr id="14" name="leak 2 icon circle"/>
          <p:cNvSpPr/>
          <p:nvPr/>
        </p:nvSpPr>
        <p:spPr>
          <a:xfrm>
            <a:off x="6903720" y="3246120"/>
            <a:ext cx="822960" cy="822960"/>
          </a:xfrm>
          <a:prstGeom prst="ellipse">
            <a:avLst/>
          </a:prstGeom>
          <a:solidFill>
            <a:schemeClr val="accent5"/>
          </a:solidFill>
          <a:ln/>
        </p:spPr>
      </p:sp>
      <p:pic>
        <p:nvPicPr>
          <p:cNvPr id="15" name="leak 2 icon" descr="preencoded.png">    </p:cNvPr>
          <p:cNvPicPr>
            <a:picLocks noChangeAspect="1"/>
          </p:cNvPicPr>
          <p:nvPr/>
        </p:nvPicPr>
        <p:blipFill>
          <a:blip r:embed="rId2"/>
          <a:stretch>
            <a:fillRect/>
          </a:stretch>
        </p:blipFill>
        <p:spPr>
          <a:xfrm>
            <a:off x="7109460" y="3451860"/>
            <a:ext cx="411480" cy="411480"/>
          </a:xfrm>
          <a:prstGeom prst="rect">
            <a:avLst/>
          </a:prstGeom>
        </p:spPr>
      </p:pic>
      <p:sp>
        <p:nvSpPr>
          <p:cNvPr id="16" name="Text 12"/>
          <p:cNvSpPr txBox="1"/>
          <p:nvPr/>
        </p:nvSpPr>
        <p:spPr>
          <a:xfrm>
            <a:off x="7955280" y="3136392"/>
            <a:ext cx="3474720" cy="594360"/>
          </a:xfrm>
          <a:prstGeom prst="rect">
            <a:avLst/>
          </a:prstGeom>
          <a:noFill/>
          <a:ln/>
        </p:spPr>
        <p:txBody>
          <a:bodyPr wrap="square" lIns="0" tIns="0" rIns="0" bIns="0" rtlCol="0" anchor="t"/>
          <a:lstStyle/>
          <a:p>
            <a:pPr indent="0" marL="0">
              <a:buNone/>
            </a:pPr>
            <a:r>
              <a:rPr lang="en-US" sz="3200" b="1" dirty="0">
                <a:solidFill>
                  <a:schemeClr val="tx1"/>
                </a:solidFill>
              </a:rPr>
              <a:t>60</a:t>
            </a:r>
            <a:endParaRPr lang="en-US" sz="3200" dirty="0"/>
          </a:p>
        </p:txBody>
      </p:sp>
      <p:sp>
        <p:nvSpPr>
          <p:cNvPr id="17" name="Text 13"/>
          <p:cNvSpPr txBox="1"/>
          <p:nvPr/>
        </p:nvSpPr>
        <p:spPr>
          <a:xfrm>
            <a:off x="7955280" y="3749040"/>
            <a:ext cx="3474720" cy="411480"/>
          </a:xfrm>
          <a:prstGeom prst="rect">
            <a:avLst/>
          </a:prstGeom>
          <a:noFill/>
          <a:ln/>
        </p:spPr>
        <p:txBody>
          <a:bodyPr wrap="square" lIns="0" tIns="0" rIns="0" bIns="0" rtlCol="0" anchor="t"/>
          <a:lstStyle/>
          <a:p>
            <a:pPr indent="0" marL="0">
              <a:buNone/>
            </a:pPr>
            <a:r>
              <a:rPr lang="en-US" sz="1600" dirty="0">
                <a:solidFill>
                  <a:schemeClr val="tx2"/>
                </a:solidFill>
              </a:rPr>
              <a:t>interested leads never followed up</a:t>
            </a:r>
            <a:endParaRPr lang="en-US" sz="1600" dirty="0"/>
          </a:p>
        </p:txBody>
      </p:sp>
      <p:sp>
        <p:nvSpPr>
          <p:cNvPr id="18" name="leak 3"/>
          <p:cNvSpPr/>
          <p:nvPr/>
        </p:nvSpPr>
        <p:spPr>
          <a:xfrm>
            <a:off x="6675120" y="4526280"/>
            <a:ext cx="4937760" cy="1371600"/>
          </a:xfrm>
          <a:prstGeom prst="roundRect">
            <a:avLst>
              <a:gd name="adj" fmla="val 12000"/>
            </a:avLst>
          </a:prstGeom>
          <a:solidFill>
            <a:srgbClr val="FFF1F2"/>
          </a:solidFill>
          <a:ln/>
          <a:effectLst>
            <a:outerShdw sx="100000" sy="100000" kx="0" ky="0" algn="bl" rotWithShape="0" blurRad="152400" dist="50800" dir="5400000">
              <a:srgbClr val="0E1B3D">
                <a:alpha val="14000"/>
              </a:srgbClr>
            </a:outerShdw>
          </a:effectLst>
        </p:spPr>
      </p:sp>
      <p:sp>
        <p:nvSpPr>
          <p:cNvPr id="19" name="leak 3 icon circle"/>
          <p:cNvSpPr/>
          <p:nvPr/>
        </p:nvSpPr>
        <p:spPr>
          <a:xfrm>
            <a:off x="6903720" y="4800600"/>
            <a:ext cx="822960" cy="822960"/>
          </a:xfrm>
          <a:prstGeom prst="ellipse">
            <a:avLst/>
          </a:prstGeom>
          <a:solidFill>
            <a:schemeClr val="accent4"/>
          </a:solidFill>
          <a:ln/>
        </p:spPr>
      </p:sp>
      <p:pic>
        <p:nvPicPr>
          <p:cNvPr id="20" name="leak 3 icon" descr="preencoded.png">    </p:cNvPr>
          <p:cNvPicPr>
            <a:picLocks noChangeAspect="1"/>
          </p:cNvPicPr>
          <p:nvPr/>
        </p:nvPicPr>
        <p:blipFill>
          <a:blip r:embed="rId3"/>
          <a:stretch>
            <a:fillRect/>
          </a:stretch>
        </p:blipFill>
        <p:spPr>
          <a:xfrm>
            <a:off x="7109460" y="5006340"/>
            <a:ext cx="411480" cy="411480"/>
          </a:xfrm>
          <a:prstGeom prst="rect">
            <a:avLst/>
          </a:prstGeom>
        </p:spPr>
      </p:pic>
      <p:sp>
        <p:nvSpPr>
          <p:cNvPr id="21" name="Text 16"/>
          <p:cNvSpPr txBox="1"/>
          <p:nvPr/>
        </p:nvSpPr>
        <p:spPr>
          <a:xfrm>
            <a:off x="7955280" y="4690872"/>
            <a:ext cx="3474720" cy="594360"/>
          </a:xfrm>
          <a:prstGeom prst="rect">
            <a:avLst/>
          </a:prstGeom>
          <a:noFill/>
          <a:ln/>
        </p:spPr>
        <p:txBody>
          <a:bodyPr wrap="square" lIns="0" tIns="0" rIns="0" bIns="0" rtlCol="0" anchor="t"/>
          <a:lstStyle/>
          <a:p>
            <a:pPr indent="0" marL="0">
              <a:buNone/>
            </a:pPr>
            <a:r>
              <a:rPr lang="en-US" sz="3200" b="1" dirty="0">
                <a:solidFill>
                  <a:schemeClr val="tx1"/>
                </a:solidFill>
              </a:rPr>
              <a:t>52 hrs</a:t>
            </a:r>
            <a:endParaRPr lang="en-US" sz="3200" dirty="0"/>
          </a:p>
        </p:txBody>
      </p:sp>
      <p:sp>
        <p:nvSpPr>
          <p:cNvPr id="22" name="Text 17"/>
          <p:cNvSpPr txBox="1"/>
          <p:nvPr/>
        </p:nvSpPr>
        <p:spPr>
          <a:xfrm>
            <a:off x="7955280" y="5303520"/>
            <a:ext cx="3474720" cy="411480"/>
          </a:xfrm>
          <a:prstGeom prst="rect">
            <a:avLst/>
          </a:prstGeom>
          <a:noFill/>
          <a:ln/>
        </p:spPr>
        <p:txBody>
          <a:bodyPr wrap="square" lIns="0" tIns="0" rIns="0" bIns="0" rtlCol="0" anchor="t"/>
          <a:lstStyle/>
          <a:p>
            <a:pPr indent="0" marL="0">
              <a:buNone/>
            </a:pPr>
            <a:r>
              <a:rPr lang="en-US" sz="1600" dirty="0">
                <a:solidFill>
                  <a:schemeClr val="tx2"/>
                </a:solidFill>
              </a:rPr>
              <a:t>staff time on the same questions</a:t>
            </a:r>
            <a:endParaRPr lang="en-US" sz="16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Magnetora AI Solutions</a:t>
            </a:r>
            <a:endParaRPr lang="en-US" sz="3600" dirty="0"/>
          </a:p>
        </p:txBody>
      </p:sp>
      <p:sp>
        <p:nvSpPr>
          <p:cNvPr id="3" name="Magnetora logo card"/>
          <p:cNvSpPr/>
          <p:nvPr/>
        </p:nvSpPr>
        <p:spPr>
          <a:xfrm>
            <a:off x="548640" y="1417320"/>
            <a:ext cx="4480560" cy="4526280"/>
          </a:xfrm>
          <a:prstGeom prst="roundRect">
            <a:avLst>
              <a:gd name="adj" fmla="val 3673"/>
            </a:avLst>
          </a:prstGeom>
          <a:solidFill>
            <a:schemeClr val="bg1"/>
          </a:solidFill>
          <a:ln w="12700">
            <a:solidFill>
              <a:srgbClr val="E1E7F2"/>
            </a:solidFill>
            <a:prstDash val="solid"/>
          </a:ln>
          <a:effectLst>
            <a:outerShdw sx="100000" sy="100000" kx="0" ky="0" algn="bl" rotWithShape="0" blurRad="152400" dist="50800" dir="5400000">
              <a:srgbClr val="0E1B3D">
                <a:alpha val="14000"/>
              </a:srgbClr>
            </a:outerShdw>
          </a:effectLst>
        </p:spPr>
      </p:sp>
      <p:pic>
        <p:nvPicPr>
          <p:cNvPr id="4" name="Magnetora AI Solutions logo" descr="/home/user/Marketing-CRM/public/logo.png">    </p:cNvPr>
          <p:cNvPicPr>
            <a:picLocks noChangeAspect="1"/>
          </p:cNvPicPr>
          <p:nvPr/>
        </p:nvPicPr>
        <p:blipFill>
          <a:blip r:embed="rId1"/>
          <a:stretch>
            <a:fillRect/>
          </a:stretch>
        </p:blipFill>
        <p:spPr>
          <a:xfrm>
            <a:off x="777240" y="1600200"/>
            <a:ext cx="4023360" cy="4023360"/>
          </a:xfrm>
          <a:prstGeom prst="rect">
            <a:avLst/>
          </a:prstGeom>
        </p:spPr>
      </p:pic>
      <p:sp>
        <p:nvSpPr>
          <p:cNvPr id="5" name="Text 2"/>
          <p:cNvSpPr txBox="1"/>
          <p:nvPr/>
        </p:nvSpPr>
        <p:spPr>
          <a:xfrm>
            <a:off x="5486400" y="1463040"/>
            <a:ext cx="6126480" cy="1005840"/>
          </a:xfrm>
          <a:prstGeom prst="rect">
            <a:avLst/>
          </a:prstGeom>
          <a:noFill/>
          <a:ln/>
        </p:spPr>
        <p:txBody>
          <a:bodyPr wrap="square" lIns="0" tIns="0" rIns="0" bIns="0" rtlCol="0" anchor="t"/>
          <a:lstStyle/>
          <a:p>
            <a:pPr indent="0" marL="0">
              <a:buNone/>
            </a:pPr>
            <a:r>
              <a:rPr lang="en-US" sz="2800" b="1" dirty="0">
                <a:solidFill>
                  <a:schemeClr val="tx1"/>
                </a:solidFill>
              </a:rPr>
              <a:t>We make AI simple for Indian businesses</a:t>
            </a:r>
            <a:endParaRPr lang="en-US" sz="2800" dirty="0"/>
          </a:p>
        </p:txBody>
      </p:sp>
      <p:sp>
        <p:nvSpPr>
          <p:cNvPr id="6" name="service 1"/>
          <p:cNvSpPr/>
          <p:nvPr/>
        </p:nvSpPr>
        <p:spPr>
          <a:xfrm>
            <a:off x="5486400" y="2743200"/>
            <a:ext cx="1874520" cy="1828800"/>
          </a:xfrm>
          <a:prstGeom prst="roundRect">
            <a:avLst>
              <a:gd name="adj" fmla="val 9000"/>
            </a:avLst>
          </a:prstGeom>
          <a:solidFill>
            <a:schemeClr val="accent1"/>
          </a:solidFill>
          <a:ln/>
          <a:effectLst>
            <a:outerShdw sx="100000" sy="100000" kx="0" ky="0" algn="bl" rotWithShape="0" blurRad="152400" dist="50800" dir="5400000">
              <a:srgbClr val="0E1B3D">
                <a:alpha val="14000"/>
              </a:srgbClr>
            </a:outerShdw>
          </a:effectLst>
        </p:spPr>
      </p:sp>
      <p:sp>
        <p:nvSpPr>
          <p:cNvPr id="7" name="service 1 circle"/>
          <p:cNvSpPr/>
          <p:nvPr/>
        </p:nvSpPr>
        <p:spPr>
          <a:xfrm>
            <a:off x="6035040" y="2971800"/>
            <a:ext cx="777240" cy="777240"/>
          </a:xfrm>
          <a:prstGeom prst="ellipse">
            <a:avLst/>
          </a:prstGeom>
          <a:solidFill>
            <a:schemeClr val="bg1"/>
          </a:solidFill>
          <a:ln/>
        </p:spPr>
      </p:sp>
      <p:pic>
        <p:nvPicPr>
          <p:cNvPr id="8" name="service 1" descr="preencoded.png">    </p:cNvPr>
          <p:cNvPicPr>
            <a:picLocks noChangeAspect="1"/>
          </p:cNvPicPr>
          <p:nvPr/>
        </p:nvPicPr>
        <p:blipFill>
          <a:blip r:embed="rId2"/>
          <a:stretch>
            <a:fillRect/>
          </a:stretch>
        </p:blipFill>
        <p:spPr>
          <a:xfrm>
            <a:off x="6229350" y="3166110"/>
            <a:ext cx="388620" cy="388620"/>
          </a:xfrm>
          <a:prstGeom prst="rect">
            <a:avLst/>
          </a:prstGeom>
        </p:spPr>
      </p:pic>
      <p:sp>
        <p:nvSpPr>
          <p:cNvPr id="9" name="Text 5"/>
          <p:cNvSpPr txBox="1"/>
          <p:nvPr/>
        </p:nvSpPr>
        <p:spPr>
          <a:xfrm>
            <a:off x="5577840" y="3886200"/>
            <a:ext cx="1691640" cy="502920"/>
          </a:xfrm>
          <a:prstGeom prst="rect">
            <a:avLst/>
          </a:prstGeom>
          <a:noFill/>
          <a:ln/>
        </p:spPr>
        <p:txBody>
          <a:bodyPr wrap="square" lIns="0" tIns="0" rIns="0" bIns="0" rtlCol="0" anchor="t"/>
          <a:lstStyle/>
          <a:p>
            <a:pPr algn="ctr" indent="0" marL="0">
              <a:buNone/>
            </a:pPr>
            <a:r>
              <a:rPr lang="en-US" sz="1800" b="1" dirty="0">
                <a:solidFill>
                  <a:schemeClr val="bg1"/>
                </a:solidFill>
              </a:rPr>
              <a:t>AI chatbots</a:t>
            </a:r>
            <a:endParaRPr lang="en-US" sz="1800" dirty="0"/>
          </a:p>
        </p:txBody>
      </p:sp>
      <p:sp>
        <p:nvSpPr>
          <p:cNvPr id="10" name="service 2"/>
          <p:cNvSpPr/>
          <p:nvPr/>
        </p:nvSpPr>
        <p:spPr>
          <a:xfrm>
            <a:off x="7543800" y="2743200"/>
            <a:ext cx="1874520" cy="1828800"/>
          </a:xfrm>
          <a:prstGeom prst="roundRect">
            <a:avLst>
              <a:gd name="adj" fmla="val 9000"/>
            </a:avLst>
          </a:prstGeom>
          <a:solidFill>
            <a:schemeClr val="accent2"/>
          </a:solidFill>
          <a:ln/>
          <a:effectLst>
            <a:outerShdw sx="100000" sy="100000" kx="0" ky="0" algn="bl" rotWithShape="0" blurRad="152400" dist="50800" dir="5400000">
              <a:srgbClr val="0E1B3D">
                <a:alpha val="14000"/>
              </a:srgbClr>
            </a:outerShdw>
          </a:effectLst>
        </p:spPr>
      </p:sp>
      <p:sp>
        <p:nvSpPr>
          <p:cNvPr id="11" name="service 2 circle"/>
          <p:cNvSpPr/>
          <p:nvPr/>
        </p:nvSpPr>
        <p:spPr>
          <a:xfrm>
            <a:off x="8092440" y="2971800"/>
            <a:ext cx="777240" cy="777240"/>
          </a:xfrm>
          <a:prstGeom prst="ellipse">
            <a:avLst/>
          </a:prstGeom>
          <a:solidFill>
            <a:schemeClr val="bg1"/>
          </a:solidFill>
          <a:ln/>
        </p:spPr>
      </p:sp>
      <p:pic>
        <p:nvPicPr>
          <p:cNvPr id="12" name="service 2" descr="preencoded.png">    </p:cNvPr>
          <p:cNvPicPr>
            <a:picLocks noChangeAspect="1"/>
          </p:cNvPicPr>
          <p:nvPr/>
        </p:nvPicPr>
        <p:blipFill>
          <a:blip r:embed="rId3"/>
          <a:stretch>
            <a:fillRect/>
          </a:stretch>
        </p:blipFill>
        <p:spPr>
          <a:xfrm>
            <a:off x="8286750" y="3166110"/>
            <a:ext cx="388620" cy="388620"/>
          </a:xfrm>
          <a:prstGeom prst="rect">
            <a:avLst/>
          </a:prstGeom>
        </p:spPr>
      </p:pic>
      <p:sp>
        <p:nvSpPr>
          <p:cNvPr id="13" name="Text 8"/>
          <p:cNvSpPr txBox="1"/>
          <p:nvPr/>
        </p:nvSpPr>
        <p:spPr>
          <a:xfrm>
            <a:off x="7635240" y="3886200"/>
            <a:ext cx="1691640" cy="502920"/>
          </a:xfrm>
          <a:prstGeom prst="rect">
            <a:avLst/>
          </a:prstGeom>
          <a:noFill/>
          <a:ln/>
        </p:spPr>
        <p:txBody>
          <a:bodyPr wrap="square" lIns="0" tIns="0" rIns="0" bIns="0" rtlCol="0" anchor="t"/>
          <a:lstStyle/>
          <a:p>
            <a:pPr algn="ctr" indent="0" marL="0">
              <a:buNone/>
            </a:pPr>
            <a:r>
              <a:rPr lang="en-US" sz="1800" b="1" dirty="0">
                <a:solidFill>
                  <a:schemeClr val="bg1"/>
                </a:solidFill>
              </a:rPr>
              <a:t>WhatsApp CRM</a:t>
            </a:r>
            <a:endParaRPr lang="en-US" sz="1800" dirty="0"/>
          </a:p>
        </p:txBody>
      </p:sp>
      <p:sp>
        <p:nvSpPr>
          <p:cNvPr id="14" name="service 3"/>
          <p:cNvSpPr/>
          <p:nvPr/>
        </p:nvSpPr>
        <p:spPr>
          <a:xfrm>
            <a:off x="9601200" y="2743200"/>
            <a:ext cx="1874520" cy="1828800"/>
          </a:xfrm>
          <a:prstGeom prst="roundRect">
            <a:avLst>
              <a:gd name="adj" fmla="val 9000"/>
            </a:avLst>
          </a:prstGeom>
          <a:solidFill>
            <a:schemeClr val="accent5"/>
          </a:solidFill>
          <a:ln/>
          <a:effectLst>
            <a:outerShdw sx="100000" sy="100000" kx="0" ky="0" algn="bl" rotWithShape="0" blurRad="152400" dist="50800" dir="5400000">
              <a:srgbClr val="0E1B3D">
                <a:alpha val="14000"/>
              </a:srgbClr>
            </a:outerShdw>
          </a:effectLst>
        </p:spPr>
      </p:sp>
      <p:sp>
        <p:nvSpPr>
          <p:cNvPr id="15" name="service 3 circle"/>
          <p:cNvSpPr/>
          <p:nvPr/>
        </p:nvSpPr>
        <p:spPr>
          <a:xfrm>
            <a:off x="10149840" y="2971800"/>
            <a:ext cx="777240" cy="777240"/>
          </a:xfrm>
          <a:prstGeom prst="ellipse">
            <a:avLst/>
          </a:prstGeom>
          <a:solidFill>
            <a:schemeClr val="bg1"/>
          </a:solidFill>
          <a:ln/>
        </p:spPr>
      </p:sp>
      <p:pic>
        <p:nvPicPr>
          <p:cNvPr id="16" name="service 3" descr="preencoded.png">    </p:cNvPr>
          <p:cNvPicPr>
            <a:picLocks noChangeAspect="1"/>
          </p:cNvPicPr>
          <p:nvPr/>
        </p:nvPicPr>
        <p:blipFill>
          <a:blip r:embed="rId4"/>
          <a:stretch>
            <a:fillRect/>
          </a:stretch>
        </p:blipFill>
        <p:spPr>
          <a:xfrm>
            <a:off x="10344150" y="3166110"/>
            <a:ext cx="388620" cy="388620"/>
          </a:xfrm>
          <a:prstGeom prst="rect">
            <a:avLst/>
          </a:prstGeom>
        </p:spPr>
      </p:pic>
      <p:sp>
        <p:nvSpPr>
          <p:cNvPr id="17" name="Text 11"/>
          <p:cNvSpPr txBox="1"/>
          <p:nvPr/>
        </p:nvSpPr>
        <p:spPr>
          <a:xfrm>
            <a:off x="9692640" y="3886200"/>
            <a:ext cx="1691640" cy="502920"/>
          </a:xfrm>
          <a:prstGeom prst="rect">
            <a:avLst/>
          </a:prstGeom>
          <a:noFill/>
          <a:ln/>
        </p:spPr>
        <p:txBody>
          <a:bodyPr wrap="square" lIns="0" tIns="0" rIns="0" bIns="0" rtlCol="0" anchor="t"/>
          <a:lstStyle/>
          <a:p>
            <a:pPr algn="ctr" indent="0" marL="0">
              <a:buNone/>
            </a:pPr>
            <a:r>
              <a:rPr lang="en-US" sz="1800" b="1" dirty="0">
                <a:solidFill>
                  <a:schemeClr val="bg1"/>
                </a:solidFill>
              </a:rPr>
              <a:t>Custom AI tools</a:t>
            </a:r>
            <a:endParaRPr lang="en-US" sz="1800" dirty="0"/>
          </a:p>
        </p:txBody>
      </p:sp>
      <p:sp>
        <p:nvSpPr>
          <p:cNvPr id="18" name="     Official Meta Tech Provider chip"/>
          <p:cNvSpPr/>
          <p:nvPr/>
        </p:nvSpPr>
        <p:spPr>
          <a:xfrm>
            <a:off x="5486400" y="5074920"/>
            <a:ext cx="3840480" cy="438912"/>
          </a:xfrm>
          <a:prstGeom prst="roundRect">
            <a:avLst>
              <a:gd name="adj" fmla="val 50000"/>
            </a:avLst>
          </a:prstGeom>
          <a:solidFill>
            <a:schemeClr val="tx1"/>
          </a:solidFill>
          <a:ln/>
        </p:spPr>
      </p:sp>
      <p:sp>
        <p:nvSpPr>
          <p:cNvPr id="19" name="Text 13"/>
          <p:cNvSpPr txBox="1"/>
          <p:nvPr/>
        </p:nvSpPr>
        <p:spPr>
          <a:xfrm>
            <a:off x="5486400" y="5074920"/>
            <a:ext cx="3840480" cy="438912"/>
          </a:xfrm>
          <a:prstGeom prst="rect">
            <a:avLst/>
          </a:prstGeom>
          <a:noFill/>
          <a:ln/>
        </p:spPr>
        <p:txBody>
          <a:bodyPr wrap="square" lIns="0" tIns="0" rIns="0" bIns="0" rtlCol="0" anchor="ctr"/>
          <a:lstStyle/>
          <a:p>
            <a:pPr algn="ctr" indent="0" marL="0">
              <a:buNone/>
            </a:pPr>
            <a:r>
              <a:rPr lang="en-US" sz="1500" b="1" dirty="0">
                <a:solidFill>
                  <a:schemeClr val="bg1"/>
                </a:solidFill>
              </a:rPr>
              <a:t>     Official Meta Tech Provider</a:t>
            </a:r>
            <a:endParaRPr lang="en-US" sz="1500" dirty="0"/>
          </a:p>
        </p:txBody>
      </p:sp>
      <p:pic>
        <p:nvPicPr>
          <p:cNvPr id="20" name="badge icon" descr="preencoded.png">    </p:cNvPr>
          <p:cNvPicPr>
            <a:picLocks noChangeAspect="1"/>
          </p:cNvPicPr>
          <p:nvPr/>
        </p:nvPicPr>
        <p:blipFill>
          <a:blip r:embed="rId5"/>
          <a:stretch>
            <a:fillRect/>
          </a:stretch>
        </p:blipFill>
        <p:spPr>
          <a:xfrm>
            <a:off x="5705856" y="5175504"/>
            <a:ext cx="237744" cy="237744"/>
          </a:xfrm>
          <a:prstGeom prst="rect">
            <a:avLst/>
          </a:prstGeom>
        </p:spPr>
      </p:pic>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WAMA CRM logo" descr="/home/user/Marketing-CRM/docs/brand/wamacrm-logo-horizontal-light.png">    </p:cNvPr>
          <p:cNvPicPr>
            <a:picLocks noChangeAspect="1"/>
          </p:cNvPicPr>
          <p:nvPr/>
        </p:nvPicPr>
        <p:blipFill>
          <a:blip r:embed="rId1"/>
          <a:stretch>
            <a:fillRect/>
          </a:stretch>
        </p:blipFill>
        <p:spPr>
          <a:xfrm>
            <a:off x="640080" y="502920"/>
            <a:ext cx="3520440" cy="1005840"/>
          </a:xfrm>
          <a:prstGeom prst="rect">
            <a:avLst/>
          </a:prstGeom>
        </p:spPr>
      </p:pic>
      <p:sp>
        <p:nvSpPr>
          <p:cNvPr id="3" name="Text 0"/>
          <p:cNvSpPr/>
          <p:nvPr>
            <p:ph idx="100" type="title" hasCustomPrompt="1"/>
          </p:nvPr>
        </p:nvSpPr>
        <p:spPr>
          <a:xfrm>
            <a:off x="640080" y="1737360"/>
            <a:ext cx="6035040" cy="1920240"/>
          </a:xfrm>
          <a:prstGeom prst="rect">
            <a:avLst/>
          </a:prstGeom>
          <a:noFill/>
          <a:ln/>
        </p:spPr>
        <p:txBody>
          <a:bodyPr wrap="square" lIns="0" tIns="0" rIns="0" bIns="0" rtlCol="0" anchor="b"/>
          <a:lstStyle/>
          <a:p>
            <a:pPr algn="l" indent="0" marL="0">
              <a:buNone/>
            </a:pPr>
            <a:r>
              <a:rPr lang="en-US" sz="4600" b="1" dirty="0">
                <a:solidFill>
                  <a:schemeClr val="bg1"/>
                </a:solidFill>
              </a:rPr>
              <a:t>One app for every WhatsApp customer</a:t>
            </a:r>
            <a:endParaRPr lang="en-US" sz="4600" dirty="0"/>
          </a:p>
        </p:txBody>
      </p:sp>
      <p:sp>
        <p:nvSpPr>
          <p:cNvPr id="4" name="Reply icon circle"/>
          <p:cNvSpPr/>
          <p:nvPr/>
        </p:nvSpPr>
        <p:spPr>
          <a:xfrm>
            <a:off x="822960" y="3977640"/>
            <a:ext cx="914400" cy="914400"/>
          </a:xfrm>
          <a:prstGeom prst="ellipse">
            <a:avLst/>
          </a:prstGeom>
          <a:solidFill>
            <a:schemeClr val="accent1"/>
          </a:solidFill>
          <a:ln/>
        </p:spPr>
      </p:sp>
      <p:pic>
        <p:nvPicPr>
          <p:cNvPr id="5" name="Reply icon" descr="preencoded.png">    </p:cNvPr>
          <p:cNvPicPr>
            <a:picLocks noChangeAspect="1"/>
          </p:cNvPicPr>
          <p:nvPr/>
        </p:nvPicPr>
        <p:blipFill>
          <a:blip r:embed="rId2"/>
          <a:stretch>
            <a:fillRect/>
          </a:stretch>
        </p:blipFill>
        <p:spPr>
          <a:xfrm>
            <a:off x="1051560" y="4206240"/>
            <a:ext cx="457200" cy="457200"/>
          </a:xfrm>
          <a:prstGeom prst="rect">
            <a:avLst/>
          </a:prstGeom>
        </p:spPr>
      </p:pic>
      <p:sp>
        <p:nvSpPr>
          <p:cNvPr id="6" name="Text 2"/>
          <p:cNvSpPr txBox="1"/>
          <p:nvPr/>
        </p:nvSpPr>
        <p:spPr>
          <a:xfrm>
            <a:off x="640080" y="4983480"/>
            <a:ext cx="1280160" cy="411480"/>
          </a:xfrm>
          <a:prstGeom prst="rect">
            <a:avLst/>
          </a:prstGeom>
          <a:noFill/>
          <a:ln/>
        </p:spPr>
        <p:txBody>
          <a:bodyPr wrap="square" lIns="0" tIns="0" rIns="0" bIns="0" rtlCol="0" anchor="t"/>
          <a:lstStyle/>
          <a:p>
            <a:pPr algn="ctr" indent="0" marL="0">
              <a:buNone/>
            </a:pPr>
            <a:r>
              <a:rPr lang="en-US" sz="1800" b="1" dirty="0">
                <a:solidFill>
                  <a:schemeClr val="bg1"/>
                </a:solidFill>
              </a:rPr>
              <a:t>Reply</a:t>
            </a:r>
            <a:endParaRPr lang="en-US" sz="1800" dirty="0"/>
          </a:p>
        </p:txBody>
      </p:sp>
      <p:sp>
        <p:nvSpPr>
          <p:cNvPr id="7" name="Sell icon circle"/>
          <p:cNvSpPr/>
          <p:nvPr/>
        </p:nvSpPr>
        <p:spPr>
          <a:xfrm>
            <a:off x="2304288" y="3977640"/>
            <a:ext cx="914400" cy="914400"/>
          </a:xfrm>
          <a:prstGeom prst="ellipse">
            <a:avLst/>
          </a:prstGeom>
          <a:solidFill>
            <a:schemeClr val="accent2"/>
          </a:solidFill>
          <a:ln/>
        </p:spPr>
      </p:sp>
      <p:pic>
        <p:nvPicPr>
          <p:cNvPr id="8" name="Sell icon" descr="preencoded.png">    </p:cNvPr>
          <p:cNvPicPr>
            <a:picLocks noChangeAspect="1"/>
          </p:cNvPicPr>
          <p:nvPr/>
        </p:nvPicPr>
        <p:blipFill>
          <a:blip r:embed="rId3"/>
          <a:stretch>
            <a:fillRect/>
          </a:stretch>
        </p:blipFill>
        <p:spPr>
          <a:xfrm>
            <a:off x="2532888" y="4206240"/>
            <a:ext cx="457200" cy="457200"/>
          </a:xfrm>
          <a:prstGeom prst="rect">
            <a:avLst/>
          </a:prstGeom>
        </p:spPr>
      </p:pic>
      <p:sp>
        <p:nvSpPr>
          <p:cNvPr id="9" name="Text 4"/>
          <p:cNvSpPr txBox="1"/>
          <p:nvPr/>
        </p:nvSpPr>
        <p:spPr>
          <a:xfrm>
            <a:off x="2121408" y="4983480"/>
            <a:ext cx="1280160" cy="411480"/>
          </a:xfrm>
          <a:prstGeom prst="rect">
            <a:avLst/>
          </a:prstGeom>
          <a:noFill/>
          <a:ln/>
        </p:spPr>
        <p:txBody>
          <a:bodyPr wrap="square" lIns="0" tIns="0" rIns="0" bIns="0" rtlCol="0" anchor="t"/>
          <a:lstStyle/>
          <a:p>
            <a:pPr algn="ctr" indent="0" marL="0">
              <a:buNone/>
            </a:pPr>
            <a:r>
              <a:rPr lang="en-US" sz="1800" b="1" dirty="0">
                <a:solidFill>
                  <a:schemeClr val="bg1"/>
                </a:solidFill>
              </a:rPr>
              <a:t>Sell</a:t>
            </a:r>
            <a:endParaRPr lang="en-US" sz="1800" dirty="0"/>
          </a:p>
        </p:txBody>
      </p:sp>
      <p:sp>
        <p:nvSpPr>
          <p:cNvPr id="10" name="Market icon circle"/>
          <p:cNvSpPr/>
          <p:nvPr/>
        </p:nvSpPr>
        <p:spPr>
          <a:xfrm>
            <a:off x="3785616" y="3977640"/>
            <a:ext cx="914400" cy="914400"/>
          </a:xfrm>
          <a:prstGeom prst="ellipse">
            <a:avLst/>
          </a:prstGeom>
          <a:solidFill>
            <a:schemeClr val="accent3"/>
          </a:solidFill>
          <a:ln/>
        </p:spPr>
      </p:sp>
      <p:pic>
        <p:nvPicPr>
          <p:cNvPr id="11" name="Market icon" descr="preencoded.png">    </p:cNvPr>
          <p:cNvPicPr>
            <a:picLocks noChangeAspect="1"/>
          </p:cNvPicPr>
          <p:nvPr/>
        </p:nvPicPr>
        <p:blipFill>
          <a:blip r:embed="rId4"/>
          <a:stretch>
            <a:fillRect/>
          </a:stretch>
        </p:blipFill>
        <p:spPr>
          <a:xfrm>
            <a:off x="4014216" y="4206240"/>
            <a:ext cx="457200" cy="457200"/>
          </a:xfrm>
          <a:prstGeom prst="rect">
            <a:avLst/>
          </a:prstGeom>
        </p:spPr>
      </p:pic>
      <p:sp>
        <p:nvSpPr>
          <p:cNvPr id="12" name="Text 6"/>
          <p:cNvSpPr txBox="1"/>
          <p:nvPr/>
        </p:nvSpPr>
        <p:spPr>
          <a:xfrm>
            <a:off x="3602736" y="4983480"/>
            <a:ext cx="1280160" cy="411480"/>
          </a:xfrm>
          <a:prstGeom prst="rect">
            <a:avLst/>
          </a:prstGeom>
          <a:noFill/>
          <a:ln/>
        </p:spPr>
        <p:txBody>
          <a:bodyPr wrap="square" lIns="0" tIns="0" rIns="0" bIns="0" rtlCol="0" anchor="t"/>
          <a:lstStyle/>
          <a:p>
            <a:pPr algn="ctr" indent="0" marL="0">
              <a:buNone/>
            </a:pPr>
            <a:r>
              <a:rPr lang="en-US" sz="1800" b="1" dirty="0">
                <a:solidFill>
                  <a:schemeClr val="bg1"/>
                </a:solidFill>
              </a:rPr>
              <a:t>Market</a:t>
            </a:r>
            <a:endParaRPr lang="en-US" sz="1800" dirty="0"/>
          </a:p>
        </p:txBody>
      </p:sp>
      <p:sp>
        <p:nvSpPr>
          <p:cNvPr id="13" name="Support icon circle"/>
          <p:cNvSpPr/>
          <p:nvPr/>
        </p:nvSpPr>
        <p:spPr>
          <a:xfrm>
            <a:off x="5266944" y="3977640"/>
            <a:ext cx="914400" cy="914400"/>
          </a:xfrm>
          <a:prstGeom prst="ellipse">
            <a:avLst/>
          </a:prstGeom>
          <a:solidFill>
            <a:schemeClr val="accent4"/>
          </a:solidFill>
          <a:ln/>
        </p:spPr>
      </p:sp>
      <p:pic>
        <p:nvPicPr>
          <p:cNvPr id="14" name="Support icon" descr="preencoded.png">    </p:cNvPr>
          <p:cNvPicPr>
            <a:picLocks noChangeAspect="1"/>
          </p:cNvPicPr>
          <p:nvPr/>
        </p:nvPicPr>
        <p:blipFill>
          <a:blip r:embed="rId5"/>
          <a:stretch>
            <a:fillRect/>
          </a:stretch>
        </p:blipFill>
        <p:spPr>
          <a:xfrm>
            <a:off x="5495544" y="4206240"/>
            <a:ext cx="457200" cy="457200"/>
          </a:xfrm>
          <a:prstGeom prst="rect">
            <a:avLst/>
          </a:prstGeom>
        </p:spPr>
      </p:pic>
      <p:sp>
        <p:nvSpPr>
          <p:cNvPr id="15" name="Text 8"/>
          <p:cNvSpPr txBox="1"/>
          <p:nvPr/>
        </p:nvSpPr>
        <p:spPr>
          <a:xfrm>
            <a:off x="5084064" y="4983480"/>
            <a:ext cx="1280160" cy="411480"/>
          </a:xfrm>
          <a:prstGeom prst="rect">
            <a:avLst/>
          </a:prstGeom>
          <a:noFill/>
          <a:ln/>
        </p:spPr>
        <p:txBody>
          <a:bodyPr wrap="square" lIns="0" tIns="0" rIns="0" bIns="0" rtlCol="0" anchor="t"/>
          <a:lstStyle/>
          <a:p>
            <a:pPr algn="ctr" indent="0" marL="0">
              <a:buNone/>
            </a:pPr>
            <a:r>
              <a:rPr lang="en-US" sz="1800" b="1" dirty="0">
                <a:solidFill>
                  <a:schemeClr val="bg1"/>
                </a:solidFill>
              </a:rPr>
              <a:t>Support</a:t>
            </a:r>
            <a:endParaRPr lang="en-US" sz="1800" dirty="0"/>
          </a:p>
        </p:txBody>
      </p:sp>
      <p:pic>
        <p:nvPicPr>
          <p:cNvPr id="16" name="WAMA CRM dashboard" descr="/tmp/claude-0/-home-user-Marketing-CRM/cda677d3-5399-55f3-b900-902225faa9ab/scratchpad/deck/img/dashboard.png">    </p:cNvPr>
          <p:cNvPicPr>
            <a:picLocks noChangeAspect="1"/>
          </p:cNvPicPr>
          <p:nvPr/>
        </p:nvPicPr>
        <p:blipFill>
          <a:blip r:embed="rId6"/>
          <a:stretch>
            <a:fillRect/>
          </a:stretch>
        </p:blipFill>
        <p:spPr>
          <a:xfrm>
            <a:off x="6400800" y="1737360"/>
            <a:ext cx="5577840" cy="2707293"/>
          </a:xfrm>
          <a:prstGeom prst="rect">
            <a:avLst/>
          </a:prstGeom>
        </p:spPr>
      </p:pic>
      <p:sp>
        <p:nvSpPr>
          <p:cNvPr id="18" name="Text 0"/>
          <p:cNvSpPr/>
          <p:nvPr>
            <p:ph idx="101" type="body" hasCustomPrompt="1"/>
          </p:nvPr>
        </p:nvSpPr>
        <p:spPr>
          <a:xfrm>
            <a:off x="640080" y="3794760"/>
            <a:ext cx="6035040" cy="822960"/>
          </a:xfrm>
          <a:prstGeom prst="rect">
            <a:avLst/>
          </a:prstGeom>
          <a:noFill/>
          <a:ln/>
        </p:spPr>
        <p:txBody>
          <a:bodyPr wrap="square" lIns="0" tIns="0" rIns="0" bIns="0" rtlCol="0" anchor="t"/>
          <a:lstStyle/>
          <a:p>
            <a:pPr algn="l" indent="0" marL="0">
              <a:buNone/>
            </a:pP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AI replies in seconds, in their language</a:t>
            </a:r>
            <a:endParaRPr lang="en-US" sz="3600" dirty="0"/>
          </a:p>
        </p:txBody>
      </p:sp>
      <p:sp>
        <p:nvSpPr>
          <p:cNvPr id="3" name="English chip"/>
          <p:cNvSpPr/>
          <p:nvPr/>
        </p:nvSpPr>
        <p:spPr>
          <a:xfrm>
            <a:off x="548640" y="1600200"/>
            <a:ext cx="1965960" cy="530352"/>
          </a:xfrm>
          <a:prstGeom prst="roundRect">
            <a:avLst>
              <a:gd name="adj" fmla="val 50000"/>
            </a:avLst>
          </a:prstGeom>
          <a:solidFill>
            <a:schemeClr val="accent1"/>
          </a:solidFill>
          <a:ln/>
        </p:spPr>
      </p:sp>
      <p:sp>
        <p:nvSpPr>
          <p:cNvPr id="4" name="Text 2"/>
          <p:cNvSpPr txBox="1"/>
          <p:nvPr/>
        </p:nvSpPr>
        <p:spPr>
          <a:xfrm>
            <a:off x="548640" y="1600200"/>
            <a:ext cx="1965960" cy="530352"/>
          </a:xfrm>
          <a:prstGeom prst="rect">
            <a:avLst/>
          </a:prstGeom>
          <a:noFill/>
          <a:ln/>
        </p:spPr>
        <p:txBody>
          <a:bodyPr wrap="square" lIns="0" tIns="0" rIns="0" bIns="0" rtlCol="0" anchor="ctr"/>
          <a:lstStyle/>
          <a:p>
            <a:pPr algn="ctr" indent="0" marL="0">
              <a:buNone/>
            </a:pPr>
            <a:r>
              <a:rPr lang="en-US" sz="1800" b="1" dirty="0">
                <a:solidFill>
                  <a:schemeClr val="bg1"/>
                </a:solidFill>
              </a:rPr>
              <a:t>English</a:t>
            </a:r>
            <a:endParaRPr lang="en-US" sz="1800" dirty="0"/>
          </a:p>
        </p:txBody>
      </p:sp>
      <p:sp>
        <p:nvSpPr>
          <p:cNvPr id="5" name="తెలుగు chip"/>
          <p:cNvSpPr/>
          <p:nvPr/>
        </p:nvSpPr>
        <p:spPr>
          <a:xfrm>
            <a:off x="2697480" y="1600200"/>
            <a:ext cx="1965960" cy="530352"/>
          </a:xfrm>
          <a:prstGeom prst="roundRect">
            <a:avLst>
              <a:gd name="adj" fmla="val 50000"/>
            </a:avLst>
          </a:prstGeom>
          <a:solidFill>
            <a:schemeClr val="accent2"/>
          </a:solidFill>
          <a:ln/>
        </p:spPr>
      </p:sp>
      <p:sp>
        <p:nvSpPr>
          <p:cNvPr id="6" name="Text 4"/>
          <p:cNvSpPr txBox="1"/>
          <p:nvPr/>
        </p:nvSpPr>
        <p:spPr>
          <a:xfrm>
            <a:off x="2697480" y="1600200"/>
            <a:ext cx="1965960" cy="530352"/>
          </a:xfrm>
          <a:prstGeom prst="rect">
            <a:avLst/>
          </a:prstGeom>
          <a:noFill/>
          <a:ln/>
        </p:spPr>
        <p:txBody>
          <a:bodyPr wrap="square" lIns="0" tIns="0" rIns="0" bIns="0" rtlCol="0" anchor="ctr"/>
          <a:lstStyle/>
          <a:p>
            <a:pPr algn="ctr" indent="0" marL="0">
              <a:buNone/>
            </a:pPr>
            <a:r>
              <a:rPr lang="en-US" sz="1800" b="1" dirty="0">
                <a:solidFill>
                  <a:schemeClr val="bg1"/>
                </a:solidFill>
              </a:rPr>
              <a:t>తెలుగు</a:t>
            </a:r>
            <a:endParaRPr lang="en-US" sz="1800" dirty="0"/>
          </a:p>
        </p:txBody>
      </p:sp>
      <p:sp>
        <p:nvSpPr>
          <p:cNvPr id="7" name="हिंदी chip"/>
          <p:cNvSpPr/>
          <p:nvPr/>
        </p:nvSpPr>
        <p:spPr>
          <a:xfrm>
            <a:off x="4846320" y="1600200"/>
            <a:ext cx="1965960" cy="530352"/>
          </a:xfrm>
          <a:prstGeom prst="roundRect">
            <a:avLst>
              <a:gd name="adj" fmla="val 50000"/>
            </a:avLst>
          </a:prstGeom>
          <a:solidFill>
            <a:schemeClr val="accent3"/>
          </a:solidFill>
          <a:ln/>
        </p:spPr>
      </p:sp>
      <p:sp>
        <p:nvSpPr>
          <p:cNvPr id="8" name="Text 6"/>
          <p:cNvSpPr txBox="1"/>
          <p:nvPr/>
        </p:nvSpPr>
        <p:spPr>
          <a:xfrm>
            <a:off x="4846320" y="1600200"/>
            <a:ext cx="1965960" cy="530352"/>
          </a:xfrm>
          <a:prstGeom prst="rect">
            <a:avLst/>
          </a:prstGeom>
          <a:noFill/>
          <a:ln/>
        </p:spPr>
        <p:txBody>
          <a:bodyPr wrap="square" lIns="0" tIns="0" rIns="0" bIns="0" rtlCol="0" anchor="ctr"/>
          <a:lstStyle/>
          <a:p>
            <a:pPr algn="ctr" indent="0" marL="0">
              <a:buNone/>
            </a:pPr>
            <a:r>
              <a:rPr lang="en-US" sz="1800" b="1" dirty="0">
                <a:solidFill>
                  <a:schemeClr val="bg1"/>
                </a:solidFill>
              </a:rPr>
              <a:t>हिंदी</a:t>
            </a:r>
            <a:endParaRPr lang="en-US" sz="1800" dirty="0"/>
          </a:p>
        </p:txBody>
      </p:sp>
      <p:sp>
        <p:nvSpPr>
          <p:cNvPr id="9" name="Tenglish chip"/>
          <p:cNvSpPr/>
          <p:nvPr/>
        </p:nvSpPr>
        <p:spPr>
          <a:xfrm>
            <a:off x="548640" y="2286000"/>
            <a:ext cx="1965960" cy="530352"/>
          </a:xfrm>
          <a:prstGeom prst="roundRect">
            <a:avLst>
              <a:gd name="adj" fmla="val 50000"/>
            </a:avLst>
          </a:prstGeom>
          <a:solidFill>
            <a:schemeClr val="accent4"/>
          </a:solidFill>
          <a:ln/>
        </p:spPr>
      </p:sp>
      <p:sp>
        <p:nvSpPr>
          <p:cNvPr id="10" name="Text 8"/>
          <p:cNvSpPr txBox="1"/>
          <p:nvPr/>
        </p:nvSpPr>
        <p:spPr>
          <a:xfrm>
            <a:off x="548640" y="2286000"/>
            <a:ext cx="1965960" cy="530352"/>
          </a:xfrm>
          <a:prstGeom prst="rect">
            <a:avLst/>
          </a:prstGeom>
          <a:noFill/>
          <a:ln/>
        </p:spPr>
        <p:txBody>
          <a:bodyPr wrap="square" lIns="0" tIns="0" rIns="0" bIns="0" rtlCol="0" anchor="ctr"/>
          <a:lstStyle/>
          <a:p>
            <a:pPr algn="ctr" indent="0" marL="0">
              <a:buNone/>
            </a:pPr>
            <a:r>
              <a:rPr lang="en-US" sz="1800" b="1" dirty="0">
                <a:solidFill>
                  <a:schemeClr val="bg1"/>
                </a:solidFill>
              </a:rPr>
              <a:t>Tenglish</a:t>
            </a:r>
            <a:endParaRPr lang="en-US" sz="1800" dirty="0"/>
          </a:p>
        </p:txBody>
      </p:sp>
      <p:sp>
        <p:nvSpPr>
          <p:cNvPr id="11" name="Hinglish chip"/>
          <p:cNvSpPr/>
          <p:nvPr/>
        </p:nvSpPr>
        <p:spPr>
          <a:xfrm>
            <a:off x="2697480" y="2286000"/>
            <a:ext cx="1965960" cy="530352"/>
          </a:xfrm>
          <a:prstGeom prst="roundRect">
            <a:avLst>
              <a:gd name="adj" fmla="val 50000"/>
            </a:avLst>
          </a:prstGeom>
          <a:solidFill>
            <a:schemeClr val="accent5"/>
          </a:solidFill>
          <a:ln/>
        </p:spPr>
      </p:sp>
      <p:sp>
        <p:nvSpPr>
          <p:cNvPr id="12" name="Text 10"/>
          <p:cNvSpPr txBox="1"/>
          <p:nvPr/>
        </p:nvSpPr>
        <p:spPr>
          <a:xfrm>
            <a:off x="2697480" y="2286000"/>
            <a:ext cx="1965960" cy="530352"/>
          </a:xfrm>
          <a:prstGeom prst="rect">
            <a:avLst/>
          </a:prstGeom>
          <a:noFill/>
          <a:ln/>
        </p:spPr>
        <p:txBody>
          <a:bodyPr wrap="square" lIns="0" tIns="0" rIns="0" bIns="0" rtlCol="0" anchor="ctr"/>
          <a:lstStyle/>
          <a:p>
            <a:pPr algn="ctr" indent="0" marL="0">
              <a:buNone/>
            </a:pPr>
            <a:r>
              <a:rPr lang="en-US" sz="1800" b="1" dirty="0">
                <a:solidFill>
                  <a:schemeClr val="bg1"/>
                </a:solidFill>
              </a:rPr>
              <a:t>Hinglish</a:t>
            </a:r>
            <a:endParaRPr lang="en-US" sz="1800" dirty="0"/>
          </a:p>
        </p:txBody>
      </p:sp>
      <p:sp>
        <p:nvSpPr>
          <p:cNvPr id="13" name="AI point 1 circle"/>
          <p:cNvSpPr/>
          <p:nvPr/>
        </p:nvSpPr>
        <p:spPr>
          <a:xfrm>
            <a:off x="548640" y="3200400"/>
            <a:ext cx="749808" cy="749808"/>
          </a:xfrm>
          <a:prstGeom prst="ellipse">
            <a:avLst/>
          </a:prstGeom>
          <a:solidFill>
            <a:schemeClr val="accent1"/>
          </a:solidFill>
          <a:ln/>
        </p:spPr>
      </p:sp>
      <p:pic>
        <p:nvPicPr>
          <p:cNvPr id="14" name="AI point 1" descr="preencoded.png">    </p:cNvPr>
          <p:cNvPicPr>
            <a:picLocks noChangeAspect="1"/>
          </p:cNvPicPr>
          <p:nvPr/>
        </p:nvPicPr>
        <p:blipFill>
          <a:blip r:embed="rId1"/>
          <a:stretch>
            <a:fillRect/>
          </a:stretch>
        </p:blipFill>
        <p:spPr>
          <a:xfrm>
            <a:off x="736092" y="3387852"/>
            <a:ext cx="374904" cy="374904"/>
          </a:xfrm>
          <a:prstGeom prst="rect">
            <a:avLst/>
          </a:prstGeom>
        </p:spPr>
      </p:pic>
      <p:sp>
        <p:nvSpPr>
          <p:cNvPr id="15" name="Text 12"/>
          <p:cNvSpPr txBox="1"/>
          <p:nvPr/>
        </p:nvSpPr>
        <p:spPr>
          <a:xfrm>
            <a:off x="1463040" y="3218688"/>
            <a:ext cx="4754880" cy="384048"/>
          </a:xfrm>
          <a:prstGeom prst="rect">
            <a:avLst/>
          </a:prstGeom>
          <a:noFill/>
          <a:ln/>
        </p:spPr>
        <p:txBody>
          <a:bodyPr wrap="square" lIns="0" tIns="0" rIns="0" bIns="0" rtlCol="0" anchor="t"/>
          <a:lstStyle/>
          <a:p>
            <a:pPr indent="0" marL="0">
              <a:buNone/>
            </a:pPr>
            <a:r>
              <a:rPr lang="en-US" sz="2100" b="1" dirty="0">
                <a:solidFill>
                  <a:schemeClr val="tx1"/>
                </a:solidFill>
              </a:rPr>
              <a:t>24 × 7</a:t>
            </a:r>
            <a:endParaRPr lang="en-US" sz="2100" dirty="0"/>
          </a:p>
        </p:txBody>
      </p:sp>
      <p:sp>
        <p:nvSpPr>
          <p:cNvPr id="16" name="Text 13"/>
          <p:cNvSpPr txBox="1"/>
          <p:nvPr/>
        </p:nvSpPr>
        <p:spPr>
          <a:xfrm>
            <a:off x="1463040" y="3602736"/>
            <a:ext cx="4754880" cy="347472"/>
          </a:xfrm>
          <a:prstGeom prst="rect">
            <a:avLst/>
          </a:prstGeom>
          <a:noFill/>
          <a:ln/>
        </p:spPr>
        <p:txBody>
          <a:bodyPr wrap="square" lIns="0" tIns="0" rIns="0" bIns="0" rtlCol="0" anchor="t"/>
          <a:lstStyle/>
          <a:p>
            <a:pPr indent="0" marL="0">
              <a:buNone/>
            </a:pPr>
            <a:r>
              <a:rPr lang="en-US" sz="1600" dirty="0">
                <a:solidFill>
                  <a:schemeClr val="tx2"/>
                </a:solidFill>
              </a:rPr>
              <a:t>Even at 2 AM</a:t>
            </a:r>
            <a:endParaRPr lang="en-US" sz="1600" dirty="0"/>
          </a:p>
        </p:txBody>
      </p:sp>
      <p:sp>
        <p:nvSpPr>
          <p:cNvPr id="17" name="AI point 2 circle"/>
          <p:cNvSpPr/>
          <p:nvPr/>
        </p:nvSpPr>
        <p:spPr>
          <a:xfrm>
            <a:off x="548640" y="4187952"/>
            <a:ext cx="749808" cy="749808"/>
          </a:xfrm>
          <a:prstGeom prst="ellipse">
            <a:avLst/>
          </a:prstGeom>
          <a:solidFill>
            <a:schemeClr val="accent2"/>
          </a:solidFill>
          <a:ln/>
        </p:spPr>
      </p:sp>
      <p:pic>
        <p:nvPicPr>
          <p:cNvPr id="18" name="AI point 2" descr="preencoded.png">    </p:cNvPr>
          <p:cNvPicPr>
            <a:picLocks noChangeAspect="1"/>
          </p:cNvPicPr>
          <p:nvPr/>
        </p:nvPicPr>
        <p:blipFill>
          <a:blip r:embed="rId2"/>
          <a:stretch>
            <a:fillRect/>
          </a:stretch>
        </p:blipFill>
        <p:spPr>
          <a:xfrm>
            <a:off x="736092" y="4375404"/>
            <a:ext cx="374904" cy="374904"/>
          </a:xfrm>
          <a:prstGeom prst="rect">
            <a:avLst/>
          </a:prstGeom>
        </p:spPr>
      </p:pic>
      <p:sp>
        <p:nvSpPr>
          <p:cNvPr id="19" name="Text 15"/>
          <p:cNvSpPr txBox="1"/>
          <p:nvPr/>
        </p:nvSpPr>
        <p:spPr>
          <a:xfrm>
            <a:off x="1463040" y="4206240"/>
            <a:ext cx="4754880" cy="384048"/>
          </a:xfrm>
          <a:prstGeom prst="rect">
            <a:avLst/>
          </a:prstGeom>
          <a:noFill/>
          <a:ln/>
        </p:spPr>
        <p:txBody>
          <a:bodyPr wrap="square" lIns="0" tIns="0" rIns="0" bIns="0" rtlCol="0" anchor="t"/>
          <a:lstStyle/>
          <a:p>
            <a:pPr indent="0" marL="0">
              <a:buNone/>
            </a:pPr>
            <a:r>
              <a:rPr lang="en-US" sz="2100" b="1" dirty="0">
                <a:solidFill>
                  <a:schemeClr val="tx1"/>
                </a:solidFill>
              </a:rPr>
              <a:t>Knows your business</a:t>
            </a:r>
            <a:endParaRPr lang="en-US" sz="2100" dirty="0"/>
          </a:p>
        </p:txBody>
      </p:sp>
      <p:sp>
        <p:nvSpPr>
          <p:cNvPr id="20" name="Text 16"/>
          <p:cNvSpPr txBox="1"/>
          <p:nvPr/>
        </p:nvSpPr>
        <p:spPr>
          <a:xfrm>
            <a:off x="1463040" y="4590288"/>
            <a:ext cx="4754880" cy="347472"/>
          </a:xfrm>
          <a:prstGeom prst="rect">
            <a:avLst/>
          </a:prstGeom>
          <a:noFill/>
          <a:ln/>
        </p:spPr>
        <p:txBody>
          <a:bodyPr wrap="square" lIns="0" tIns="0" rIns="0" bIns="0" rtlCol="0" anchor="t"/>
          <a:lstStyle/>
          <a:p>
            <a:pPr indent="0" marL="0">
              <a:buNone/>
            </a:pPr>
            <a:r>
              <a:rPr lang="en-US" sz="1600" dirty="0">
                <a:solidFill>
                  <a:schemeClr val="tx2"/>
                </a:solidFill>
              </a:rPr>
              <a:t>Products, prices, FAQs</a:t>
            </a:r>
            <a:endParaRPr lang="en-US" sz="1600" dirty="0"/>
          </a:p>
        </p:txBody>
      </p:sp>
      <p:sp>
        <p:nvSpPr>
          <p:cNvPr id="21" name="AI point 3 circle"/>
          <p:cNvSpPr/>
          <p:nvPr/>
        </p:nvSpPr>
        <p:spPr>
          <a:xfrm>
            <a:off x="548640" y="5175504"/>
            <a:ext cx="749808" cy="749808"/>
          </a:xfrm>
          <a:prstGeom prst="ellipse">
            <a:avLst/>
          </a:prstGeom>
          <a:solidFill>
            <a:schemeClr val="accent3"/>
          </a:solidFill>
          <a:ln/>
        </p:spPr>
      </p:sp>
      <p:pic>
        <p:nvPicPr>
          <p:cNvPr id="22" name="AI point 3" descr="preencoded.png">    </p:cNvPr>
          <p:cNvPicPr>
            <a:picLocks noChangeAspect="1"/>
          </p:cNvPicPr>
          <p:nvPr/>
        </p:nvPicPr>
        <p:blipFill>
          <a:blip r:embed="rId3"/>
          <a:stretch>
            <a:fillRect/>
          </a:stretch>
        </p:blipFill>
        <p:spPr>
          <a:xfrm>
            <a:off x="736092" y="5362956"/>
            <a:ext cx="374904" cy="374904"/>
          </a:xfrm>
          <a:prstGeom prst="rect">
            <a:avLst/>
          </a:prstGeom>
        </p:spPr>
      </p:pic>
      <p:sp>
        <p:nvSpPr>
          <p:cNvPr id="23" name="Text 18"/>
          <p:cNvSpPr txBox="1"/>
          <p:nvPr/>
        </p:nvSpPr>
        <p:spPr>
          <a:xfrm>
            <a:off x="1463040" y="5193792"/>
            <a:ext cx="4754880" cy="384048"/>
          </a:xfrm>
          <a:prstGeom prst="rect">
            <a:avLst/>
          </a:prstGeom>
          <a:noFill/>
          <a:ln/>
        </p:spPr>
        <p:txBody>
          <a:bodyPr wrap="square" lIns="0" tIns="0" rIns="0" bIns="0" rtlCol="0" anchor="t"/>
          <a:lstStyle/>
          <a:p>
            <a:pPr indent="0" marL="0">
              <a:buNone/>
            </a:pPr>
            <a:r>
              <a:rPr lang="en-US" sz="2100" b="1" dirty="0">
                <a:solidFill>
                  <a:schemeClr val="tx1"/>
                </a:solidFill>
              </a:rPr>
              <a:t>Hands over</a:t>
            </a:r>
            <a:endParaRPr lang="en-US" sz="2100" dirty="0"/>
          </a:p>
        </p:txBody>
      </p:sp>
      <p:sp>
        <p:nvSpPr>
          <p:cNvPr id="24" name="Text 19"/>
          <p:cNvSpPr txBox="1"/>
          <p:nvPr/>
        </p:nvSpPr>
        <p:spPr>
          <a:xfrm>
            <a:off x="1463040" y="5577840"/>
            <a:ext cx="4754880" cy="347472"/>
          </a:xfrm>
          <a:prstGeom prst="rect">
            <a:avLst/>
          </a:prstGeom>
          <a:noFill/>
          <a:ln/>
        </p:spPr>
        <p:txBody>
          <a:bodyPr wrap="square" lIns="0" tIns="0" rIns="0" bIns="0" rtlCol="0" anchor="t"/>
          <a:lstStyle/>
          <a:p>
            <a:pPr indent="0" marL="0">
              <a:buNone/>
            </a:pPr>
            <a:r>
              <a:rPr lang="en-US" sz="1600" dirty="0">
                <a:solidFill>
                  <a:schemeClr val="tx2"/>
                </a:solidFill>
              </a:rPr>
              <a:t>Hot leads to your team</a:t>
            </a:r>
            <a:endParaRPr lang="en-US" sz="1600" dirty="0"/>
          </a:p>
        </p:txBody>
      </p:sp>
      <p:sp>
        <p:nvSpPr>
          <p:cNvPr id="25" name="phone halo"/>
          <p:cNvSpPr/>
          <p:nvPr/>
        </p:nvSpPr>
        <p:spPr>
          <a:xfrm>
            <a:off x="7589520" y="1234440"/>
            <a:ext cx="4206240" cy="4206240"/>
          </a:xfrm>
          <a:prstGeom prst="ellipse">
            <a:avLst/>
          </a:prstGeom>
          <a:solidFill>
            <a:srgbClr val="E8EEFF"/>
          </a:solidFill>
          <a:ln/>
        </p:spPr>
      </p:sp>
      <p:pic>
        <p:nvPicPr>
          <p:cNvPr id="26" name="AI chat phone" descr="/tmp/claude-0/-home-user-Marketing-CRM/cda677d3-5399-55f3-b900-902225faa9ab/scratchpad/deck/img/phone-ai.png">    </p:cNvPr>
          <p:cNvPicPr>
            <a:picLocks noChangeAspect="1"/>
          </p:cNvPicPr>
          <p:nvPr/>
        </p:nvPicPr>
        <p:blipFill>
          <a:blip r:embed="rId4"/>
          <a:stretch>
            <a:fillRect/>
          </a:stretch>
        </p:blipFill>
        <p:spPr>
          <a:xfrm>
            <a:off x="7863840" y="1143000"/>
            <a:ext cx="2688336" cy="5120640"/>
          </a:xfrm>
          <a:prstGeom prst="rect">
            <a:avLst/>
          </a:prstGeom>
        </p:spPr>
      </p:pic>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NEW · WhatsApp Commerce chip"/>
          <p:cNvSpPr/>
          <p:nvPr/>
        </p:nvSpPr>
        <p:spPr>
          <a:xfrm>
            <a:off x="640080" y="685800"/>
            <a:ext cx="3291840" cy="438912"/>
          </a:xfrm>
          <a:prstGeom prst="roundRect">
            <a:avLst>
              <a:gd name="adj" fmla="val 50000"/>
            </a:avLst>
          </a:prstGeom>
          <a:solidFill>
            <a:schemeClr val="accent4"/>
          </a:solidFill>
          <a:ln/>
        </p:spPr>
      </p:sp>
      <p:sp>
        <p:nvSpPr>
          <p:cNvPr id="3" name="Text 1"/>
          <p:cNvSpPr txBox="1"/>
          <p:nvPr/>
        </p:nvSpPr>
        <p:spPr>
          <a:xfrm>
            <a:off x="640080" y="685800"/>
            <a:ext cx="3291840" cy="438912"/>
          </a:xfrm>
          <a:prstGeom prst="rect">
            <a:avLst/>
          </a:prstGeom>
          <a:noFill/>
          <a:ln/>
        </p:spPr>
        <p:txBody>
          <a:bodyPr wrap="square" lIns="0" tIns="0" rIns="0" bIns="0" rtlCol="0" anchor="ctr"/>
          <a:lstStyle/>
          <a:p>
            <a:pPr algn="ctr" indent="0" marL="0">
              <a:buNone/>
            </a:pPr>
            <a:r>
              <a:rPr lang="en-US" sz="1500" b="1" dirty="0">
                <a:solidFill>
                  <a:schemeClr val="bg1"/>
                </a:solidFill>
              </a:rPr>
              <a:t>NEW · WhatsApp Commerce</a:t>
            </a:r>
            <a:endParaRPr lang="en-US" sz="1500" dirty="0"/>
          </a:p>
        </p:txBody>
      </p:sp>
      <p:sp>
        <p:nvSpPr>
          <p:cNvPr id="4" name="Text 0"/>
          <p:cNvSpPr/>
          <p:nvPr>
            <p:ph idx="100" type="title" hasCustomPrompt="1"/>
          </p:nvPr>
        </p:nvSpPr>
        <p:spPr>
          <a:xfrm>
            <a:off x="640080" y="1737360"/>
            <a:ext cx="6035040" cy="1920240"/>
          </a:xfrm>
          <a:prstGeom prst="rect">
            <a:avLst/>
          </a:prstGeom>
          <a:noFill/>
          <a:ln/>
        </p:spPr>
        <p:txBody>
          <a:bodyPr wrap="square" lIns="0" tIns="0" rIns="0" bIns="0" rtlCol="0" anchor="b"/>
          <a:lstStyle/>
          <a:p>
            <a:pPr algn="l" indent="0" marL="0">
              <a:buNone/>
            </a:pPr>
            <a:r>
              <a:rPr lang="en-US" sz="4600" b="1" dirty="0">
                <a:solidFill>
                  <a:schemeClr val="bg1"/>
                </a:solidFill>
              </a:rPr>
              <a:t>Your shop, inside WhatsApp</a:t>
            </a:r>
            <a:endParaRPr lang="en-US" sz="4600" dirty="0"/>
          </a:p>
        </p:txBody>
      </p:sp>
      <p:sp>
        <p:nvSpPr>
          <p:cNvPr id="5" name="Text 0"/>
          <p:cNvSpPr/>
          <p:nvPr>
            <p:ph idx="101" type="body" hasCustomPrompt="1"/>
          </p:nvPr>
        </p:nvSpPr>
        <p:spPr>
          <a:xfrm>
            <a:off x="640080" y="3794760"/>
            <a:ext cx="6035040" cy="822960"/>
          </a:xfrm>
          <a:prstGeom prst="rect">
            <a:avLst/>
          </a:prstGeom>
          <a:noFill/>
          <a:ln/>
        </p:spPr>
        <p:txBody>
          <a:bodyPr wrap="square" lIns="0" tIns="0" rIns="0" bIns="0" rtlCol="0" anchor="t"/>
          <a:lstStyle/>
          <a:p>
            <a:pPr algn="l" indent="0" marL="0">
              <a:buNone/>
            </a:pPr>
            <a:r>
              <a:rPr lang="en-US" sz="2000" dirty="0">
                <a:solidFill>
                  <a:srgbClr val="DCE6FF"/>
                </a:solidFill>
              </a:rPr>
              <a:t>No website. No app. Customers browse, order and pay in the chat.</a:t>
            </a:r>
            <a:endParaRPr lang="en-US" sz="2000" dirty="0"/>
          </a:p>
        </p:txBody>
      </p:sp>
      <p:sp>
        <p:nvSpPr>
          <p:cNvPr id="6" name="Catalog step circle"/>
          <p:cNvSpPr/>
          <p:nvPr/>
        </p:nvSpPr>
        <p:spPr>
          <a:xfrm>
            <a:off x="749808" y="4846320"/>
            <a:ext cx="777240" cy="777240"/>
          </a:xfrm>
          <a:prstGeom prst="ellipse">
            <a:avLst/>
          </a:prstGeom>
          <a:solidFill>
            <a:schemeClr val="accent1"/>
          </a:solidFill>
          <a:ln/>
        </p:spPr>
      </p:sp>
      <p:pic>
        <p:nvPicPr>
          <p:cNvPr id="7" name="Catalog step" descr="preencoded.png">    </p:cNvPr>
          <p:cNvPicPr>
            <a:picLocks noChangeAspect="1"/>
          </p:cNvPicPr>
          <p:nvPr/>
        </p:nvPicPr>
        <p:blipFill>
          <a:blip r:embed="rId2"/>
          <a:stretch>
            <a:fillRect/>
          </a:stretch>
        </p:blipFill>
        <p:spPr>
          <a:xfrm>
            <a:off x="944118" y="5040630"/>
            <a:ext cx="388620" cy="388620"/>
          </a:xfrm>
          <a:prstGeom prst="rect">
            <a:avLst/>
          </a:prstGeom>
        </p:spPr>
      </p:pic>
      <p:sp>
        <p:nvSpPr>
          <p:cNvPr id="8" name="Text 5"/>
          <p:cNvSpPr txBox="1"/>
          <p:nvPr/>
        </p:nvSpPr>
        <p:spPr>
          <a:xfrm>
            <a:off x="548640" y="5687568"/>
            <a:ext cx="1188720" cy="365760"/>
          </a:xfrm>
          <a:prstGeom prst="rect">
            <a:avLst/>
          </a:prstGeom>
          <a:noFill/>
          <a:ln/>
        </p:spPr>
        <p:txBody>
          <a:bodyPr wrap="square" lIns="0" tIns="0" rIns="0" bIns="0" rtlCol="0" anchor="t"/>
          <a:lstStyle/>
          <a:p>
            <a:pPr algn="ctr" indent="0" marL="0">
              <a:buNone/>
            </a:pPr>
            <a:r>
              <a:rPr lang="en-US" sz="1500" b="1" dirty="0">
                <a:solidFill>
                  <a:schemeClr val="bg1"/>
                </a:solidFill>
              </a:rPr>
              <a:t>Catalog</a:t>
            </a:r>
            <a:endParaRPr lang="en-US" sz="1500" dirty="0"/>
          </a:p>
        </p:txBody>
      </p:sp>
      <p:sp>
        <p:nvSpPr>
          <p:cNvPr id="9" name="Cart step circle"/>
          <p:cNvSpPr/>
          <p:nvPr/>
        </p:nvSpPr>
        <p:spPr>
          <a:xfrm>
            <a:off x="1938528" y="4846320"/>
            <a:ext cx="777240" cy="777240"/>
          </a:xfrm>
          <a:prstGeom prst="ellipse">
            <a:avLst/>
          </a:prstGeom>
          <a:solidFill>
            <a:schemeClr val="accent2"/>
          </a:solidFill>
          <a:ln/>
        </p:spPr>
      </p:sp>
      <p:pic>
        <p:nvPicPr>
          <p:cNvPr id="10" name="Cart step" descr="preencoded.png">    </p:cNvPr>
          <p:cNvPicPr>
            <a:picLocks noChangeAspect="1"/>
          </p:cNvPicPr>
          <p:nvPr/>
        </p:nvPicPr>
        <p:blipFill>
          <a:blip r:embed="rId3"/>
          <a:stretch>
            <a:fillRect/>
          </a:stretch>
        </p:blipFill>
        <p:spPr>
          <a:xfrm>
            <a:off x="2132838" y="5040630"/>
            <a:ext cx="388620" cy="388620"/>
          </a:xfrm>
          <a:prstGeom prst="rect">
            <a:avLst/>
          </a:prstGeom>
        </p:spPr>
      </p:pic>
      <p:sp>
        <p:nvSpPr>
          <p:cNvPr id="11" name="Text 7"/>
          <p:cNvSpPr txBox="1"/>
          <p:nvPr/>
        </p:nvSpPr>
        <p:spPr>
          <a:xfrm>
            <a:off x="1737360" y="5687568"/>
            <a:ext cx="1188720" cy="365760"/>
          </a:xfrm>
          <a:prstGeom prst="rect">
            <a:avLst/>
          </a:prstGeom>
          <a:noFill/>
          <a:ln/>
        </p:spPr>
        <p:txBody>
          <a:bodyPr wrap="square" lIns="0" tIns="0" rIns="0" bIns="0" rtlCol="0" anchor="t"/>
          <a:lstStyle/>
          <a:p>
            <a:pPr algn="ctr" indent="0" marL="0">
              <a:buNone/>
            </a:pPr>
            <a:r>
              <a:rPr lang="en-US" sz="1500" b="1" dirty="0">
                <a:solidFill>
                  <a:schemeClr val="bg1"/>
                </a:solidFill>
              </a:rPr>
              <a:t>Cart</a:t>
            </a:r>
            <a:endParaRPr lang="en-US" sz="1500" dirty="0"/>
          </a:p>
        </p:txBody>
      </p:sp>
      <p:sp>
        <p:nvSpPr>
          <p:cNvPr id="12" name="Address step circle"/>
          <p:cNvSpPr/>
          <p:nvPr/>
        </p:nvSpPr>
        <p:spPr>
          <a:xfrm>
            <a:off x="3127248" y="4846320"/>
            <a:ext cx="777240" cy="777240"/>
          </a:xfrm>
          <a:prstGeom prst="ellipse">
            <a:avLst/>
          </a:prstGeom>
          <a:solidFill>
            <a:schemeClr val="accent3"/>
          </a:solidFill>
          <a:ln/>
        </p:spPr>
      </p:sp>
      <p:pic>
        <p:nvPicPr>
          <p:cNvPr id="13" name="Address step" descr="preencoded.png">    </p:cNvPr>
          <p:cNvPicPr>
            <a:picLocks noChangeAspect="1"/>
          </p:cNvPicPr>
          <p:nvPr/>
        </p:nvPicPr>
        <p:blipFill>
          <a:blip r:embed="rId4"/>
          <a:stretch>
            <a:fillRect/>
          </a:stretch>
        </p:blipFill>
        <p:spPr>
          <a:xfrm>
            <a:off x="3321558" y="5040630"/>
            <a:ext cx="388620" cy="388620"/>
          </a:xfrm>
          <a:prstGeom prst="rect">
            <a:avLst/>
          </a:prstGeom>
        </p:spPr>
      </p:pic>
      <p:sp>
        <p:nvSpPr>
          <p:cNvPr id="14" name="Text 9"/>
          <p:cNvSpPr txBox="1"/>
          <p:nvPr/>
        </p:nvSpPr>
        <p:spPr>
          <a:xfrm>
            <a:off x="2926080" y="5687568"/>
            <a:ext cx="1188720" cy="365760"/>
          </a:xfrm>
          <a:prstGeom prst="rect">
            <a:avLst/>
          </a:prstGeom>
          <a:noFill/>
          <a:ln/>
        </p:spPr>
        <p:txBody>
          <a:bodyPr wrap="square" lIns="0" tIns="0" rIns="0" bIns="0" rtlCol="0" anchor="t"/>
          <a:lstStyle/>
          <a:p>
            <a:pPr algn="ctr" indent="0" marL="0">
              <a:buNone/>
            </a:pPr>
            <a:r>
              <a:rPr lang="en-US" sz="1500" b="1" dirty="0">
                <a:solidFill>
                  <a:schemeClr val="bg1"/>
                </a:solidFill>
              </a:rPr>
              <a:t>Address</a:t>
            </a:r>
            <a:endParaRPr lang="en-US" sz="1500" dirty="0"/>
          </a:p>
        </p:txBody>
      </p:sp>
      <p:sp>
        <p:nvSpPr>
          <p:cNvPr id="15" name="Pay step circle"/>
          <p:cNvSpPr/>
          <p:nvPr/>
        </p:nvSpPr>
        <p:spPr>
          <a:xfrm>
            <a:off x="4315968" y="4846320"/>
            <a:ext cx="777240" cy="777240"/>
          </a:xfrm>
          <a:prstGeom prst="ellipse">
            <a:avLst/>
          </a:prstGeom>
          <a:solidFill>
            <a:schemeClr val="accent4"/>
          </a:solidFill>
          <a:ln/>
        </p:spPr>
      </p:sp>
      <p:pic>
        <p:nvPicPr>
          <p:cNvPr id="16" name="Pay step" descr="preencoded.png">    </p:cNvPr>
          <p:cNvPicPr>
            <a:picLocks noChangeAspect="1"/>
          </p:cNvPicPr>
          <p:nvPr/>
        </p:nvPicPr>
        <p:blipFill>
          <a:blip r:embed="rId5"/>
          <a:stretch>
            <a:fillRect/>
          </a:stretch>
        </p:blipFill>
        <p:spPr>
          <a:xfrm>
            <a:off x="4510278" y="5040630"/>
            <a:ext cx="388620" cy="388620"/>
          </a:xfrm>
          <a:prstGeom prst="rect">
            <a:avLst/>
          </a:prstGeom>
        </p:spPr>
      </p:pic>
      <p:sp>
        <p:nvSpPr>
          <p:cNvPr id="17" name="Text 11"/>
          <p:cNvSpPr txBox="1"/>
          <p:nvPr/>
        </p:nvSpPr>
        <p:spPr>
          <a:xfrm>
            <a:off x="4114800" y="5687568"/>
            <a:ext cx="1188720" cy="365760"/>
          </a:xfrm>
          <a:prstGeom prst="rect">
            <a:avLst/>
          </a:prstGeom>
          <a:noFill/>
          <a:ln/>
        </p:spPr>
        <p:txBody>
          <a:bodyPr wrap="square" lIns="0" tIns="0" rIns="0" bIns="0" rtlCol="0" anchor="t"/>
          <a:lstStyle/>
          <a:p>
            <a:pPr algn="ctr" indent="0" marL="0">
              <a:buNone/>
            </a:pPr>
            <a:r>
              <a:rPr lang="en-US" sz="1500" b="1" dirty="0">
                <a:solidFill>
                  <a:schemeClr val="bg1"/>
                </a:solidFill>
              </a:rPr>
              <a:t>Pay</a:t>
            </a:r>
            <a:endParaRPr lang="en-US" sz="1500" dirty="0"/>
          </a:p>
        </p:txBody>
      </p:sp>
      <p:sp>
        <p:nvSpPr>
          <p:cNvPr id="18" name="Delivery step circle"/>
          <p:cNvSpPr/>
          <p:nvPr/>
        </p:nvSpPr>
        <p:spPr>
          <a:xfrm>
            <a:off x="5504688" y="4846320"/>
            <a:ext cx="777240" cy="777240"/>
          </a:xfrm>
          <a:prstGeom prst="ellipse">
            <a:avLst/>
          </a:prstGeom>
          <a:solidFill>
            <a:schemeClr val="accent5"/>
          </a:solidFill>
          <a:ln/>
        </p:spPr>
      </p:sp>
      <p:pic>
        <p:nvPicPr>
          <p:cNvPr id="19" name="Delivery step" descr="preencoded.png">    </p:cNvPr>
          <p:cNvPicPr>
            <a:picLocks noChangeAspect="1"/>
          </p:cNvPicPr>
          <p:nvPr/>
        </p:nvPicPr>
        <p:blipFill>
          <a:blip r:embed="rId6"/>
          <a:stretch>
            <a:fillRect/>
          </a:stretch>
        </p:blipFill>
        <p:spPr>
          <a:xfrm>
            <a:off x="5698998" y="5040630"/>
            <a:ext cx="388620" cy="388620"/>
          </a:xfrm>
          <a:prstGeom prst="rect">
            <a:avLst/>
          </a:prstGeom>
        </p:spPr>
      </p:pic>
      <p:sp>
        <p:nvSpPr>
          <p:cNvPr id="20" name="Text 13"/>
          <p:cNvSpPr txBox="1"/>
          <p:nvPr/>
        </p:nvSpPr>
        <p:spPr>
          <a:xfrm>
            <a:off x="5303520" y="5687568"/>
            <a:ext cx="1188720" cy="365760"/>
          </a:xfrm>
          <a:prstGeom prst="rect">
            <a:avLst/>
          </a:prstGeom>
          <a:noFill/>
          <a:ln/>
        </p:spPr>
        <p:txBody>
          <a:bodyPr wrap="square" lIns="0" tIns="0" rIns="0" bIns="0" rtlCol="0" anchor="t"/>
          <a:lstStyle/>
          <a:p>
            <a:pPr algn="ctr" indent="0" marL="0">
              <a:buNone/>
            </a:pPr>
            <a:r>
              <a:rPr lang="en-US" sz="1500" b="1" dirty="0">
                <a:solidFill>
                  <a:schemeClr val="bg1"/>
                </a:solidFill>
              </a:rPr>
              <a:t>Delivery</a:t>
            </a:r>
            <a:endParaRPr lang="en-US" sz="1500" dirty="0"/>
          </a:p>
        </p:txBody>
      </p:sp>
      <p:pic>
        <p:nvPicPr>
          <p:cNvPr id="21" name="shop phone" descr="/tmp/claude-0/-home-user-Marketing-CRM/cda677d3-5399-55f3-b900-902225faa9ab/scratchpad/deck/img/phone-shop.png">    </p:cNvPr>
          <p:cNvPicPr>
            <a:picLocks noChangeAspect="1"/>
          </p:cNvPicPr>
          <p:nvPr/>
        </p:nvPicPr>
        <p:blipFill>
          <a:blip r:embed="rId7"/>
          <a:stretch>
            <a:fillRect/>
          </a:stretch>
        </p:blipFill>
        <p:spPr>
          <a:xfrm>
            <a:off x="6766560" y="457200"/>
            <a:ext cx="3168396" cy="6035040"/>
          </a:xfrm>
          <a:prstGeom prst="rect">
            <a:avLst/>
          </a:prstGeom>
        </p:spPr>
      </p:pic>
      <p:pic>
        <p:nvPicPr>
          <p:cNvPr id="22" name="payment phone" descr="/tmp/claude-0/-home-user-Marketing-CRM/cda677d3-5399-55f3-b900-902225faa9ab/scratchpad/deck/img/phone-pay.png">    </p:cNvPr>
          <p:cNvPicPr>
            <a:picLocks noChangeAspect="1"/>
          </p:cNvPicPr>
          <p:nvPr/>
        </p:nvPicPr>
        <p:blipFill>
          <a:blip r:embed="rId8"/>
          <a:stretch>
            <a:fillRect/>
          </a:stretch>
        </p:blipFill>
        <p:spPr>
          <a:xfrm>
            <a:off x="9098280" y="822960"/>
            <a:ext cx="2976372" cy="56692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Everything a WhatsApp shop needs</a:t>
            </a:r>
            <a:endParaRPr lang="en-US" sz="3600" dirty="0"/>
          </a:p>
        </p:txBody>
      </p:sp>
      <p:sp>
        <p:nvSpPr>
          <p:cNvPr id="3" name="shop tile 1"/>
          <p:cNvSpPr/>
          <p:nvPr/>
        </p:nvSpPr>
        <p:spPr>
          <a:xfrm>
            <a:off x="548640" y="1463040"/>
            <a:ext cx="3520440" cy="2103120"/>
          </a:xfrm>
          <a:prstGeom prst="roundRect">
            <a:avLst>
              <a:gd name="adj" fmla="val 7826"/>
            </a:avLst>
          </a:prstGeom>
          <a:solidFill>
            <a:schemeClr val="accent1"/>
          </a:solidFill>
          <a:ln/>
          <a:effectLst>
            <a:outerShdw sx="100000" sy="100000" kx="0" ky="0" algn="bl" rotWithShape="0" blurRad="152400" dist="50800" dir="5400000">
              <a:srgbClr val="0E1B3D">
                <a:alpha val="14000"/>
              </a:srgbClr>
            </a:outerShdw>
          </a:effectLst>
        </p:spPr>
      </p:sp>
      <p:sp>
        <p:nvSpPr>
          <p:cNvPr id="4" name="shop tile 1 circle"/>
          <p:cNvSpPr/>
          <p:nvPr/>
        </p:nvSpPr>
        <p:spPr>
          <a:xfrm>
            <a:off x="868680" y="1783080"/>
            <a:ext cx="777240" cy="777240"/>
          </a:xfrm>
          <a:prstGeom prst="ellipse">
            <a:avLst/>
          </a:prstGeom>
          <a:solidFill>
            <a:schemeClr val="bg1"/>
          </a:solidFill>
          <a:ln/>
        </p:spPr>
      </p:sp>
      <p:pic>
        <p:nvPicPr>
          <p:cNvPr id="5" name="shop tile 1" descr="preencoded.png">    </p:cNvPr>
          <p:cNvPicPr>
            <a:picLocks noChangeAspect="1"/>
          </p:cNvPicPr>
          <p:nvPr/>
        </p:nvPicPr>
        <p:blipFill>
          <a:blip r:embed="rId1"/>
          <a:stretch>
            <a:fillRect/>
          </a:stretch>
        </p:blipFill>
        <p:spPr>
          <a:xfrm>
            <a:off x="1062990" y="1977390"/>
            <a:ext cx="388620" cy="388620"/>
          </a:xfrm>
          <a:prstGeom prst="rect">
            <a:avLst/>
          </a:prstGeom>
        </p:spPr>
      </p:pic>
      <p:sp>
        <p:nvSpPr>
          <p:cNvPr id="6" name="Text 3"/>
          <p:cNvSpPr txBox="1"/>
          <p:nvPr/>
        </p:nvSpPr>
        <p:spPr>
          <a:xfrm>
            <a:off x="868680" y="2670048"/>
            <a:ext cx="2926080" cy="438912"/>
          </a:xfrm>
          <a:prstGeom prst="rect">
            <a:avLst/>
          </a:prstGeom>
          <a:noFill/>
          <a:ln/>
        </p:spPr>
        <p:txBody>
          <a:bodyPr wrap="square" lIns="0" tIns="0" rIns="0" bIns="0" rtlCol="0" anchor="t"/>
          <a:lstStyle/>
          <a:p>
            <a:pPr indent="0" marL="0">
              <a:buNone/>
            </a:pPr>
            <a:r>
              <a:rPr lang="en-US" sz="2100" b="1" dirty="0">
                <a:solidFill>
                  <a:schemeClr val="bg1"/>
                </a:solidFill>
              </a:rPr>
              <a:t>Catalog sync</a:t>
            </a:r>
            <a:endParaRPr lang="en-US" sz="2100" dirty="0"/>
          </a:p>
        </p:txBody>
      </p:sp>
      <p:sp>
        <p:nvSpPr>
          <p:cNvPr id="7" name="Text 4"/>
          <p:cNvSpPr txBox="1"/>
          <p:nvPr/>
        </p:nvSpPr>
        <p:spPr>
          <a:xfrm>
            <a:off x="868680" y="3108960"/>
            <a:ext cx="2926080" cy="365760"/>
          </a:xfrm>
          <a:prstGeom prst="rect">
            <a:avLst/>
          </a:prstGeom>
          <a:noFill/>
          <a:ln/>
        </p:spPr>
        <p:txBody>
          <a:bodyPr wrap="square" lIns="0" tIns="0" rIns="0" bIns="0" rtlCol="0" anchor="t"/>
          <a:lstStyle/>
          <a:p>
            <a:pPr indent="0" marL="0">
              <a:buNone/>
            </a:pPr>
            <a:r>
              <a:rPr lang="en-US" sz="1600" dirty="0">
                <a:solidFill>
                  <a:schemeClr val="bg1"/>
                </a:solidFill>
              </a:rPr>
              <a:t>With your Meta catalog</a:t>
            </a:r>
            <a:endParaRPr lang="en-US" sz="1600" dirty="0"/>
          </a:p>
        </p:txBody>
      </p:sp>
      <p:sp>
        <p:nvSpPr>
          <p:cNvPr id="8" name="shop tile 2"/>
          <p:cNvSpPr/>
          <p:nvPr/>
        </p:nvSpPr>
        <p:spPr>
          <a:xfrm>
            <a:off x="4297680" y="1463040"/>
            <a:ext cx="3520440" cy="2103120"/>
          </a:xfrm>
          <a:prstGeom prst="roundRect">
            <a:avLst>
              <a:gd name="adj" fmla="val 7826"/>
            </a:avLst>
          </a:prstGeom>
          <a:solidFill>
            <a:schemeClr val="accent2"/>
          </a:solidFill>
          <a:ln/>
          <a:effectLst>
            <a:outerShdw sx="100000" sy="100000" kx="0" ky="0" algn="bl" rotWithShape="0" blurRad="152400" dist="50800" dir="5400000">
              <a:srgbClr val="0E1B3D">
                <a:alpha val="14000"/>
              </a:srgbClr>
            </a:outerShdw>
          </a:effectLst>
        </p:spPr>
      </p:sp>
      <p:sp>
        <p:nvSpPr>
          <p:cNvPr id="9" name="shop tile 2 circle"/>
          <p:cNvSpPr/>
          <p:nvPr/>
        </p:nvSpPr>
        <p:spPr>
          <a:xfrm>
            <a:off x="4617720" y="1783080"/>
            <a:ext cx="777240" cy="777240"/>
          </a:xfrm>
          <a:prstGeom prst="ellipse">
            <a:avLst/>
          </a:prstGeom>
          <a:solidFill>
            <a:schemeClr val="bg1"/>
          </a:solidFill>
          <a:ln/>
        </p:spPr>
      </p:sp>
      <p:pic>
        <p:nvPicPr>
          <p:cNvPr id="10" name="shop tile 2" descr="preencoded.png">    </p:cNvPr>
          <p:cNvPicPr>
            <a:picLocks noChangeAspect="1"/>
          </p:cNvPicPr>
          <p:nvPr/>
        </p:nvPicPr>
        <p:blipFill>
          <a:blip r:embed="rId2"/>
          <a:stretch>
            <a:fillRect/>
          </a:stretch>
        </p:blipFill>
        <p:spPr>
          <a:xfrm>
            <a:off x="4812030" y="1977390"/>
            <a:ext cx="388620" cy="388620"/>
          </a:xfrm>
          <a:prstGeom prst="rect">
            <a:avLst/>
          </a:prstGeom>
        </p:spPr>
      </p:pic>
      <p:sp>
        <p:nvSpPr>
          <p:cNvPr id="11" name="Text 7"/>
          <p:cNvSpPr txBox="1"/>
          <p:nvPr/>
        </p:nvSpPr>
        <p:spPr>
          <a:xfrm>
            <a:off x="4617720" y="2670048"/>
            <a:ext cx="2926080" cy="438912"/>
          </a:xfrm>
          <a:prstGeom prst="rect">
            <a:avLst/>
          </a:prstGeom>
          <a:noFill/>
          <a:ln/>
        </p:spPr>
        <p:txBody>
          <a:bodyPr wrap="square" lIns="0" tIns="0" rIns="0" bIns="0" rtlCol="0" anchor="t"/>
          <a:lstStyle/>
          <a:p>
            <a:pPr indent="0" marL="0">
              <a:buNone/>
            </a:pPr>
            <a:r>
              <a:rPr lang="en-US" sz="2100" b="1" dirty="0">
                <a:solidFill>
                  <a:schemeClr val="bg1"/>
                </a:solidFill>
              </a:rPr>
              <a:t>UPI · Cards · COD</a:t>
            </a:r>
            <a:endParaRPr lang="en-US" sz="2100" dirty="0"/>
          </a:p>
        </p:txBody>
      </p:sp>
      <p:sp>
        <p:nvSpPr>
          <p:cNvPr id="12" name="Text 8"/>
          <p:cNvSpPr txBox="1"/>
          <p:nvPr/>
        </p:nvSpPr>
        <p:spPr>
          <a:xfrm>
            <a:off x="4617720" y="3108960"/>
            <a:ext cx="2926080" cy="365760"/>
          </a:xfrm>
          <a:prstGeom prst="rect">
            <a:avLst/>
          </a:prstGeom>
          <a:noFill/>
          <a:ln/>
        </p:spPr>
        <p:txBody>
          <a:bodyPr wrap="square" lIns="0" tIns="0" rIns="0" bIns="0" rtlCol="0" anchor="t"/>
          <a:lstStyle/>
          <a:p>
            <a:pPr indent="0" marL="0">
              <a:buNone/>
            </a:pPr>
            <a:r>
              <a:rPr lang="en-US" sz="1600" dirty="0">
                <a:solidFill>
                  <a:schemeClr val="bg1"/>
                </a:solidFill>
              </a:rPr>
              <a:t>WhatsApp Pay built in</a:t>
            </a:r>
            <a:endParaRPr lang="en-US" sz="1600" dirty="0"/>
          </a:p>
        </p:txBody>
      </p:sp>
      <p:sp>
        <p:nvSpPr>
          <p:cNvPr id="13" name="shop tile 3"/>
          <p:cNvSpPr/>
          <p:nvPr/>
        </p:nvSpPr>
        <p:spPr>
          <a:xfrm>
            <a:off x="8046720" y="1463040"/>
            <a:ext cx="3520440" cy="2103120"/>
          </a:xfrm>
          <a:prstGeom prst="roundRect">
            <a:avLst>
              <a:gd name="adj" fmla="val 7826"/>
            </a:avLst>
          </a:prstGeom>
          <a:solidFill>
            <a:schemeClr val="accent5"/>
          </a:solidFill>
          <a:ln/>
          <a:effectLst>
            <a:outerShdw sx="100000" sy="100000" kx="0" ky="0" algn="bl" rotWithShape="0" blurRad="152400" dist="50800" dir="5400000">
              <a:srgbClr val="0E1B3D">
                <a:alpha val="14000"/>
              </a:srgbClr>
            </a:outerShdw>
          </a:effectLst>
        </p:spPr>
      </p:sp>
      <p:sp>
        <p:nvSpPr>
          <p:cNvPr id="14" name="shop tile 3 circle"/>
          <p:cNvSpPr/>
          <p:nvPr/>
        </p:nvSpPr>
        <p:spPr>
          <a:xfrm>
            <a:off x="8366760" y="1783080"/>
            <a:ext cx="777240" cy="777240"/>
          </a:xfrm>
          <a:prstGeom prst="ellipse">
            <a:avLst/>
          </a:prstGeom>
          <a:solidFill>
            <a:schemeClr val="bg1"/>
          </a:solidFill>
          <a:ln/>
        </p:spPr>
      </p:sp>
      <p:pic>
        <p:nvPicPr>
          <p:cNvPr id="15" name="shop tile 3" descr="preencoded.png">    </p:cNvPr>
          <p:cNvPicPr>
            <a:picLocks noChangeAspect="1"/>
          </p:cNvPicPr>
          <p:nvPr/>
        </p:nvPicPr>
        <p:blipFill>
          <a:blip r:embed="rId3"/>
          <a:stretch>
            <a:fillRect/>
          </a:stretch>
        </p:blipFill>
        <p:spPr>
          <a:xfrm>
            <a:off x="8561070" y="1977390"/>
            <a:ext cx="388620" cy="388620"/>
          </a:xfrm>
          <a:prstGeom prst="rect">
            <a:avLst/>
          </a:prstGeom>
        </p:spPr>
      </p:pic>
      <p:sp>
        <p:nvSpPr>
          <p:cNvPr id="16" name="Text 11"/>
          <p:cNvSpPr txBox="1"/>
          <p:nvPr/>
        </p:nvSpPr>
        <p:spPr>
          <a:xfrm>
            <a:off x="8366760" y="2670048"/>
            <a:ext cx="2926080" cy="438912"/>
          </a:xfrm>
          <a:prstGeom prst="rect">
            <a:avLst/>
          </a:prstGeom>
          <a:noFill/>
          <a:ln/>
        </p:spPr>
        <p:txBody>
          <a:bodyPr wrap="square" lIns="0" tIns="0" rIns="0" bIns="0" rtlCol="0" anchor="t"/>
          <a:lstStyle/>
          <a:p>
            <a:pPr indent="0" marL="0">
              <a:buNone/>
            </a:pPr>
            <a:r>
              <a:rPr lang="en-US" sz="2100" b="1" dirty="0">
                <a:solidFill>
                  <a:schemeClr val="bg1"/>
                </a:solidFill>
              </a:rPr>
              <a:t>AI shop assistant</a:t>
            </a:r>
            <a:endParaRPr lang="en-US" sz="2100" dirty="0"/>
          </a:p>
        </p:txBody>
      </p:sp>
      <p:sp>
        <p:nvSpPr>
          <p:cNvPr id="17" name="Text 12"/>
          <p:cNvSpPr txBox="1"/>
          <p:nvPr/>
        </p:nvSpPr>
        <p:spPr>
          <a:xfrm>
            <a:off x="8366760" y="3108960"/>
            <a:ext cx="2926080" cy="365760"/>
          </a:xfrm>
          <a:prstGeom prst="rect">
            <a:avLst/>
          </a:prstGeom>
          <a:noFill/>
          <a:ln/>
        </p:spPr>
        <p:txBody>
          <a:bodyPr wrap="square" lIns="0" tIns="0" rIns="0" bIns="0" rtlCol="0" anchor="t"/>
          <a:lstStyle/>
          <a:p>
            <a:pPr indent="0" marL="0">
              <a:buNone/>
            </a:pPr>
            <a:r>
              <a:rPr lang="en-US" sz="1600" dirty="0">
                <a:solidFill>
                  <a:schemeClr val="bg1"/>
                </a:solidFill>
              </a:rPr>
              <a:t>“Where is my order?”</a:t>
            </a:r>
            <a:endParaRPr lang="en-US" sz="1600" dirty="0"/>
          </a:p>
        </p:txBody>
      </p:sp>
      <p:sp>
        <p:nvSpPr>
          <p:cNvPr id="18" name="shop tile 4"/>
          <p:cNvSpPr/>
          <p:nvPr/>
        </p:nvSpPr>
        <p:spPr>
          <a:xfrm>
            <a:off x="548640" y="3794760"/>
            <a:ext cx="3520440" cy="2103120"/>
          </a:xfrm>
          <a:prstGeom prst="roundRect">
            <a:avLst>
              <a:gd name="adj" fmla="val 7826"/>
            </a:avLst>
          </a:prstGeom>
          <a:solidFill>
            <a:schemeClr val="accent3"/>
          </a:solidFill>
          <a:ln/>
          <a:effectLst>
            <a:outerShdw sx="100000" sy="100000" kx="0" ky="0" algn="bl" rotWithShape="0" blurRad="152400" dist="50800" dir="5400000">
              <a:srgbClr val="0E1B3D">
                <a:alpha val="14000"/>
              </a:srgbClr>
            </a:outerShdw>
          </a:effectLst>
        </p:spPr>
      </p:sp>
      <p:sp>
        <p:nvSpPr>
          <p:cNvPr id="19" name="shop tile 4 circle"/>
          <p:cNvSpPr/>
          <p:nvPr/>
        </p:nvSpPr>
        <p:spPr>
          <a:xfrm>
            <a:off x="868680" y="4114800"/>
            <a:ext cx="777240" cy="777240"/>
          </a:xfrm>
          <a:prstGeom prst="ellipse">
            <a:avLst/>
          </a:prstGeom>
          <a:solidFill>
            <a:schemeClr val="bg1"/>
          </a:solidFill>
          <a:ln/>
        </p:spPr>
      </p:sp>
      <p:pic>
        <p:nvPicPr>
          <p:cNvPr id="20" name="shop tile 4" descr="preencoded.png">    </p:cNvPr>
          <p:cNvPicPr>
            <a:picLocks noChangeAspect="1"/>
          </p:cNvPicPr>
          <p:nvPr/>
        </p:nvPicPr>
        <p:blipFill>
          <a:blip r:embed="rId4"/>
          <a:stretch>
            <a:fillRect/>
          </a:stretch>
        </p:blipFill>
        <p:spPr>
          <a:xfrm>
            <a:off x="1062990" y="4309110"/>
            <a:ext cx="388620" cy="388620"/>
          </a:xfrm>
          <a:prstGeom prst="rect">
            <a:avLst/>
          </a:prstGeom>
        </p:spPr>
      </p:pic>
      <p:sp>
        <p:nvSpPr>
          <p:cNvPr id="21" name="Text 15"/>
          <p:cNvSpPr txBox="1"/>
          <p:nvPr/>
        </p:nvSpPr>
        <p:spPr>
          <a:xfrm>
            <a:off x="868680" y="5001768"/>
            <a:ext cx="2926080" cy="438912"/>
          </a:xfrm>
          <a:prstGeom prst="rect">
            <a:avLst/>
          </a:prstGeom>
          <a:noFill/>
          <a:ln/>
        </p:spPr>
        <p:txBody>
          <a:bodyPr wrap="square" lIns="0" tIns="0" rIns="0" bIns="0" rtlCol="0" anchor="t"/>
          <a:lstStyle/>
          <a:p>
            <a:pPr indent="0" marL="0">
              <a:buNone/>
            </a:pPr>
            <a:r>
              <a:rPr lang="en-US" sz="2100" b="1" dirty="0">
                <a:solidFill>
                  <a:schemeClr val="bg1"/>
                </a:solidFill>
              </a:rPr>
              <a:t>Auto order updates</a:t>
            </a:r>
            <a:endParaRPr lang="en-US" sz="2100" dirty="0"/>
          </a:p>
        </p:txBody>
      </p:sp>
      <p:sp>
        <p:nvSpPr>
          <p:cNvPr id="22" name="Text 16"/>
          <p:cNvSpPr txBox="1"/>
          <p:nvPr/>
        </p:nvSpPr>
        <p:spPr>
          <a:xfrm>
            <a:off x="868680" y="5440680"/>
            <a:ext cx="2926080" cy="365760"/>
          </a:xfrm>
          <a:prstGeom prst="rect">
            <a:avLst/>
          </a:prstGeom>
          <a:noFill/>
          <a:ln/>
        </p:spPr>
        <p:txBody>
          <a:bodyPr wrap="square" lIns="0" tIns="0" rIns="0" bIns="0" rtlCol="0" anchor="t"/>
          <a:lstStyle/>
          <a:p>
            <a:pPr indent="0" marL="0">
              <a:buNone/>
            </a:pPr>
            <a:r>
              <a:rPr lang="en-US" sz="1600" dirty="0">
                <a:solidFill>
                  <a:schemeClr val="bg1"/>
                </a:solidFill>
              </a:rPr>
              <a:t>Paid, packed, shipped</a:t>
            </a:r>
            <a:endParaRPr lang="en-US" sz="1600" dirty="0"/>
          </a:p>
        </p:txBody>
      </p:sp>
      <p:sp>
        <p:nvSpPr>
          <p:cNvPr id="23" name="shop tile 5"/>
          <p:cNvSpPr/>
          <p:nvPr/>
        </p:nvSpPr>
        <p:spPr>
          <a:xfrm>
            <a:off x="4297680" y="3794760"/>
            <a:ext cx="3520440" cy="2103120"/>
          </a:xfrm>
          <a:prstGeom prst="roundRect">
            <a:avLst>
              <a:gd name="adj" fmla="val 7826"/>
            </a:avLst>
          </a:prstGeom>
          <a:solidFill>
            <a:srgbClr val="0EA5E9"/>
          </a:solidFill>
          <a:ln/>
          <a:effectLst>
            <a:outerShdw sx="100000" sy="100000" kx="0" ky="0" algn="bl" rotWithShape="0" blurRad="152400" dist="50800" dir="5400000">
              <a:srgbClr val="0E1B3D">
                <a:alpha val="14000"/>
              </a:srgbClr>
            </a:outerShdw>
          </a:effectLst>
        </p:spPr>
      </p:sp>
      <p:sp>
        <p:nvSpPr>
          <p:cNvPr id="24" name="shop tile 5 circle"/>
          <p:cNvSpPr/>
          <p:nvPr/>
        </p:nvSpPr>
        <p:spPr>
          <a:xfrm>
            <a:off x="4617720" y="4114800"/>
            <a:ext cx="777240" cy="777240"/>
          </a:xfrm>
          <a:prstGeom prst="ellipse">
            <a:avLst/>
          </a:prstGeom>
          <a:solidFill>
            <a:schemeClr val="bg1"/>
          </a:solidFill>
          <a:ln/>
        </p:spPr>
      </p:sp>
      <p:pic>
        <p:nvPicPr>
          <p:cNvPr id="25" name="shop tile 5" descr="preencoded.png">    </p:cNvPr>
          <p:cNvPicPr>
            <a:picLocks noChangeAspect="1"/>
          </p:cNvPicPr>
          <p:nvPr/>
        </p:nvPicPr>
        <p:blipFill>
          <a:blip r:embed="rId5"/>
          <a:stretch>
            <a:fillRect/>
          </a:stretch>
        </p:blipFill>
        <p:spPr>
          <a:xfrm>
            <a:off x="4812030" y="4309110"/>
            <a:ext cx="388620" cy="388620"/>
          </a:xfrm>
          <a:prstGeom prst="rect">
            <a:avLst/>
          </a:prstGeom>
        </p:spPr>
      </p:pic>
      <p:sp>
        <p:nvSpPr>
          <p:cNvPr id="26" name="Text 19"/>
          <p:cNvSpPr txBox="1"/>
          <p:nvPr/>
        </p:nvSpPr>
        <p:spPr>
          <a:xfrm>
            <a:off x="4617720" y="5001768"/>
            <a:ext cx="2926080" cy="438912"/>
          </a:xfrm>
          <a:prstGeom prst="rect">
            <a:avLst/>
          </a:prstGeom>
          <a:noFill/>
          <a:ln/>
        </p:spPr>
        <p:txBody>
          <a:bodyPr wrap="square" lIns="0" tIns="0" rIns="0" bIns="0" rtlCol="0" anchor="t"/>
          <a:lstStyle/>
          <a:p>
            <a:pPr indent="0" marL="0">
              <a:buNone/>
            </a:pPr>
            <a:r>
              <a:rPr lang="en-US" sz="2100" b="1" dirty="0">
                <a:solidFill>
                  <a:schemeClr val="bg1"/>
                </a:solidFill>
              </a:rPr>
              <a:t>Orders in CRM</a:t>
            </a:r>
            <a:endParaRPr lang="en-US" sz="2100" dirty="0"/>
          </a:p>
        </p:txBody>
      </p:sp>
      <p:sp>
        <p:nvSpPr>
          <p:cNvPr id="27" name="Text 20"/>
          <p:cNvSpPr txBox="1"/>
          <p:nvPr/>
        </p:nvSpPr>
        <p:spPr>
          <a:xfrm>
            <a:off x="4617720" y="5440680"/>
            <a:ext cx="2926080" cy="365760"/>
          </a:xfrm>
          <a:prstGeom prst="rect">
            <a:avLst/>
          </a:prstGeom>
          <a:noFill/>
          <a:ln/>
        </p:spPr>
        <p:txBody>
          <a:bodyPr wrap="square" lIns="0" tIns="0" rIns="0" bIns="0" rtlCol="0" anchor="t"/>
          <a:lstStyle/>
          <a:p>
            <a:pPr indent="0" marL="0">
              <a:buNone/>
            </a:pPr>
            <a:r>
              <a:rPr lang="en-US" sz="1600" dirty="0">
                <a:solidFill>
                  <a:schemeClr val="bg1"/>
                </a:solidFill>
              </a:rPr>
              <a:t>Every order, one screen</a:t>
            </a:r>
            <a:endParaRPr lang="en-US" sz="1600" dirty="0"/>
          </a:p>
        </p:txBody>
      </p:sp>
      <p:sp>
        <p:nvSpPr>
          <p:cNvPr id="28" name="shop tile 6"/>
          <p:cNvSpPr/>
          <p:nvPr/>
        </p:nvSpPr>
        <p:spPr>
          <a:xfrm>
            <a:off x="8046720" y="3794760"/>
            <a:ext cx="3520440" cy="2103120"/>
          </a:xfrm>
          <a:prstGeom prst="roundRect">
            <a:avLst>
              <a:gd name="adj" fmla="val 7826"/>
            </a:avLst>
          </a:prstGeom>
          <a:solidFill>
            <a:schemeClr val="accent4"/>
          </a:solidFill>
          <a:ln/>
          <a:effectLst>
            <a:outerShdw sx="100000" sy="100000" kx="0" ky="0" algn="bl" rotWithShape="0" blurRad="152400" dist="50800" dir="5400000">
              <a:srgbClr val="0E1B3D">
                <a:alpha val="14000"/>
              </a:srgbClr>
            </a:outerShdw>
          </a:effectLst>
        </p:spPr>
      </p:sp>
      <p:sp>
        <p:nvSpPr>
          <p:cNvPr id="29" name="shop tile 6 circle"/>
          <p:cNvSpPr/>
          <p:nvPr/>
        </p:nvSpPr>
        <p:spPr>
          <a:xfrm>
            <a:off x="8366760" y="4114800"/>
            <a:ext cx="777240" cy="777240"/>
          </a:xfrm>
          <a:prstGeom prst="ellipse">
            <a:avLst/>
          </a:prstGeom>
          <a:solidFill>
            <a:schemeClr val="bg1"/>
          </a:solidFill>
          <a:ln/>
        </p:spPr>
      </p:sp>
      <p:pic>
        <p:nvPicPr>
          <p:cNvPr id="30" name="shop tile 6" descr="preencoded.png">    </p:cNvPr>
          <p:cNvPicPr>
            <a:picLocks noChangeAspect="1"/>
          </p:cNvPicPr>
          <p:nvPr/>
        </p:nvPicPr>
        <p:blipFill>
          <a:blip r:embed="rId6"/>
          <a:stretch>
            <a:fillRect/>
          </a:stretch>
        </p:blipFill>
        <p:spPr>
          <a:xfrm>
            <a:off x="8561070" y="4309110"/>
            <a:ext cx="388620" cy="388620"/>
          </a:xfrm>
          <a:prstGeom prst="rect">
            <a:avLst/>
          </a:prstGeom>
        </p:spPr>
      </p:pic>
      <p:sp>
        <p:nvSpPr>
          <p:cNvPr id="31" name="Text 23"/>
          <p:cNvSpPr txBox="1"/>
          <p:nvPr/>
        </p:nvSpPr>
        <p:spPr>
          <a:xfrm>
            <a:off x="8366760" y="5001768"/>
            <a:ext cx="2926080" cy="438912"/>
          </a:xfrm>
          <a:prstGeom prst="rect">
            <a:avLst/>
          </a:prstGeom>
          <a:noFill/>
          <a:ln/>
        </p:spPr>
        <p:txBody>
          <a:bodyPr wrap="square" lIns="0" tIns="0" rIns="0" bIns="0" rtlCol="0" anchor="t"/>
          <a:lstStyle/>
          <a:p>
            <a:pPr indent="0" marL="0">
              <a:buNone/>
            </a:pPr>
            <a:r>
              <a:rPr lang="en-US" sz="2100" b="1" dirty="0">
                <a:solidFill>
                  <a:schemeClr val="bg1"/>
                </a:solidFill>
              </a:rPr>
              <a:t>Repeat sales</a:t>
            </a:r>
            <a:endParaRPr lang="en-US" sz="2100" dirty="0"/>
          </a:p>
        </p:txBody>
      </p:sp>
      <p:sp>
        <p:nvSpPr>
          <p:cNvPr id="32" name="Text 24"/>
          <p:cNvSpPr txBox="1"/>
          <p:nvPr/>
        </p:nvSpPr>
        <p:spPr>
          <a:xfrm>
            <a:off x="8366760" y="5440680"/>
            <a:ext cx="2926080" cy="365760"/>
          </a:xfrm>
          <a:prstGeom prst="rect">
            <a:avLst/>
          </a:prstGeom>
          <a:noFill/>
          <a:ln/>
        </p:spPr>
        <p:txBody>
          <a:bodyPr wrap="square" lIns="0" tIns="0" rIns="0" bIns="0" rtlCol="0" anchor="t"/>
          <a:lstStyle/>
          <a:p>
            <a:pPr indent="0" marL="0">
              <a:buNone/>
            </a:pPr>
            <a:r>
              <a:rPr lang="en-US" sz="1600" dirty="0">
                <a:solidFill>
                  <a:schemeClr val="bg1"/>
                </a:solidFill>
              </a:rPr>
              <a:t>Thank-you and offers</a:t>
            </a:r>
            <a:endParaRPr lang="en-US" sz="16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Send offers people actually read</a:t>
            </a:r>
            <a:endParaRPr lang="en-US" sz="3600" dirty="0"/>
          </a:p>
        </p:txBody>
      </p:sp>
      <p:sp>
        <p:nvSpPr>
          <p:cNvPr id="3" name="phone halo"/>
          <p:cNvSpPr/>
          <p:nvPr/>
        </p:nvSpPr>
        <p:spPr>
          <a:xfrm>
            <a:off x="411480" y="1280160"/>
            <a:ext cx="4206240" cy="4206240"/>
          </a:xfrm>
          <a:prstGeom prst="ellipse">
            <a:avLst/>
          </a:prstGeom>
          <a:solidFill>
            <a:srgbClr val="FFEDE0"/>
          </a:solidFill>
          <a:ln/>
        </p:spPr>
      </p:sp>
      <p:pic>
        <p:nvPicPr>
          <p:cNvPr id="4" name="campaign phone" descr="/tmp/claude-0/-home-user-Marketing-CRM/cda677d3-5399-55f3-b900-902225faa9ab/scratchpad/deck/img/phone-campaign.png">    </p:cNvPr>
          <p:cNvPicPr>
            <a:picLocks noChangeAspect="1"/>
          </p:cNvPicPr>
          <p:nvPr/>
        </p:nvPicPr>
        <p:blipFill>
          <a:blip r:embed="rId1"/>
          <a:stretch>
            <a:fillRect/>
          </a:stretch>
        </p:blipFill>
        <p:spPr>
          <a:xfrm>
            <a:off x="685800" y="1188720"/>
            <a:ext cx="2688336" cy="5120640"/>
          </a:xfrm>
          <a:prstGeom prst="rect">
            <a:avLst/>
          </a:prstGeom>
        </p:spPr>
      </p:pic>
      <p:sp>
        <p:nvSpPr>
          <p:cNvPr id="5" name="campaign point 1 circle"/>
          <p:cNvSpPr/>
          <p:nvPr/>
        </p:nvSpPr>
        <p:spPr>
          <a:xfrm>
            <a:off x="5394960" y="1371600"/>
            <a:ext cx="777240" cy="777240"/>
          </a:xfrm>
          <a:prstGeom prst="ellipse">
            <a:avLst/>
          </a:prstGeom>
          <a:solidFill>
            <a:schemeClr val="accent2"/>
          </a:solidFill>
          <a:ln/>
        </p:spPr>
      </p:sp>
      <p:pic>
        <p:nvPicPr>
          <p:cNvPr id="6" name="campaign point 1" descr="preencoded.png">    </p:cNvPr>
          <p:cNvPicPr>
            <a:picLocks noChangeAspect="1"/>
          </p:cNvPicPr>
          <p:nvPr/>
        </p:nvPicPr>
        <p:blipFill>
          <a:blip r:embed="rId2"/>
          <a:stretch>
            <a:fillRect/>
          </a:stretch>
        </p:blipFill>
        <p:spPr>
          <a:xfrm>
            <a:off x="5589270" y="1565910"/>
            <a:ext cx="388620" cy="388620"/>
          </a:xfrm>
          <a:prstGeom prst="rect">
            <a:avLst/>
          </a:prstGeom>
        </p:spPr>
      </p:pic>
      <p:sp>
        <p:nvSpPr>
          <p:cNvPr id="7" name="Text 3"/>
          <p:cNvSpPr txBox="1"/>
          <p:nvPr/>
        </p:nvSpPr>
        <p:spPr>
          <a:xfrm>
            <a:off x="6355080" y="1389888"/>
            <a:ext cx="5120640" cy="411480"/>
          </a:xfrm>
          <a:prstGeom prst="rect">
            <a:avLst/>
          </a:prstGeom>
          <a:noFill/>
          <a:ln/>
        </p:spPr>
        <p:txBody>
          <a:bodyPr wrap="square" lIns="0" tIns="0" rIns="0" bIns="0" rtlCol="0" anchor="t"/>
          <a:lstStyle/>
          <a:p>
            <a:pPr indent="0" marL="0">
              <a:buNone/>
            </a:pPr>
            <a:r>
              <a:rPr lang="en-US" sz="2100" b="1" dirty="0">
                <a:solidFill>
                  <a:schemeClr val="tx1"/>
                </a:solidFill>
              </a:rPr>
              <a:t>Upload Excel</a:t>
            </a:r>
            <a:endParaRPr lang="en-US" sz="2100" dirty="0"/>
          </a:p>
        </p:txBody>
      </p:sp>
      <p:sp>
        <p:nvSpPr>
          <p:cNvPr id="8" name="Text 4"/>
          <p:cNvSpPr txBox="1"/>
          <p:nvPr/>
        </p:nvSpPr>
        <p:spPr>
          <a:xfrm>
            <a:off x="6355080" y="1801368"/>
            <a:ext cx="5120640" cy="365760"/>
          </a:xfrm>
          <a:prstGeom prst="rect">
            <a:avLst/>
          </a:prstGeom>
          <a:noFill/>
          <a:ln/>
        </p:spPr>
        <p:txBody>
          <a:bodyPr wrap="square" lIns="0" tIns="0" rIns="0" bIns="0" rtlCol="0" anchor="t"/>
          <a:lstStyle/>
          <a:p>
            <a:pPr indent="0" marL="0">
              <a:buNone/>
            </a:pPr>
            <a:r>
              <a:rPr lang="en-US" sz="1600" dirty="0">
                <a:solidFill>
                  <a:schemeClr val="tx2"/>
                </a:solidFill>
              </a:rPr>
              <a:t>Names and offers, personalised</a:t>
            </a:r>
            <a:endParaRPr lang="en-US" sz="1600" dirty="0"/>
          </a:p>
        </p:txBody>
      </p:sp>
      <p:sp>
        <p:nvSpPr>
          <p:cNvPr id="9" name="campaign point 2 circle"/>
          <p:cNvSpPr/>
          <p:nvPr/>
        </p:nvSpPr>
        <p:spPr>
          <a:xfrm>
            <a:off x="5394960" y="2331720"/>
            <a:ext cx="777240" cy="777240"/>
          </a:xfrm>
          <a:prstGeom prst="ellipse">
            <a:avLst/>
          </a:prstGeom>
          <a:solidFill>
            <a:schemeClr val="accent3"/>
          </a:solidFill>
          <a:ln/>
        </p:spPr>
      </p:sp>
      <p:pic>
        <p:nvPicPr>
          <p:cNvPr id="10" name="campaign point 2" descr="preencoded.png">    </p:cNvPr>
          <p:cNvPicPr>
            <a:picLocks noChangeAspect="1"/>
          </p:cNvPicPr>
          <p:nvPr/>
        </p:nvPicPr>
        <p:blipFill>
          <a:blip r:embed="rId3"/>
          <a:stretch>
            <a:fillRect/>
          </a:stretch>
        </p:blipFill>
        <p:spPr>
          <a:xfrm>
            <a:off x="5589270" y="2526030"/>
            <a:ext cx="388620" cy="388620"/>
          </a:xfrm>
          <a:prstGeom prst="rect">
            <a:avLst/>
          </a:prstGeom>
        </p:spPr>
      </p:pic>
      <p:sp>
        <p:nvSpPr>
          <p:cNvPr id="11" name="Text 6"/>
          <p:cNvSpPr txBox="1"/>
          <p:nvPr/>
        </p:nvSpPr>
        <p:spPr>
          <a:xfrm>
            <a:off x="6355080" y="2350008"/>
            <a:ext cx="5120640" cy="411480"/>
          </a:xfrm>
          <a:prstGeom prst="rect">
            <a:avLst/>
          </a:prstGeom>
          <a:noFill/>
          <a:ln/>
        </p:spPr>
        <p:txBody>
          <a:bodyPr wrap="square" lIns="0" tIns="0" rIns="0" bIns="0" rtlCol="0" anchor="t"/>
          <a:lstStyle/>
          <a:p>
            <a:pPr indent="0" marL="0">
              <a:buNone/>
            </a:pPr>
            <a:r>
              <a:rPr lang="en-US" sz="2100" b="1" dirty="0">
                <a:solidFill>
                  <a:schemeClr val="tx1"/>
                </a:solidFill>
              </a:rPr>
              <a:t>Photo, video, offers</a:t>
            </a:r>
            <a:endParaRPr lang="en-US" sz="2100" dirty="0"/>
          </a:p>
        </p:txBody>
      </p:sp>
      <p:sp>
        <p:nvSpPr>
          <p:cNvPr id="12" name="Text 7"/>
          <p:cNvSpPr txBox="1"/>
          <p:nvPr/>
        </p:nvSpPr>
        <p:spPr>
          <a:xfrm>
            <a:off x="6355080" y="2761488"/>
            <a:ext cx="5120640" cy="365760"/>
          </a:xfrm>
          <a:prstGeom prst="rect">
            <a:avLst/>
          </a:prstGeom>
          <a:noFill/>
          <a:ln/>
        </p:spPr>
        <p:txBody>
          <a:bodyPr wrap="square" lIns="0" tIns="0" rIns="0" bIns="0" rtlCol="0" anchor="t"/>
          <a:lstStyle/>
          <a:p>
            <a:pPr indent="0" marL="0">
              <a:buNone/>
            </a:pPr>
            <a:r>
              <a:rPr lang="en-US" sz="1600" dirty="0">
                <a:solidFill>
                  <a:schemeClr val="tx2"/>
                </a:solidFill>
              </a:rPr>
              <a:t>Every Meta template type</a:t>
            </a:r>
            <a:endParaRPr lang="en-US" sz="1600" dirty="0"/>
          </a:p>
        </p:txBody>
      </p:sp>
      <p:sp>
        <p:nvSpPr>
          <p:cNvPr id="13" name="campaign point 3 circle"/>
          <p:cNvSpPr/>
          <p:nvPr/>
        </p:nvSpPr>
        <p:spPr>
          <a:xfrm>
            <a:off x="5394960" y="3291840"/>
            <a:ext cx="777240" cy="777240"/>
          </a:xfrm>
          <a:prstGeom prst="ellipse">
            <a:avLst/>
          </a:prstGeom>
          <a:solidFill>
            <a:schemeClr val="accent1"/>
          </a:solidFill>
          <a:ln/>
        </p:spPr>
      </p:sp>
      <p:pic>
        <p:nvPicPr>
          <p:cNvPr id="14" name="campaign point 3" descr="preencoded.png">    </p:cNvPr>
          <p:cNvPicPr>
            <a:picLocks noChangeAspect="1"/>
          </p:cNvPicPr>
          <p:nvPr/>
        </p:nvPicPr>
        <p:blipFill>
          <a:blip r:embed="rId4"/>
          <a:stretch>
            <a:fillRect/>
          </a:stretch>
        </p:blipFill>
        <p:spPr>
          <a:xfrm>
            <a:off x="5589270" y="3486150"/>
            <a:ext cx="388620" cy="388620"/>
          </a:xfrm>
          <a:prstGeom prst="rect">
            <a:avLst/>
          </a:prstGeom>
        </p:spPr>
      </p:pic>
      <p:sp>
        <p:nvSpPr>
          <p:cNvPr id="15" name="Text 9"/>
          <p:cNvSpPr txBox="1"/>
          <p:nvPr/>
        </p:nvSpPr>
        <p:spPr>
          <a:xfrm>
            <a:off x="6355080" y="3310128"/>
            <a:ext cx="5120640" cy="411480"/>
          </a:xfrm>
          <a:prstGeom prst="rect">
            <a:avLst/>
          </a:prstGeom>
          <a:noFill/>
          <a:ln/>
        </p:spPr>
        <p:txBody>
          <a:bodyPr wrap="square" lIns="0" tIns="0" rIns="0" bIns="0" rtlCol="0" anchor="t"/>
          <a:lstStyle/>
          <a:p>
            <a:pPr indent="0" marL="0">
              <a:buNone/>
            </a:pPr>
            <a:r>
              <a:rPr lang="en-US" sz="2100" b="1" dirty="0">
                <a:solidFill>
                  <a:schemeClr val="tx1"/>
                </a:solidFill>
              </a:rPr>
              <a:t>Meta approved</a:t>
            </a:r>
            <a:endParaRPr lang="en-US" sz="2100" dirty="0"/>
          </a:p>
        </p:txBody>
      </p:sp>
      <p:sp>
        <p:nvSpPr>
          <p:cNvPr id="16" name="Text 10"/>
          <p:cNvSpPr txBox="1"/>
          <p:nvPr/>
        </p:nvSpPr>
        <p:spPr>
          <a:xfrm>
            <a:off x="6355080" y="3721608"/>
            <a:ext cx="5120640" cy="365760"/>
          </a:xfrm>
          <a:prstGeom prst="rect">
            <a:avLst/>
          </a:prstGeom>
          <a:noFill/>
          <a:ln/>
        </p:spPr>
        <p:txBody>
          <a:bodyPr wrap="square" lIns="0" tIns="0" rIns="0" bIns="0" rtlCol="0" anchor="t"/>
          <a:lstStyle/>
          <a:p>
            <a:pPr indent="0" marL="0">
              <a:buNone/>
            </a:pPr>
            <a:r>
              <a:rPr lang="en-US" sz="1600" dirty="0">
                <a:solidFill>
                  <a:schemeClr val="tx2"/>
                </a:solidFill>
              </a:rPr>
              <a:t>Your number stays safe</a:t>
            </a:r>
            <a:endParaRPr lang="en-US" sz="1600" dirty="0"/>
          </a:p>
        </p:txBody>
      </p:sp>
      <p:sp>
        <p:nvSpPr>
          <p:cNvPr id="17" name="Sent bar"/>
          <p:cNvSpPr/>
          <p:nvPr/>
        </p:nvSpPr>
        <p:spPr>
          <a:xfrm>
            <a:off x="5394960" y="4800600"/>
            <a:ext cx="4572000" cy="292608"/>
          </a:xfrm>
          <a:prstGeom prst="roundRect">
            <a:avLst>
              <a:gd name="adj" fmla="val 25000"/>
            </a:avLst>
          </a:prstGeom>
          <a:solidFill>
            <a:srgbClr val="8A96B0"/>
          </a:solidFill>
          <a:ln/>
        </p:spPr>
      </p:sp>
      <p:sp>
        <p:nvSpPr>
          <p:cNvPr id="18" name="Text 12"/>
          <p:cNvSpPr txBox="1"/>
          <p:nvPr/>
        </p:nvSpPr>
        <p:spPr>
          <a:xfrm>
            <a:off x="5486400" y="4800600"/>
            <a:ext cx="1828800" cy="292608"/>
          </a:xfrm>
          <a:prstGeom prst="rect">
            <a:avLst/>
          </a:prstGeom>
          <a:noFill/>
          <a:ln/>
        </p:spPr>
        <p:txBody>
          <a:bodyPr wrap="square" lIns="0" tIns="0" rIns="0" bIns="0" rtlCol="0" anchor="ctr"/>
          <a:lstStyle/>
          <a:p>
            <a:pPr indent="0" marL="0">
              <a:buNone/>
            </a:pPr>
            <a:r>
              <a:rPr lang="en-US" sz="1200" b="1" dirty="0">
                <a:solidFill>
                  <a:schemeClr val="bg1"/>
                </a:solidFill>
              </a:rPr>
              <a:t>Sent</a:t>
            </a:r>
            <a:endParaRPr lang="en-US" sz="1200" dirty="0"/>
          </a:p>
        </p:txBody>
      </p:sp>
      <p:sp>
        <p:nvSpPr>
          <p:cNvPr id="19" name="Delivered bar"/>
          <p:cNvSpPr/>
          <p:nvPr/>
        </p:nvSpPr>
        <p:spPr>
          <a:xfrm>
            <a:off x="5394960" y="5166360"/>
            <a:ext cx="4023360" cy="292608"/>
          </a:xfrm>
          <a:prstGeom prst="roundRect">
            <a:avLst>
              <a:gd name="adj" fmla="val 25000"/>
            </a:avLst>
          </a:prstGeom>
          <a:solidFill>
            <a:srgbClr val="0EA5E9"/>
          </a:solidFill>
          <a:ln/>
        </p:spPr>
      </p:sp>
      <p:sp>
        <p:nvSpPr>
          <p:cNvPr id="20" name="Text 14"/>
          <p:cNvSpPr txBox="1"/>
          <p:nvPr/>
        </p:nvSpPr>
        <p:spPr>
          <a:xfrm>
            <a:off x="5486400" y="5166360"/>
            <a:ext cx="1828800" cy="292608"/>
          </a:xfrm>
          <a:prstGeom prst="rect">
            <a:avLst/>
          </a:prstGeom>
          <a:noFill/>
          <a:ln/>
        </p:spPr>
        <p:txBody>
          <a:bodyPr wrap="square" lIns="0" tIns="0" rIns="0" bIns="0" rtlCol="0" anchor="ctr"/>
          <a:lstStyle/>
          <a:p>
            <a:pPr indent="0" marL="0">
              <a:buNone/>
            </a:pPr>
            <a:r>
              <a:rPr lang="en-US" sz="1200" b="1" dirty="0">
                <a:solidFill>
                  <a:schemeClr val="bg1"/>
                </a:solidFill>
              </a:rPr>
              <a:t>Delivered</a:t>
            </a:r>
            <a:endParaRPr lang="en-US" sz="1200" dirty="0"/>
          </a:p>
        </p:txBody>
      </p:sp>
      <p:sp>
        <p:nvSpPr>
          <p:cNvPr id="21" name="Read bar"/>
          <p:cNvSpPr/>
          <p:nvPr/>
        </p:nvSpPr>
        <p:spPr>
          <a:xfrm>
            <a:off x="5394960" y="5532120"/>
            <a:ext cx="3291840" cy="292608"/>
          </a:xfrm>
          <a:prstGeom prst="roundRect">
            <a:avLst>
              <a:gd name="adj" fmla="val 25000"/>
            </a:avLst>
          </a:prstGeom>
          <a:solidFill>
            <a:schemeClr val="accent1"/>
          </a:solidFill>
          <a:ln/>
        </p:spPr>
      </p:sp>
      <p:sp>
        <p:nvSpPr>
          <p:cNvPr id="22" name="Text 16"/>
          <p:cNvSpPr txBox="1"/>
          <p:nvPr/>
        </p:nvSpPr>
        <p:spPr>
          <a:xfrm>
            <a:off x="5486400" y="5532120"/>
            <a:ext cx="1828800" cy="292608"/>
          </a:xfrm>
          <a:prstGeom prst="rect">
            <a:avLst/>
          </a:prstGeom>
          <a:noFill/>
          <a:ln/>
        </p:spPr>
        <p:txBody>
          <a:bodyPr wrap="square" lIns="0" tIns="0" rIns="0" bIns="0" rtlCol="0" anchor="ctr"/>
          <a:lstStyle/>
          <a:p>
            <a:pPr indent="0" marL="0">
              <a:buNone/>
            </a:pPr>
            <a:r>
              <a:rPr lang="en-US" sz="1200" b="1" dirty="0">
                <a:solidFill>
                  <a:schemeClr val="bg1"/>
                </a:solidFill>
              </a:rPr>
              <a:t>Read</a:t>
            </a:r>
            <a:endParaRPr lang="en-US" sz="1200" dirty="0"/>
          </a:p>
        </p:txBody>
      </p:sp>
      <p:sp>
        <p:nvSpPr>
          <p:cNvPr id="23" name="Replied bar"/>
          <p:cNvSpPr/>
          <p:nvPr/>
        </p:nvSpPr>
        <p:spPr>
          <a:xfrm>
            <a:off x="5394960" y="5897880"/>
            <a:ext cx="2194560" cy="292608"/>
          </a:xfrm>
          <a:prstGeom prst="roundRect">
            <a:avLst>
              <a:gd name="adj" fmla="val 25000"/>
            </a:avLst>
          </a:prstGeom>
          <a:solidFill>
            <a:schemeClr val="accent2"/>
          </a:solidFill>
          <a:ln/>
        </p:spPr>
      </p:sp>
      <p:sp>
        <p:nvSpPr>
          <p:cNvPr id="24" name="Text 18"/>
          <p:cNvSpPr txBox="1"/>
          <p:nvPr/>
        </p:nvSpPr>
        <p:spPr>
          <a:xfrm>
            <a:off x="5486400" y="5897880"/>
            <a:ext cx="1828800" cy="292608"/>
          </a:xfrm>
          <a:prstGeom prst="rect">
            <a:avLst/>
          </a:prstGeom>
          <a:noFill/>
          <a:ln/>
        </p:spPr>
        <p:txBody>
          <a:bodyPr wrap="square" lIns="0" tIns="0" rIns="0" bIns="0" rtlCol="0" anchor="ctr"/>
          <a:lstStyle/>
          <a:p>
            <a:pPr indent="0" marL="0">
              <a:buNone/>
            </a:pPr>
            <a:r>
              <a:rPr lang="en-US" sz="1200" b="1" dirty="0">
                <a:solidFill>
                  <a:schemeClr val="bg1"/>
                </a:solidFill>
              </a:rPr>
              <a:t>Replied</a:t>
            </a:r>
            <a:endParaRPr lang="en-US" sz="1200" dirty="0"/>
          </a:p>
        </p:txBody>
      </p:sp>
      <p:sp>
        <p:nvSpPr>
          <p:cNvPr id="25" name="Text 19"/>
          <p:cNvSpPr txBox="1"/>
          <p:nvPr/>
        </p:nvSpPr>
        <p:spPr>
          <a:xfrm>
            <a:off x="5394960" y="4343400"/>
            <a:ext cx="4572000" cy="320040"/>
          </a:xfrm>
          <a:prstGeom prst="rect">
            <a:avLst/>
          </a:prstGeom>
          <a:noFill/>
          <a:ln/>
        </p:spPr>
        <p:txBody>
          <a:bodyPr wrap="square" lIns="0" tIns="0" rIns="0" bIns="0" rtlCol="0" anchor="t"/>
          <a:lstStyle/>
          <a:p>
            <a:pPr indent="0" marL="0">
              <a:buNone/>
            </a:pPr>
            <a:r>
              <a:rPr lang="en-US" sz="1500" b="1" dirty="0">
                <a:solidFill>
                  <a:schemeClr val="tx1"/>
                </a:solidFill>
              </a:rPr>
              <a:t>Track every message</a:t>
            </a:r>
            <a:endParaRPr lang="en-US" sz="15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Support that never sleeps</a:t>
            </a:r>
            <a:endParaRPr lang="en-US" sz="3600" dirty="0"/>
          </a:p>
        </p:txBody>
      </p:sp>
      <p:sp>
        <p:nvSpPr>
          <p:cNvPr id="3" name="support tile 1"/>
          <p:cNvSpPr/>
          <p:nvPr/>
        </p:nvSpPr>
        <p:spPr>
          <a:xfrm>
            <a:off x="548640" y="1463040"/>
            <a:ext cx="3154680" cy="2103120"/>
          </a:xfrm>
          <a:prstGeom prst="roundRect">
            <a:avLst>
              <a:gd name="adj" fmla="val 7826"/>
            </a:avLst>
          </a:prstGeom>
          <a:solidFill>
            <a:schemeClr val="accent5"/>
          </a:solidFill>
          <a:ln/>
          <a:effectLst>
            <a:outerShdw sx="100000" sy="100000" kx="0" ky="0" algn="bl" rotWithShape="0" blurRad="152400" dist="50800" dir="5400000">
              <a:srgbClr val="0E1B3D">
                <a:alpha val="14000"/>
              </a:srgbClr>
            </a:outerShdw>
          </a:effectLst>
        </p:spPr>
      </p:sp>
      <p:sp>
        <p:nvSpPr>
          <p:cNvPr id="4" name="support tile 1 circle"/>
          <p:cNvSpPr/>
          <p:nvPr/>
        </p:nvSpPr>
        <p:spPr>
          <a:xfrm>
            <a:off x="822960" y="1737360"/>
            <a:ext cx="731520" cy="731520"/>
          </a:xfrm>
          <a:prstGeom prst="ellipse">
            <a:avLst/>
          </a:prstGeom>
          <a:solidFill>
            <a:schemeClr val="bg1"/>
          </a:solidFill>
          <a:ln/>
        </p:spPr>
      </p:sp>
      <p:pic>
        <p:nvPicPr>
          <p:cNvPr id="5" name="support tile 1"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822960" y="2560320"/>
            <a:ext cx="2697480" cy="566928"/>
          </a:xfrm>
          <a:prstGeom prst="rect">
            <a:avLst/>
          </a:prstGeom>
          <a:noFill/>
          <a:ln/>
        </p:spPr>
        <p:txBody>
          <a:bodyPr wrap="square" lIns="0" tIns="0" rIns="0" bIns="0" rtlCol="0" anchor="t"/>
          <a:lstStyle/>
          <a:p>
            <a:pPr indent="0" marL="0">
              <a:buNone/>
            </a:pPr>
            <a:r>
              <a:rPr lang="en-US" sz="1900" b="1" dirty="0">
                <a:solidFill>
                  <a:schemeClr val="bg1"/>
                </a:solidFill>
              </a:rPr>
              <a:t>AI answers first</a:t>
            </a:r>
            <a:endParaRPr lang="en-US" sz="1900" dirty="0"/>
          </a:p>
        </p:txBody>
      </p:sp>
      <p:sp>
        <p:nvSpPr>
          <p:cNvPr id="7" name="Text 4"/>
          <p:cNvSpPr txBox="1"/>
          <p:nvPr/>
        </p:nvSpPr>
        <p:spPr>
          <a:xfrm>
            <a:off x="822960" y="3127248"/>
            <a:ext cx="2697480" cy="347472"/>
          </a:xfrm>
          <a:prstGeom prst="rect">
            <a:avLst/>
          </a:prstGeom>
          <a:noFill/>
          <a:ln/>
        </p:spPr>
        <p:txBody>
          <a:bodyPr wrap="square" lIns="0" tIns="0" rIns="0" bIns="0" rtlCol="0" anchor="t"/>
          <a:lstStyle/>
          <a:p>
            <a:pPr indent="0" marL="0">
              <a:buNone/>
            </a:pPr>
            <a:r>
              <a:rPr lang="en-US" sz="1500" dirty="0">
                <a:solidFill>
                  <a:schemeClr val="bg1"/>
                </a:solidFill>
              </a:rPr>
              <a:t>24 × 7, instantly</a:t>
            </a:r>
            <a:endParaRPr lang="en-US" sz="1500" dirty="0"/>
          </a:p>
        </p:txBody>
      </p:sp>
      <p:sp>
        <p:nvSpPr>
          <p:cNvPr id="8" name="support tile 2"/>
          <p:cNvSpPr/>
          <p:nvPr/>
        </p:nvSpPr>
        <p:spPr>
          <a:xfrm>
            <a:off x="3886200" y="1463040"/>
            <a:ext cx="3154680" cy="2103120"/>
          </a:xfrm>
          <a:prstGeom prst="roundRect">
            <a:avLst>
              <a:gd name="adj" fmla="val 7826"/>
            </a:avLst>
          </a:prstGeom>
          <a:solidFill>
            <a:schemeClr val="accent3"/>
          </a:solidFill>
          <a:ln/>
          <a:effectLst>
            <a:outerShdw sx="100000" sy="100000" kx="0" ky="0" algn="bl" rotWithShape="0" blurRad="152400" dist="50800" dir="5400000">
              <a:srgbClr val="0E1B3D">
                <a:alpha val="14000"/>
              </a:srgbClr>
            </a:outerShdw>
          </a:effectLst>
        </p:spPr>
      </p:sp>
      <p:sp>
        <p:nvSpPr>
          <p:cNvPr id="9" name="support tile 2 circle"/>
          <p:cNvSpPr/>
          <p:nvPr/>
        </p:nvSpPr>
        <p:spPr>
          <a:xfrm>
            <a:off x="4160520" y="1737360"/>
            <a:ext cx="731520" cy="731520"/>
          </a:xfrm>
          <a:prstGeom prst="ellipse">
            <a:avLst/>
          </a:prstGeom>
          <a:solidFill>
            <a:schemeClr val="bg1"/>
          </a:solidFill>
          <a:ln/>
        </p:spPr>
      </p:sp>
      <p:pic>
        <p:nvPicPr>
          <p:cNvPr id="10" name="support tile 2" descr="preencoded.png">    </p:cNvPr>
          <p:cNvPicPr>
            <a:picLocks noChangeAspect="1"/>
          </p:cNvPicPr>
          <p:nvPr/>
        </p:nvPicPr>
        <p:blipFill>
          <a:blip r:embed="rId2"/>
          <a:stretch>
            <a:fillRect/>
          </a:stretch>
        </p:blipFill>
        <p:spPr>
          <a:xfrm>
            <a:off x="4343400" y="1920240"/>
            <a:ext cx="365760" cy="365760"/>
          </a:xfrm>
          <a:prstGeom prst="rect">
            <a:avLst/>
          </a:prstGeom>
        </p:spPr>
      </p:pic>
      <p:sp>
        <p:nvSpPr>
          <p:cNvPr id="11" name="Text 7"/>
          <p:cNvSpPr txBox="1"/>
          <p:nvPr/>
        </p:nvSpPr>
        <p:spPr>
          <a:xfrm>
            <a:off x="4160520" y="2560320"/>
            <a:ext cx="2697480" cy="566928"/>
          </a:xfrm>
          <a:prstGeom prst="rect">
            <a:avLst/>
          </a:prstGeom>
          <a:noFill/>
          <a:ln/>
        </p:spPr>
        <p:txBody>
          <a:bodyPr wrap="square" lIns="0" tIns="0" rIns="0" bIns="0" rtlCol="0" anchor="t"/>
          <a:lstStyle/>
          <a:p>
            <a:pPr indent="0" marL="0">
              <a:buNone/>
            </a:pPr>
            <a:r>
              <a:rPr lang="en-US" sz="1900" b="1" dirty="0">
                <a:solidFill>
                  <a:schemeClr val="bg1"/>
                </a:solidFill>
              </a:rPr>
              <a:t>A ticket for every request</a:t>
            </a:r>
            <a:endParaRPr lang="en-US" sz="1900" dirty="0"/>
          </a:p>
        </p:txBody>
      </p:sp>
      <p:sp>
        <p:nvSpPr>
          <p:cNvPr id="12" name="Text 8"/>
          <p:cNvSpPr txBox="1"/>
          <p:nvPr/>
        </p:nvSpPr>
        <p:spPr>
          <a:xfrm>
            <a:off x="4160520" y="3127248"/>
            <a:ext cx="2697480" cy="347472"/>
          </a:xfrm>
          <a:prstGeom prst="rect">
            <a:avLst/>
          </a:prstGeom>
          <a:noFill/>
          <a:ln/>
        </p:spPr>
        <p:txBody>
          <a:bodyPr wrap="square" lIns="0" tIns="0" rIns="0" bIns="0" rtlCol="0" anchor="t"/>
          <a:lstStyle/>
          <a:p>
            <a:pPr indent="0" marL="0">
              <a:buNone/>
            </a:pPr>
            <a:r>
              <a:rPr lang="en-US" sz="1500" dirty="0">
                <a:solidFill>
                  <a:schemeClr val="bg1"/>
                </a:solidFill>
              </a:rPr>
              <a:t>Nothing gets lost</a:t>
            </a:r>
            <a:endParaRPr lang="en-US" sz="1500" dirty="0"/>
          </a:p>
        </p:txBody>
      </p:sp>
      <p:sp>
        <p:nvSpPr>
          <p:cNvPr id="13" name="support tile 3"/>
          <p:cNvSpPr/>
          <p:nvPr/>
        </p:nvSpPr>
        <p:spPr>
          <a:xfrm>
            <a:off x="548640" y="3794760"/>
            <a:ext cx="3154680" cy="2103120"/>
          </a:xfrm>
          <a:prstGeom prst="roundRect">
            <a:avLst>
              <a:gd name="adj" fmla="val 7826"/>
            </a:avLst>
          </a:prstGeom>
          <a:solidFill>
            <a:schemeClr val="accent2"/>
          </a:solidFill>
          <a:ln/>
          <a:effectLst>
            <a:outerShdw sx="100000" sy="100000" kx="0" ky="0" algn="bl" rotWithShape="0" blurRad="152400" dist="50800" dir="5400000">
              <a:srgbClr val="0E1B3D">
                <a:alpha val="14000"/>
              </a:srgbClr>
            </a:outerShdw>
          </a:effectLst>
        </p:spPr>
      </p:sp>
      <p:sp>
        <p:nvSpPr>
          <p:cNvPr id="14" name="support tile 3 circle"/>
          <p:cNvSpPr/>
          <p:nvPr/>
        </p:nvSpPr>
        <p:spPr>
          <a:xfrm>
            <a:off x="822960" y="4069080"/>
            <a:ext cx="731520" cy="731520"/>
          </a:xfrm>
          <a:prstGeom prst="ellipse">
            <a:avLst/>
          </a:prstGeom>
          <a:solidFill>
            <a:schemeClr val="bg1"/>
          </a:solidFill>
          <a:ln/>
        </p:spPr>
      </p:sp>
      <p:pic>
        <p:nvPicPr>
          <p:cNvPr id="15" name="support tile 3" descr="preencoded.png">    </p:cNvPr>
          <p:cNvPicPr>
            <a:picLocks noChangeAspect="1"/>
          </p:cNvPicPr>
          <p:nvPr/>
        </p:nvPicPr>
        <p:blipFill>
          <a:blip r:embed="rId3"/>
          <a:stretch>
            <a:fillRect/>
          </a:stretch>
        </p:blipFill>
        <p:spPr>
          <a:xfrm>
            <a:off x="1005840" y="4251960"/>
            <a:ext cx="365760" cy="365760"/>
          </a:xfrm>
          <a:prstGeom prst="rect">
            <a:avLst/>
          </a:prstGeom>
        </p:spPr>
      </p:pic>
      <p:sp>
        <p:nvSpPr>
          <p:cNvPr id="16" name="Text 11"/>
          <p:cNvSpPr txBox="1"/>
          <p:nvPr/>
        </p:nvSpPr>
        <p:spPr>
          <a:xfrm>
            <a:off x="822960" y="4892040"/>
            <a:ext cx="2697480" cy="566928"/>
          </a:xfrm>
          <a:prstGeom prst="rect">
            <a:avLst/>
          </a:prstGeom>
          <a:noFill/>
          <a:ln/>
        </p:spPr>
        <p:txBody>
          <a:bodyPr wrap="square" lIns="0" tIns="0" rIns="0" bIns="0" rtlCol="0" anchor="t"/>
          <a:lstStyle/>
          <a:p>
            <a:pPr indent="0" marL="0">
              <a:buNone/>
            </a:pPr>
            <a:r>
              <a:rPr lang="en-US" sz="1900" b="1" dirty="0">
                <a:solidFill>
                  <a:schemeClr val="bg1"/>
                </a:solidFill>
              </a:rPr>
              <a:t>Smooth hand-over</a:t>
            </a:r>
            <a:endParaRPr lang="en-US" sz="1900" dirty="0"/>
          </a:p>
        </p:txBody>
      </p:sp>
      <p:sp>
        <p:nvSpPr>
          <p:cNvPr id="17" name="Text 12"/>
          <p:cNvSpPr txBox="1"/>
          <p:nvPr/>
        </p:nvSpPr>
        <p:spPr>
          <a:xfrm>
            <a:off x="822960" y="5458968"/>
            <a:ext cx="2697480" cy="347472"/>
          </a:xfrm>
          <a:prstGeom prst="rect">
            <a:avLst/>
          </a:prstGeom>
          <a:noFill/>
          <a:ln/>
        </p:spPr>
        <p:txBody>
          <a:bodyPr wrap="square" lIns="0" tIns="0" rIns="0" bIns="0" rtlCol="0" anchor="t"/>
          <a:lstStyle/>
          <a:p>
            <a:pPr indent="0" marL="0">
              <a:buNone/>
            </a:pPr>
            <a:r>
              <a:rPr lang="en-US" sz="1500" dirty="0">
                <a:solidFill>
                  <a:schemeClr val="bg1"/>
                </a:solidFill>
              </a:rPr>
              <a:t>To the right person</a:t>
            </a:r>
            <a:endParaRPr lang="en-US" sz="1500" dirty="0"/>
          </a:p>
        </p:txBody>
      </p:sp>
      <p:sp>
        <p:nvSpPr>
          <p:cNvPr id="18" name="support tile 4"/>
          <p:cNvSpPr/>
          <p:nvPr/>
        </p:nvSpPr>
        <p:spPr>
          <a:xfrm>
            <a:off x="3886200" y="3794760"/>
            <a:ext cx="3154680" cy="2103120"/>
          </a:xfrm>
          <a:prstGeom prst="roundRect">
            <a:avLst>
              <a:gd name="adj" fmla="val 7826"/>
            </a:avLst>
          </a:prstGeom>
          <a:solidFill>
            <a:schemeClr val="accent6"/>
          </a:solidFill>
          <a:ln/>
          <a:effectLst>
            <a:outerShdw sx="100000" sy="100000" kx="0" ky="0" algn="bl" rotWithShape="0" blurRad="152400" dist="50800" dir="5400000">
              <a:srgbClr val="0E1B3D">
                <a:alpha val="14000"/>
              </a:srgbClr>
            </a:outerShdw>
          </a:effectLst>
        </p:spPr>
      </p:sp>
      <p:sp>
        <p:nvSpPr>
          <p:cNvPr id="19" name="support tile 4 circle"/>
          <p:cNvSpPr/>
          <p:nvPr/>
        </p:nvSpPr>
        <p:spPr>
          <a:xfrm>
            <a:off x="4160520" y="4069080"/>
            <a:ext cx="731520" cy="731520"/>
          </a:xfrm>
          <a:prstGeom prst="ellipse">
            <a:avLst/>
          </a:prstGeom>
          <a:solidFill>
            <a:schemeClr val="bg1"/>
          </a:solidFill>
          <a:ln/>
        </p:spPr>
      </p:sp>
      <p:pic>
        <p:nvPicPr>
          <p:cNvPr id="20" name="support tile 4" descr="preencoded.png">    </p:cNvPr>
          <p:cNvPicPr>
            <a:picLocks noChangeAspect="1"/>
          </p:cNvPicPr>
          <p:nvPr/>
        </p:nvPicPr>
        <p:blipFill>
          <a:blip r:embed="rId4"/>
          <a:stretch>
            <a:fillRect/>
          </a:stretch>
        </p:blipFill>
        <p:spPr>
          <a:xfrm>
            <a:off x="4343400" y="4251960"/>
            <a:ext cx="365760" cy="365760"/>
          </a:xfrm>
          <a:prstGeom prst="rect">
            <a:avLst/>
          </a:prstGeom>
        </p:spPr>
      </p:pic>
      <p:sp>
        <p:nvSpPr>
          <p:cNvPr id="21" name="Text 15"/>
          <p:cNvSpPr txBox="1"/>
          <p:nvPr/>
        </p:nvSpPr>
        <p:spPr>
          <a:xfrm>
            <a:off x="4160520" y="4892040"/>
            <a:ext cx="2697480" cy="566928"/>
          </a:xfrm>
          <a:prstGeom prst="rect">
            <a:avLst/>
          </a:prstGeom>
          <a:noFill/>
          <a:ln/>
        </p:spPr>
        <p:txBody>
          <a:bodyPr wrap="square" lIns="0" tIns="0" rIns="0" bIns="0" rtlCol="0" anchor="t"/>
          <a:lstStyle/>
          <a:p>
            <a:pPr indent="0" marL="0">
              <a:buNone/>
            </a:pPr>
            <a:r>
              <a:rPr lang="en-US" sz="1900" b="1" dirty="0">
                <a:solidFill>
                  <a:schemeClr val="bg1"/>
                </a:solidFill>
              </a:rPr>
              <a:t>Reply time limits</a:t>
            </a:r>
            <a:endParaRPr lang="en-US" sz="1900" dirty="0"/>
          </a:p>
        </p:txBody>
      </p:sp>
      <p:sp>
        <p:nvSpPr>
          <p:cNvPr id="22" name="Text 16"/>
          <p:cNvSpPr txBox="1"/>
          <p:nvPr/>
        </p:nvSpPr>
        <p:spPr>
          <a:xfrm>
            <a:off x="4160520" y="5458968"/>
            <a:ext cx="2697480" cy="347472"/>
          </a:xfrm>
          <a:prstGeom prst="rect">
            <a:avLst/>
          </a:prstGeom>
          <a:noFill/>
          <a:ln/>
        </p:spPr>
        <p:txBody>
          <a:bodyPr wrap="square" lIns="0" tIns="0" rIns="0" bIns="0" rtlCol="0" anchor="t"/>
          <a:lstStyle/>
          <a:p>
            <a:pPr indent="0" marL="0">
              <a:buNone/>
            </a:pPr>
            <a:r>
              <a:rPr lang="en-US" sz="1500" dirty="0">
                <a:solidFill>
                  <a:schemeClr val="bg1"/>
                </a:solidFill>
              </a:rPr>
              <a:t>Alerts before delays</a:t>
            </a:r>
            <a:endParaRPr lang="en-US" sz="1500" dirty="0"/>
          </a:p>
        </p:txBody>
      </p:sp>
      <p:sp>
        <p:nvSpPr>
          <p:cNvPr id="23" name="phone halo"/>
          <p:cNvSpPr/>
          <p:nvPr/>
        </p:nvSpPr>
        <p:spPr>
          <a:xfrm>
            <a:off x="7589520" y="1234440"/>
            <a:ext cx="4206240" cy="4206240"/>
          </a:xfrm>
          <a:prstGeom prst="ellipse">
            <a:avLst/>
          </a:prstGeom>
          <a:solidFill>
            <a:srgbClr val="F1E8FF"/>
          </a:solidFill>
          <a:ln/>
        </p:spPr>
      </p:sp>
      <p:pic>
        <p:nvPicPr>
          <p:cNvPr id="24" name="support phone" descr="/tmp/claude-0/-home-user-Marketing-CRM/cda677d3-5399-55f3-b900-902225faa9ab/scratchpad/deck/img/phone-support.png">    </p:cNvPr>
          <p:cNvPicPr>
            <a:picLocks noChangeAspect="1"/>
          </p:cNvPicPr>
          <p:nvPr/>
        </p:nvPicPr>
        <p:blipFill>
          <a:blip r:embed="rId5"/>
          <a:stretch>
            <a:fillRect/>
          </a:stretch>
        </p:blipFill>
        <p:spPr>
          <a:xfrm>
            <a:off x="7863840" y="1143000"/>
            <a:ext cx="2688336" cy="5120640"/>
          </a:xfrm>
          <a:prstGeom prst="rect">
            <a:avLst/>
          </a:prstGeom>
        </p:spPr>
      </p:pic>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Before vs. after WAMA CRM</a:t>
            </a:r>
            <a:endParaRPr lang="en-US" sz="3600" dirty="0"/>
          </a:p>
        </p:txBody>
      </p:sp>
      <p:sp>
        <p:nvSpPr>
          <p:cNvPr id="3" name="before column"/>
          <p:cNvSpPr/>
          <p:nvPr/>
        </p:nvSpPr>
        <p:spPr>
          <a:xfrm>
            <a:off x="548640" y="1417320"/>
            <a:ext cx="5349240" cy="4526280"/>
          </a:xfrm>
          <a:prstGeom prst="roundRect">
            <a:avLst>
              <a:gd name="adj" fmla="val 3636"/>
            </a:avLst>
          </a:prstGeom>
          <a:solidFill>
            <a:srgbClr val="F3F4F6"/>
          </a:solidFill>
          <a:ln/>
          <a:effectLst>
            <a:outerShdw sx="100000" sy="100000" kx="0" ky="0" algn="bl" rotWithShape="0" blurRad="152400" dist="50800" dir="5400000">
              <a:srgbClr val="0E1B3D">
                <a:alpha val="14000"/>
              </a:srgbClr>
            </a:outerShdw>
          </a:effectLst>
        </p:spPr>
      </p:sp>
      <p:sp>
        <p:nvSpPr>
          <p:cNvPr id="4" name="after column"/>
          <p:cNvSpPr/>
          <p:nvPr/>
        </p:nvSpPr>
        <p:spPr>
          <a:xfrm>
            <a:off x="6263640" y="1417320"/>
            <a:ext cx="5349240" cy="4526280"/>
          </a:xfrm>
          <a:prstGeom prst="roundRect">
            <a:avLst>
              <a:gd name="adj" fmla="val 3636"/>
            </a:avLst>
          </a:prstGeom>
          <a:solidFill>
            <a:schemeClr val="accent2"/>
          </a:solidFill>
          <a:ln/>
          <a:effectLst>
            <a:outerShdw sx="100000" sy="100000" kx="0" ky="0" algn="bl" rotWithShape="0" blurRad="152400" dist="50800" dir="5400000">
              <a:srgbClr val="0E1B3D">
                <a:alpha val="14000"/>
              </a:srgbClr>
            </a:outerShdw>
          </a:effectLst>
        </p:spPr>
      </p:sp>
      <p:sp>
        <p:nvSpPr>
          <p:cNvPr id="5" name="Text 3"/>
          <p:cNvSpPr txBox="1"/>
          <p:nvPr/>
        </p:nvSpPr>
        <p:spPr>
          <a:xfrm>
            <a:off x="914400" y="1645920"/>
            <a:ext cx="4572000" cy="548640"/>
          </a:xfrm>
          <a:prstGeom prst="rect">
            <a:avLst/>
          </a:prstGeom>
          <a:noFill/>
          <a:ln/>
        </p:spPr>
        <p:txBody>
          <a:bodyPr wrap="square" lIns="0" tIns="0" rIns="0" bIns="0" rtlCol="0" anchor="t"/>
          <a:lstStyle/>
          <a:p>
            <a:pPr indent="0" marL="0">
              <a:buNone/>
            </a:pPr>
            <a:r>
              <a:rPr lang="en-US" sz="2600" b="1" dirty="0">
                <a:solidFill>
                  <a:schemeClr val="tx2"/>
                </a:solidFill>
              </a:rPr>
              <a:t>Before</a:t>
            </a:r>
            <a:endParaRPr lang="en-US" sz="2600" dirty="0"/>
          </a:p>
        </p:txBody>
      </p:sp>
      <p:sp>
        <p:nvSpPr>
          <p:cNvPr id="6" name="Text 4"/>
          <p:cNvSpPr txBox="1"/>
          <p:nvPr/>
        </p:nvSpPr>
        <p:spPr>
          <a:xfrm>
            <a:off x="6629400" y="1645920"/>
            <a:ext cx="4572000" cy="548640"/>
          </a:xfrm>
          <a:prstGeom prst="rect">
            <a:avLst/>
          </a:prstGeom>
          <a:noFill/>
          <a:ln/>
        </p:spPr>
        <p:txBody>
          <a:bodyPr wrap="square" lIns="0" tIns="0" rIns="0" bIns="0" rtlCol="0" anchor="t"/>
          <a:lstStyle/>
          <a:p>
            <a:pPr indent="0" marL="0">
              <a:buNone/>
            </a:pPr>
            <a:r>
              <a:rPr lang="en-US" sz="2600" b="1" dirty="0">
                <a:solidFill>
                  <a:schemeClr val="bg1"/>
                </a:solidFill>
              </a:rPr>
              <a:t>With WAMA CRM</a:t>
            </a:r>
            <a:endParaRPr lang="en-US" sz="2600" dirty="0"/>
          </a:p>
        </p:txBody>
      </p:sp>
      <p:sp>
        <p:nvSpPr>
          <p:cNvPr id="7" name="before 1 circle"/>
          <p:cNvSpPr/>
          <p:nvPr/>
        </p:nvSpPr>
        <p:spPr>
          <a:xfrm>
            <a:off x="914400" y="2468880"/>
            <a:ext cx="502920" cy="502920"/>
          </a:xfrm>
          <a:prstGeom prst="ellipse">
            <a:avLst/>
          </a:prstGeom>
          <a:solidFill>
            <a:schemeClr val="accent6"/>
          </a:solidFill>
          <a:ln/>
        </p:spPr>
      </p:sp>
      <p:pic>
        <p:nvPicPr>
          <p:cNvPr id="8" name="before 1" descr="preencoded.png">    </p:cNvPr>
          <p:cNvPicPr>
            <a:picLocks noChangeAspect="1"/>
          </p:cNvPicPr>
          <p:nvPr/>
        </p:nvPicPr>
        <p:blipFill>
          <a:blip r:embed="rId1"/>
          <a:stretch>
            <a:fillRect/>
          </a:stretch>
        </p:blipFill>
        <p:spPr>
          <a:xfrm>
            <a:off x="1040130" y="2594610"/>
            <a:ext cx="251460" cy="251460"/>
          </a:xfrm>
          <a:prstGeom prst="rect">
            <a:avLst/>
          </a:prstGeom>
        </p:spPr>
      </p:pic>
      <p:sp>
        <p:nvSpPr>
          <p:cNvPr id="9" name="Text 6"/>
          <p:cNvSpPr txBox="1"/>
          <p:nvPr/>
        </p:nvSpPr>
        <p:spPr>
          <a:xfrm>
            <a:off x="1600200" y="2468880"/>
            <a:ext cx="4114800" cy="502920"/>
          </a:xfrm>
          <a:prstGeom prst="rect">
            <a:avLst/>
          </a:prstGeom>
          <a:noFill/>
          <a:ln/>
        </p:spPr>
        <p:txBody>
          <a:bodyPr wrap="square" lIns="0" tIns="0" rIns="0" bIns="0" rtlCol="0" anchor="ctr"/>
          <a:lstStyle/>
          <a:p>
            <a:pPr indent="0" marL="0">
              <a:buNone/>
            </a:pPr>
            <a:r>
              <a:rPr lang="en-US" sz="2000" dirty="0">
                <a:solidFill>
                  <a:schemeClr val="tx2"/>
                </a:solidFill>
              </a:rPr>
              <a:t>Reply next day</a:t>
            </a:r>
            <a:endParaRPr lang="en-US" sz="2000" dirty="0"/>
          </a:p>
        </p:txBody>
      </p:sp>
      <p:sp>
        <p:nvSpPr>
          <p:cNvPr id="10" name="before 2 circle"/>
          <p:cNvSpPr/>
          <p:nvPr/>
        </p:nvSpPr>
        <p:spPr>
          <a:xfrm>
            <a:off x="914400" y="3291840"/>
            <a:ext cx="502920" cy="502920"/>
          </a:xfrm>
          <a:prstGeom prst="ellipse">
            <a:avLst/>
          </a:prstGeom>
          <a:solidFill>
            <a:schemeClr val="accent6"/>
          </a:solidFill>
          <a:ln/>
        </p:spPr>
      </p:sp>
      <p:pic>
        <p:nvPicPr>
          <p:cNvPr id="11" name="before 2" descr="preencoded.png">    </p:cNvPr>
          <p:cNvPicPr>
            <a:picLocks noChangeAspect="1"/>
          </p:cNvPicPr>
          <p:nvPr/>
        </p:nvPicPr>
        <p:blipFill>
          <a:blip r:embed="rId2"/>
          <a:stretch>
            <a:fillRect/>
          </a:stretch>
        </p:blipFill>
        <p:spPr>
          <a:xfrm>
            <a:off x="1040130" y="3417570"/>
            <a:ext cx="251460" cy="251460"/>
          </a:xfrm>
          <a:prstGeom prst="rect">
            <a:avLst/>
          </a:prstGeom>
        </p:spPr>
      </p:pic>
      <p:sp>
        <p:nvSpPr>
          <p:cNvPr id="12" name="Text 8"/>
          <p:cNvSpPr txBox="1"/>
          <p:nvPr/>
        </p:nvSpPr>
        <p:spPr>
          <a:xfrm>
            <a:off x="1600200" y="3291840"/>
            <a:ext cx="4114800" cy="502920"/>
          </a:xfrm>
          <a:prstGeom prst="rect">
            <a:avLst/>
          </a:prstGeom>
          <a:noFill/>
          <a:ln/>
        </p:spPr>
        <p:txBody>
          <a:bodyPr wrap="square" lIns="0" tIns="0" rIns="0" bIns="0" rtlCol="0" anchor="ctr"/>
          <a:lstStyle/>
          <a:p>
            <a:pPr indent="0" marL="0">
              <a:buNone/>
            </a:pPr>
            <a:r>
              <a:rPr lang="en-US" sz="2000" dirty="0">
                <a:solidFill>
                  <a:schemeClr val="tx2"/>
                </a:solidFill>
              </a:rPr>
              <a:t>Leads in staff phones</a:t>
            </a:r>
            <a:endParaRPr lang="en-US" sz="2000" dirty="0"/>
          </a:p>
        </p:txBody>
      </p:sp>
      <p:sp>
        <p:nvSpPr>
          <p:cNvPr id="13" name="before 3 circle"/>
          <p:cNvSpPr/>
          <p:nvPr/>
        </p:nvSpPr>
        <p:spPr>
          <a:xfrm>
            <a:off x="914400" y="4114800"/>
            <a:ext cx="502920" cy="502920"/>
          </a:xfrm>
          <a:prstGeom prst="ellipse">
            <a:avLst/>
          </a:prstGeom>
          <a:solidFill>
            <a:schemeClr val="accent6"/>
          </a:solidFill>
          <a:ln/>
        </p:spPr>
      </p:sp>
      <p:pic>
        <p:nvPicPr>
          <p:cNvPr id="14" name="before 3" descr="preencoded.png">    </p:cNvPr>
          <p:cNvPicPr>
            <a:picLocks noChangeAspect="1"/>
          </p:cNvPicPr>
          <p:nvPr/>
        </p:nvPicPr>
        <p:blipFill>
          <a:blip r:embed="rId3"/>
          <a:stretch>
            <a:fillRect/>
          </a:stretch>
        </p:blipFill>
        <p:spPr>
          <a:xfrm>
            <a:off x="1040130" y="4240530"/>
            <a:ext cx="251460" cy="251460"/>
          </a:xfrm>
          <a:prstGeom prst="rect">
            <a:avLst/>
          </a:prstGeom>
        </p:spPr>
      </p:pic>
      <p:sp>
        <p:nvSpPr>
          <p:cNvPr id="15" name="Text 10"/>
          <p:cNvSpPr txBox="1"/>
          <p:nvPr/>
        </p:nvSpPr>
        <p:spPr>
          <a:xfrm>
            <a:off x="1600200" y="4114800"/>
            <a:ext cx="4114800" cy="502920"/>
          </a:xfrm>
          <a:prstGeom prst="rect">
            <a:avLst/>
          </a:prstGeom>
          <a:noFill/>
          <a:ln/>
        </p:spPr>
        <p:txBody>
          <a:bodyPr wrap="square" lIns="0" tIns="0" rIns="0" bIns="0" rtlCol="0" anchor="ctr"/>
          <a:lstStyle/>
          <a:p>
            <a:pPr indent="0" marL="0">
              <a:buNone/>
            </a:pPr>
            <a:r>
              <a:rPr lang="en-US" sz="2000" dirty="0">
                <a:solidFill>
                  <a:schemeClr val="tx2"/>
                </a:solidFill>
              </a:rPr>
              <a:t>Customers call to order</a:t>
            </a:r>
            <a:endParaRPr lang="en-US" sz="2000" dirty="0"/>
          </a:p>
        </p:txBody>
      </p:sp>
      <p:sp>
        <p:nvSpPr>
          <p:cNvPr id="16" name="before 4 circle"/>
          <p:cNvSpPr/>
          <p:nvPr/>
        </p:nvSpPr>
        <p:spPr>
          <a:xfrm>
            <a:off x="914400" y="4937760"/>
            <a:ext cx="502920" cy="502920"/>
          </a:xfrm>
          <a:prstGeom prst="ellipse">
            <a:avLst/>
          </a:prstGeom>
          <a:solidFill>
            <a:schemeClr val="accent6"/>
          </a:solidFill>
          <a:ln/>
        </p:spPr>
      </p:sp>
      <p:pic>
        <p:nvPicPr>
          <p:cNvPr id="17" name="before 4" descr="preencoded.png">    </p:cNvPr>
          <p:cNvPicPr>
            <a:picLocks noChangeAspect="1"/>
          </p:cNvPicPr>
          <p:nvPr/>
        </p:nvPicPr>
        <p:blipFill>
          <a:blip r:embed="rId4"/>
          <a:stretch>
            <a:fillRect/>
          </a:stretch>
        </p:blipFill>
        <p:spPr>
          <a:xfrm>
            <a:off x="1040130" y="5063490"/>
            <a:ext cx="251460" cy="251460"/>
          </a:xfrm>
          <a:prstGeom prst="rect">
            <a:avLst/>
          </a:prstGeom>
        </p:spPr>
      </p:pic>
      <p:sp>
        <p:nvSpPr>
          <p:cNvPr id="18" name="Text 12"/>
          <p:cNvSpPr txBox="1"/>
          <p:nvPr/>
        </p:nvSpPr>
        <p:spPr>
          <a:xfrm>
            <a:off x="1600200" y="4937760"/>
            <a:ext cx="4114800" cy="502920"/>
          </a:xfrm>
          <a:prstGeom prst="rect">
            <a:avLst/>
          </a:prstGeom>
          <a:noFill/>
          <a:ln/>
        </p:spPr>
        <p:txBody>
          <a:bodyPr wrap="square" lIns="0" tIns="0" rIns="0" bIns="0" rtlCol="0" anchor="ctr"/>
          <a:lstStyle/>
          <a:p>
            <a:pPr indent="0" marL="0">
              <a:buNone/>
            </a:pPr>
            <a:r>
              <a:rPr lang="en-US" sz="2000" dirty="0">
                <a:solidFill>
                  <a:schemeClr val="tx2"/>
                </a:solidFill>
              </a:rPr>
              <a:t>Guess what works</a:t>
            </a:r>
            <a:endParaRPr lang="en-US" sz="2000" dirty="0"/>
          </a:p>
        </p:txBody>
      </p:sp>
      <p:sp>
        <p:nvSpPr>
          <p:cNvPr id="19" name="after 1 circle"/>
          <p:cNvSpPr/>
          <p:nvPr/>
        </p:nvSpPr>
        <p:spPr>
          <a:xfrm>
            <a:off x="6629400" y="2468880"/>
            <a:ext cx="502920" cy="502920"/>
          </a:xfrm>
          <a:prstGeom prst="ellipse">
            <a:avLst/>
          </a:prstGeom>
          <a:solidFill>
            <a:schemeClr val="bg1"/>
          </a:solidFill>
          <a:ln/>
        </p:spPr>
      </p:sp>
      <p:pic>
        <p:nvPicPr>
          <p:cNvPr id="20" name="after 1" descr="preencoded.png">    </p:cNvPr>
          <p:cNvPicPr>
            <a:picLocks noChangeAspect="1"/>
          </p:cNvPicPr>
          <p:nvPr/>
        </p:nvPicPr>
        <p:blipFill>
          <a:blip r:embed="rId5"/>
          <a:stretch>
            <a:fillRect/>
          </a:stretch>
        </p:blipFill>
        <p:spPr>
          <a:xfrm>
            <a:off x="6755130" y="2594610"/>
            <a:ext cx="251460" cy="251460"/>
          </a:xfrm>
          <a:prstGeom prst="rect">
            <a:avLst/>
          </a:prstGeom>
        </p:spPr>
      </p:pic>
      <p:sp>
        <p:nvSpPr>
          <p:cNvPr id="21" name="Text 14"/>
          <p:cNvSpPr txBox="1"/>
          <p:nvPr/>
        </p:nvSpPr>
        <p:spPr>
          <a:xfrm>
            <a:off x="7315200" y="2468880"/>
            <a:ext cx="4114800" cy="502920"/>
          </a:xfrm>
          <a:prstGeom prst="rect">
            <a:avLst/>
          </a:prstGeom>
          <a:noFill/>
          <a:ln/>
        </p:spPr>
        <p:txBody>
          <a:bodyPr wrap="square" lIns="0" tIns="0" rIns="0" bIns="0" rtlCol="0" anchor="ctr"/>
          <a:lstStyle/>
          <a:p>
            <a:pPr indent="0" marL="0">
              <a:buNone/>
            </a:pPr>
            <a:r>
              <a:rPr lang="en-US" sz="2000" b="1" dirty="0">
                <a:solidFill>
                  <a:schemeClr val="bg1"/>
                </a:solidFill>
              </a:rPr>
              <a:t>Reply in seconds</a:t>
            </a:r>
            <a:endParaRPr lang="en-US" sz="2000" dirty="0"/>
          </a:p>
        </p:txBody>
      </p:sp>
      <p:sp>
        <p:nvSpPr>
          <p:cNvPr id="22" name="after 2 circle"/>
          <p:cNvSpPr/>
          <p:nvPr/>
        </p:nvSpPr>
        <p:spPr>
          <a:xfrm>
            <a:off x="6629400" y="3291840"/>
            <a:ext cx="502920" cy="502920"/>
          </a:xfrm>
          <a:prstGeom prst="ellipse">
            <a:avLst/>
          </a:prstGeom>
          <a:solidFill>
            <a:schemeClr val="bg1"/>
          </a:solidFill>
          <a:ln/>
        </p:spPr>
      </p:sp>
      <p:pic>
        <p:nvPicPr>
          <p:cNvPr id="23" name="after 2" descr="preencoded.png">    </p:cNvPr>
          <p:cNvPicPr>
            <a:picLocks noChangeAspect="1"/>
          </p:cNvPicPr>
          <p:nvPr/>
        </p:nvPicPr>
        <p:blipFill>
          <a:blip r:embed="rId6"/>
          <a:stretch>
            <a:fillRect/>
          </a:stretch>
        </p:blipFill>
        <p:spPr>
          <a:xfrm>
            <a:off x="6755130" y="3417570"/>
            <a:ext cx="251460" cy="251460"/>
          </a:xfrm>
          <a:prstGeom prst="rect">
            <a:avLst/>
          </a:prstGeom>
        </p:spPr>
      </p:pic>
      <p:sp>
        <p:nvSpPr>
          <p:cNvPr id="24" name="Text 16"/>
          <p:cNvSpPr txBox="1"/>
          <p:nvPr/>
        </p:nvSpPr>
        <p:spPr>
          <a:xfrm>
            <a:off x="7315200" y="3291840"/>
            <a:ext cx="4114800" cy="502920"/>
          </a:xfrm>
          <a:prstGeom prst="rect">
            <a:avLst/>
          </a:prstGeom>
          <a:noFill/>
          <a:ln/>
        </p:spPr>
        <p:txBody>
          <a:bodyPr wrap="square" lIns="0" tIns="0" rIns="0" bIns="0" rtlCol="0" anchor="ctr"/>
          <a:lstStyle/>
          <a:p>
            <a:pPr indent="0" marL="0">
              <a:buNone/>
            </a:pPr>
            <a:r>
              <a:rPr lang="en-US" sz="2000" b="1" dirty="0">
                <a:solidFill>
                  <a:schemeClr val="bg1"/>
                </a:solidFill>
              </a:rPr>
              <a:t>Every lead in CRM</a:t>
            </a:r>
            <a:endParaRPr lang="en-US" sz="2000" dirty="0"/>
          </a:p>
        </p:txBody>
      </p:sp>
      <p:sp>
        <p:nvSpPr>
          <p:cNvPr id="25" name="after 3 circle"/>
          <p:cNvSpPr/>
          <p:nvPr/>
        </p:nvSpPr>
        <p:spPr>
          <a:xfrm>
            <a:off x="6629400" y="4114800"/>
            <a:ext cx="502920" cy="502920"/>
          </a:xfrm>
          <a:prstGeom prst="ellipse">
            <a:avLst/>
          </a:prstGeom>
          <a:solidFill>
            <a:schemeClr val="bg1"/>
          </a:solidFill>
          <a:ln/>
        </p:spPr>
      </p:sp>
      <p:pic>
        <p:nvPicPr>
          <p:cNvPr id="26" name="after 3" descr="preencoded.png">    </p:cNvPr>
          <p:cNvPicPr>
            <a:picLocks noChangeAspect="1"/>
          </p:cNvPicPr>
          <p:nvPr/>
        </p:nvPicPr>
        <p:blipFill>
          <a:blip r:embed="rId7"/>
          <a:stretch>
            <a:fillRect/>
          </a:stretch>
        </p:blipFill>
        <p:spPr>
          <a:xfrm>
            <a:off x="6755130" y="4240530"/>
            <a:ext cx="251460" cy="251460"/>
          </a:xfrm>
          <a:prstGeom prst="rect">
            <a:avLst/>
          </a:prstGeom>
        </p:spPr>
      </p:pic>
      <p:sp>
        <p:nvSpPr>
          <p:cNvPr id="27" name="Text 18"/>
          <p:cNvSpPr txBox="1"/>
          <p:nvPr/>
        </p:nvSpPr>
        <p:spPr>
          <a:xfrm>
            <a:off x="7315200" y="4114800"/>
            <a:ext cx="4114800" cy="502920"/>
          </a:xfrm>
          <a:prstGeom prst="rect">
            <a:avLst/>
          </a:prstGeom>
          <a:noFill/>
          <a:ln/>
        </p:spPr>
        <p:txBody>
          <a:bodyPr wrap="square" lIns="0" tIns="0" rIns="0" bIns="0" rtlCol="0" anchor="ctr"/>
          <a:lstStyle/>
          <a:p>
            <a:pPr indent="0" marL="0">
              <a:buNone/>
            </a:pPr>
            <a:r>
              <a:rPr lang="en-US" sz="2000" b="1" dirty="0">
                <a:solidFill>
                  <a:schemeClr val="bg1"/>
                </a:solidFill>
              </a:rPr>
              <a:t>Order and pay in chat</a:t>
            </a:r>
            <a:endParaRPr lang="en-US" sz="2000" dirty="0"/>
          </a:p>
        </p:txBody>
      </p:sp>
      <p:sp>
        <p:nvSpPr>
          <p:cNvPr id="28" name="after 4 circle"/>
          <p:cNvSpPr/>
          <p:nvPr/>
        </p:nvSpPr>
        <p:spPr>
          <a:xfrm>
            <a:off x="6629400" y="4937760"/>
            <a:ext cx="502920" cy="502920"/>
          </a:xfrm>
          <a:prstGeom prst="ellipse">
            <a:avLst/>
          </a:prstGeom>
          <a:solidFill>
            <a:schemeClr val="bg1"/>
          </a:solidFill>
          <a:ln/>
        </p:spPr>
      </p:sp>
      <p:pic>
        <p:nvPicPr>
          <p:cNvPr id="29" name="after 4" descr="preencoded.png">    </p:cNvPr>
          <p:cNvPicPr>
            <a:picLocks noChangeAspect="1"/>
          </p:cNvPicPr>
          <p:nvPr/>
        </p:nvPicPr>
        <p:blipFill>
          <a:blip r:embed="rId8"/>
          <a:stretch>
            <a:fillRect/>
          </a:stretch>
        </p:blipFill>
        <p:spPr>
          <a:xfrm>
            <a:off x="6755130" y="5063490"/>
            <a:ext cx="251460" cy="251460"/>
          </a:xfrm>
          <a:prstGeom prst="rect">
            <a:avLst/>
          </a:prstGeom>
        </p:spPr>
      </p:pic>
      <p:sp>
        <p:nvSpPr>
          <p:cNvPr id="30" name="Text 20"/>
          <p:cNvSpPr txBox="1"/>
          <p:nvPr/>
        </p:nvSpPr>
        <p:spPr>
          <a:xfrm>
            <a:off x="7315200" y="4937760"/>
            <a:ext cx="4114800" cy="502920"/>
          </a:xfrm>
          <a:prstGeom prst="rect">
            <a:avLst/>
          </a:prstGeom>
          <a:noFill/>
          <a:ln/>
        </p:spPr>
        <p:txBody>
          <a:bodyPr wrap="square" lIns="0" tIns="0" rIns="0" bIns="0" rtlCol="0" anchor="ctr"/>
          <a:lstStyle/>
          <a:p>
            <a:pPr indent="0" marL="0">
              <a:buNone/>
            </a:pPr>
            <a:r>
              <a:rPr lang="en-US" sz="2000" b="1" dirty="0">
                <a:solidFill>
                  <a:schemeClr val="bg1"/>
                </a:solidFill>
              </a:rPr>
              <a:t>Live reports</a:t>
            </a:r>
            <a:endParaRPr lang="en-US" sz="20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Trusted by organisations that serve people</a:t>
            </a:r>
            <a:endParaRPr lang="en-US" sz="3600" dirty="0"/>
          </a:p>
        </p:txBody>
      </p:sp>
      <p:sp>
        <p:nvSpPr>
          <p:cNvPr id="3" name="DEEP card"/>
          <p:cNvSpPr/>
          <p:nvPr/>
        </p:nvSpPr>
        <p:spPr>
          <a:xfrm>
            <a:off x="548640" y="1417320"/>
            <a:ext cx="5440680" cy="4526280"/>
          </a:xfrm>
          <a:prstGeom prst="roundRect">
            <a:avLst>
              <a:gd name="adj" fmla="val 3636"/>
            </a:avLst>
          </a:prstGeom>
          <a:solidFill>
            <a:schemeClr val="bg1"/>
          </a:solidFill>
          <a:ln w="12700">
            <a:solidFill>
              <a:srgbClr val="E1E7F2"/>
            </a:solidFill>
            <a:prstDash val="solid"/>
          </a:ln>
          <a:effectLst>
            <a:outerShdw sx="100000" sy="100000" kx="0" ky="0" algn="bl" rotWithShape="0" blurRad="152400" dist="50800" dir="5400000">
              <a:srgbClr val="0E1B3D">
                <a:alpha val="14000"/>
              </a:srgbClr>
            </a:outerShdw>
          </a:effectLst>
        </p:spPr>
      </p:sp>
      <p:pic>
        <p:nvPicPr>
          <p:cNvPr id="4" name="DEEP Trust logo" descr="/home/user/Marketing-CRM/docs/brand/customers/deep-trust-logo.png">    </p:cNvPr>
          <p:cNvPicPr>
            <a:picLocks noChangeAspect="1"/>
          </p:cNvPicPr>
          <p:nvPr/>
        </p:nvPicPr>
        <p:blipFill>
          <a:blip r:embed="rId1"/>
          <a:stretch>
            <a:fillRect/>
          </a:stretch>
        </p:blipFill>
        <p:spPr>
          <a:xfrm>
            <a:off x="868680" y="1828800"/>
            <a:ext cx="4800600" cy="1423434"/>
          </a:xfrm>
          <a:prstGeom prst="rect">
            <a:avLst/>
          </a:prstGeom>
        </p:spPr>
      </p:pic>
      <p:sp>
        <p:nvSpPr>
          <p:cNvPr id="5" name="Health screening campaigns chip"/>
          <p:cNvSpPr/>
          <p:nvPr/>
        </p:nvSpPr>
        <p:spPr>
          <a:xfrm>
            <a:off x="868680" y="3794760"/>
            <a:ext cx="4800600" cy="548640"/>
          </a:xfrm>
          <a:prstGeom prst="roundRect">
            <a:avLst>
              <a:gd name="adj" fmla="val 50000"/>
            </a:avLst>
          </a:prstGeom>
          <a:solidFill>
            <a:schemeClr val="accent3"/>
          </a:solidFill>
          <a:ln/>
        </p:spPr>
      </p:sp>
      <p:sp>
        <p:nvSpPr>
          <p:cNvPr id="6" name="Text 3"/>
          <p:cNvSpPr txBox="1"/>
          <p:nvPr/>
        </p:nvSpPr>
        <p:spPr>
          <a:xfrm>
            <a:off x="868680" y="3794760"/>
            <a:ext cx="4800600" cy="548640"/>
          </a:xfrm>
          <a:prstGeom prst="rect">
            <a:avLst/>
          </a:prstGeom>
          <a:noFill/>
          <a:ln/>
        </p:spPr>
        <p:txBody>
          <a:bodyPr wrap="square" lIns="0" tIns="0" rIns="0" bIns="0" rtlCol="0" anchor="ctr"/>
          <a:lstStyle/>
          <a:p>
            <a:pPr algn="ctr" indent="0" marL="0">
              <a:buNone/>
            </a:pPr>
            <a:r>
              <a:rPr lang="en-US" sz="1800" b="1" dirty="0">
                <a:solidFill>
                  <a:schemeClr val="bg1"/>
                </a:solidFill>
              </a:rPr>
              <a:t>Health screening campaigns</a:t>
            </a:r>
            <a:endParaRPr lang="en-US" sz="1800" dirty="0"/>
          </a:p>
        </p:txBody>
      </p:sp>
      <p:sp>
        <p:nvSpPr>
          <p:cNvPr id="7" name="Text 4"/>
          <p:cNvSpPr txBox="1"/>
          <p:nvPr/>
        </p:nvSpPr>
        <p:spPr>
          <a:xfrm>
            <a:off x="868680" y="4526280"/>
            <a:ext cx="4800600" cy="822960"/>
          </a:xfrm>
          <a:prstGeom prst="rect">
            <a:avLst/>
          </a:prstGeom>
          <a:noFill/>
          <a:ln/>
        </p:spPr>
        <p:txBody>
          <a:bodyPr wrap="square" lIns="0" tIns="0" rIns="0" bIns="0" rtlCol="0" anchor="t"/>
          <a:lstStyle/>
          <a:p>
            <a:pPr algn="ctr" indent="0" marL="0">
              <a:buNone/>
            </a:pPr>
            <a:r>
              <a:rPr lang="en-US" sz="1600" dirty="0">
                <a:solidFill>
                  <a:schemeClr val="tx2"/>
                </a:solidFill>
              </a:rPr>
              <a:t>WhatsApp campaigns for health camps, and support for people who reach out</a:t>
            </a:r>
            <a:endParaRPr lang="en-US" sz="1600" dirty="0"/>
          </a:p>
        </p:txBody>
      </p:sp>
      <p:sp>
        <p:nvSpPr>
          <p:cNvPr id="8" name="Text 5"/>
          <p:cNvSpPr txBox="1"/>
          <p:nvPr/>
        </p:nvSpPr>
        <p:spPr>
          <a:xfrm>
            <a:off x="868680" y="5394960"/>
            <a:ext cx="4800600" cy="320040"/>
          </a:xfrm>
          <a:prstGeom prst="rect">
            <a:avLst/>
          </a:prstGeom>
          <a:noFill/>
          <a:ln/>
        </p:spPr>
        <p:txBody>
          <a:bodyPr wrap="square" lIns="0" tIns="0" rIns="0" bIns="0" rtlCol="0" anchor="t"/>
          <a:lstStyle/>
          <a:p>
            <a:pPr algn="ctr" indent="0" marL="0">
              <a:buNone/>
            </a:pPr>
            <a:r>
              <a:rPr lang="en-US" sz="1400" b="1" dirty="0">
                <a:solidFill>
                  <a:schemeClr val="accent1"/>
                </a:solidFill>
              </a:rPr>
              <a:t>deepindia.org</a:t>
            </a:r>
            <a:endParaRPr lang="en-US" sz="1400" dirty="0"/>
          </a:p>
        </p:txBody>
      </p:sp>
      <p:sp>
        <p:nvSpPr>
          <p:cNvPr id="9" name="Consular Helpdesk card"/>
          <p:cNvSpPr/>
          <p:nvPr/>
        </p:nvSpPr>
        <p:spPr>
          <a:xfrm>
            <a:off x="6172200" y="1417320"/>
            <a:ext cx="5440680" cy="4526280"/>
          </a:xfrm>
          <a:prstGeom prst="roundRect">
            <a:avLst>
              <a:gd name="adj" fmla="val 3636"/>
            </a:avLst>
          </a:prstGeom>
          <a:solidFill>
            <a:schemeClr val="bg1"/>
          </a:solidFill>
          <a:ln w="12700">
            <a:solidFill>
              <a:srgbClr val="E1E7F2"/>
            </a:solidFill>
            <a:prstDash val="solid"/>
          </a:ln>
          <a:effectLst>
            <a:outerShdw sx="100000" sy="100000" kx="0" ky="0" algn="bl" rotWithShape="0" blurRad="152400" dist="50800" dir="5400000">
              <a:srgbClr val="0E1B3D">
                <a:alpha val="14000"/>
              </a:srgbClr>
            </a:outerShdw>
          </a:effectLst>
        </p:spPr>
      </p:sp>
      <p:pic>
        <p:nvPicPr>
          <p:cNvPr id="10" name="Consular Helpdesk logo" descr="/home/user/Marketing-CRM/docs/brand/customers/consular-helpdesk-logo.png">    </p:cNvPr>
          <p:cNvPicPr>
            <a:picLocks noChangeAspect="1"/>
          </p:cNvPicPr>
          <p:nvPr/>
        </p:nvPicPr>
        <p:blipFill>
          <a:blip r:embed="rId2"/>
          <a:stretch>
            <a:fillRect/>
          </a:stretch>
        </p:blipFill>
        <p:spPr>
          <a:xfrm>
            <a:off x="6537960" y="1691640"/>
            <a:ext cx="1828800" cy="1828800"/>
          </a:xfrm>
          <a:prstGeom prst="rect">
            <a:avLst/>
          </a:prstGeom>
        </p:spPr>
      </p:pic>
      <p:sp>
        <p:nvSpPr>
          <p:cNvPr id="11" name="Text 7"/>
          <p:cNvSpPr txBox="1"/>
          <p:nvPr/>
        </p:nvSpPr>
        <p:spPr>
          <a:xfrm>
            <a:off x="8503920" y="2148840"/>
            <a:ext cx="2926080" cy="502920"/>
          </a:xfrm>
          <a:prstGeom prst="rect">
            <a:avLst/>
          </a:prstGeom>
          <a:noFill/>
          <a:ln/>
        </p:spPr>
        <p:txBody>
          <a:bodyPr wrap="square" lIns="0" tIns="0" rIns="0" bIns="0" rtlCol="0" anchor="t"/>
          <a:lstStyle/>
          <a:p>
            <a:pPr indent="0" marL="0">
              <a:buNone/>
            </a:pPr>
            <a:r>
              <a:rPr lang="en-US" sz="2200" b="1" dirty="0">
                <a:solidFill>
                  <a:srgbClr val="7A1E2C"/>
                </a:solidFill>
              </a:rPr>
              <a:t>Consular Helpdesk</a:t>
            </a:r>
            <a:endParaRPr lang="en-US" sz="2200" dirty="0"/>
          </a:p>
        </p:txBody>
      </p:sp>
      <p:sp>
        <p:nvSpPr>
          <p:cNvPr id="12" name="Text 8"/>
          <p:cNvSpPr txBox="1"/>
          <p:nvPr/>
        </p:nvSpPr>
        <p:spPr>
          <a:xfrm>
            <a:off x="8503920" y="2651760"/>
            <a:ext cx="2926080" cy="365760"/>
          </a:xfrm>
          <a:prstGeom prst="rect">
            <a:avLst/>
          </a:prstGeom>
          <a:noFill/>
          <a:ln/>
        </p:spPr>
        <p:txBody>
          <a:bodyPr wrap="square" lIns="0" tIns="0" rIns="0" bIns="0" rtlCol="0" anchor="t"/>
          <a:lstStyle/>
          <a:p>
            <a:pPr indent="0" marL="0">
              <a:buNone/>
            </a:pPr>
            <a:r>
              <a:rPr lang="en-US" sz="1500" dirty="0">
                <a:solidFill>
                  <a:schemeClr val="tx2"/>
                </a:solidFill>
              </a:rPr>
              <a:t>Passport · OCI · PCC</a:t>
            </a:r>
            <a:endParaRPr lang="en-US" sz="1500" dirty="0"/>
          </a:p>
        </p:txBody>
      </p:sp>
      <p:sp>
        <p:nvSpPr>
          <p:cNvPr id="13" name="AI chat support + tickets chip"/>
          <p:cNvSpPr/>
          <p:nvPr/>
        </p:nvSpPr>
        <p:spPr>
          <a:xfrm>
            <a:off x="6492240" y="3794760"/>
            <a:ext cx="4800600" cy="548640"/>
          </a:xfrm>
          <a:prstGeom prst="roundRect">
            <a:avLst>
              <a:gd name="adj" fmla="val 50000"/>
            </a:avLst>
          </a:prstGeom>
          <a:solidFill>
            <a:srgbClr val="8B1E3F"/>
          </a:solidFill>
          <a:ln/>
        </p:spPr>
      </p:sp>
      <p:sp>
        <p:nvSpPr>
          <p:cNvPr id="14" name="Text 10"/>
          <p:cNvSpPr txBox="1"/>
          <p:nvPr/>
        </p:nvSpPr>
        <p:spPr>
          <a:xfrm>
            <a:off x="6492240" y="3794760"/>
            <a:ext cx="4800600" cy="548640"/>
          </a:xfrm>
          <a:prstGeom prst="rect">
            <a:avLst/>
          </a:prstGeom>
          <a:noFill/>
          <a:ln/>
        </p:spPr>
        <p:txBody>
          <a:bodyPr wrap="square" lIns="0" tIns="0" rIns="0" bIns="0" rtlCol="0" anchor="ctr"/>
          <a:lstStyle/>
          <a:p>
            <a:pPr algn="ctr" indent="0" marL="0">
              <a:buNone/>
            </a:pPr>
            <a:r>
              <a:rPr lang="en-US" sz="1800" b="1" dirty="0">
                <a:solidFill>
                  <a:schemeClr val="bg1"/>
                </a:solidFill>
              </a:rPr>
              <a:t>AI chat support + tickets</a:t>
            </a:r>
            <a:endParaRPr lang="en-US" sz="1800" dirty="0"/>
          </a:p>
        </p:txBody>
      </p:sp>
      <p:sp>
        <p:nvSpPr>
          <p:cNvPr id="15" name="Text 11"/>
          <p:cNvSpPr txBox="1"/>
          <p:nvPr/>
        </p:nvSpPr>
        <p:spPr>
          <a:xfrm>
            <a:off x="6492240" y="4526280"/>
            <a:ext cx="4800600" cy="822960"/>
          </a:xfrm>
          <a:prstGeom prst="rect">
            <a:avLst/>
          </a:prstGeom>
          <a:noFill/>
          <a:ln/>
        </p:spPr>
        <p:txBody>
          <a:bodyPr wrap="square" lIns="0" tIns="0" rIns="0" bIns="0" rtlCol="0" anchor="t"/>
          <a:lstStyle/>
          <a:p>
            <a:pPr algn="ctr" indent="0" marL="0">
              <a:buNone/>
            </a:pPr>
            <a:r>
              <a:rPr lang="en-US" sz="1600" dirty="0">
                <a:solidFill>
                  <a:schemeClr val="tx2"/>
                </a:solidFill>
              </a:rPr>
              <a:t>AI answers questions 24 × 7 and every request becomes a tracked ticket</a:t>
            </a:r>
            <a:endParaRPr lang="en-US" sz="1600" dirty="0"/>
          </a:p>
        </p:txBody>
      </p:sp>
      <p:sp>
        <p:nvSpPr>
          <p:cNvPr id="16" name="Text 12"/>
          <p:cNvSpPr txBox="1"/>
          <p:nvPr/>
        </p:nvSpPr>
        <p:spPr>
          <a:xfrm>
            <a:off x="6492240" y="5394960"/>
            <a:ext cx="4800600" cy="320040"/>
          </a:xfrm>
          <a:prstGeom prst="rect">
            <a:avLst/>
          </a:prstGeom>
          <a:noFill/>
          <a:ln/>
        </p:spPr>
        <p:txBody>
          <a:bodyPr wrap="square" lIns="0" tIns="0" rIns="0" bIns="0" rtlCol="0" anchor="t"/>
          <a:lstStyle/>
          <a:p>
            <a:pPr algn="ctr" indent="0" marL="0">
              <a:buNone/>
            </a:pPr>
            <a:r>
              <a:rPr lang="en-US" sz="1400" b="1" dirty="0">
                <a:solidFill>
                  <a:schemeClr val="accent1"/>
                </a:solidFill>
              </a:rPr>
              <a:t>consularhelpdesk.com</a:t>
            </a:r>
            <a:endParaRPr lang="en-US" sz="14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Why WAMA CRM</a:t>
            </a:r>
            <a:endParaRPr lang="en-US" sz="3600" dirty="0"/>
          </a:p>
        </p:txBody>
      </p:sp>
      <p:sp>
        <p:nvSpPr>
          <p:cNvPr id="3" name="reason 1"/>
          <p:cNvSpPr/>
          <p:nvPr/>
        </p:nvSpPr>
        <p:spPr>
          <a:xfrm>
            <a:off x="548640" y="1463040"/>
            <a:ext cx="2615184" cy="4480560"/>
          </a:xfrm>
          <a:prstGeom prst="roundRect">
            <a:avLst>
              <a:gd name="adj" fmla="val 6294"/>
            </a:avLst>
          </a:prstGeom>
          <a:solidFill>
            <a:schemeClr val="accent1"/>
          </a:solidFill>
          <a:ln/>
          <a:effectLst>
            <a:outerShdw sx="100000" sy="100000" kx="0" ky="0" algn="bl" rotWithShape="0" blurRad="152400" dist="50800" dir="5400000">
              <a:srgbClr val="0E1B3D">
                <a:alpha val="14000"/>
              </a:srgbClr>
            </a:outerShdw>
          </a:effectLst>
        </p:spPr>
      </p:sp>
      <p:sp>
        <p:nvSpPr>
          <p:cNvPr id="4" name="reason 1 circle"/>
          <p:cNvSpPr/>
          <p:nvPr/>
        </p:nvSpPr>
        <p:spPr>
          <a:xfrm>
            <a:off x="1216152" y="2148840"/>
            <a:ext cx="1280160" cy="1280160"/>
          </a:xfrm>
          <a:prstGeom prst="ellipse">
            <a:avLst/>
          </a:prstGeom>
          <a:solidFill>
            <a:schemeClr val="bg1"/>
          </a:solidFill>
          <a:ln/>
        </p:spPr>
      </p:sp>
      <p:pic>
        <p:nvPicPr>
          <p:cNvPr id="5" name="reason 1" descr="preencoded.png">    </p:cNvPr>
          <p:cNvPicPr>
            <a:picLocks noChangeAspect="1"/>
          </p:cNvPicPr>
          <p:nvPr/>
        </p:nvPicPr>
        <p:blipFill>
          <a:blip r:embed="rId1"/>
          <a:stretch>
            <a:fillRect/>
          </a:stretch>
        </p:blipFill>
        <p:spPr>
          <a:xfrm>
            <a:off x="1536192" y="2468880"/>
            <a:ext cx="640080" cy="640080"/>
          </a:xfrm>
          <a:prstGeom prst="rect">
            <a:avLst/>
          </a:prstGeom>
        </p:spPr>
      </p:pic>
      <p:sp>
        <p:nvSpPr>
          <p:cNvPr id="6" name="Text 3"/>
          <p:cNvSpPr txBox="1"/>
          <p:nvPr/>
        </p:nvSpPr>
        <p:spPr>
          <a:xfrm>
            <a:off x="685800" y="3749040"/>
            <a:ext cx="2340864" cy="548640"/>
          </a:xfrm>
          <a:prstGeom prst="rect">
            <a:avLst/>
          </a:prstGeom>
          <a:noFill/>
          <a:ln/>
        </p:spPr>
        <p:txBody>
          <a:bodyPr wrap="square" lIns="0" tIns="0" rIns="0" bIns="0" rtlCol="0" anchor="t"/>
          <a:lstStyle/>
          <a:p>
            <a:pPr algn="ctr" indent="0" marL="0">
              <a:buNone/>
            </a:pPr>
            <a:r>
              <a:rPr lang="en-US" sz="2600" b="1" dirty="0">
                <a:solidFill>
                  <a:schemeClr val="bg1"/>
                </a:solidFill>
              </a:rPr>
              <a:t>Official</a:t>
            </a:r>
            <a:endParaRPr lang="en-US" sz="2600" dirty="0"/>
          </a:p>
        </p:txBody>
      </p:sp>
      <p:sp>
        <p:nvSpPr>
          <p:cNvPr id="7" name="Text 4"/>
          <p:cNvSpPr txBox="1"/>
          <p:nvPr/>
        </p:nvSpPr>
        <p:spPr>
          <a:xfrm>
            <a:off x="777240" y="4389120"/>
            <a:ext cx="2157984" cy="822960"/>
          </a:xfrm>
          <a:prstGeom prst="rect">
            <a:avLst/>
          </a:prstGeom>
          <a:noFill/>
          <a:ln/>
        </p:spPr>
        <p:txBody>
          <a:bodyPr wrap="square" lIns="0" tIns="0" rIns="0" bIns="0" rtlCol="0" anchor="t"/>
          <a:lstStyle/>
          <a:p>
            <a:pPr algn="ctr" indent="0" marL="0">
              <a:buNone/>
            </a:pPr>
            <a:r>
              <a:rPr lang="en-US" sz="1800" dirty="0">
                <a:solidFill>
                  <a:schemeClr val="bg1"/>
                </a:solidFill>
              </a:rPr>
              <a:t>Meta Tech Provider</a:t>
            </a:r>
            <a:endParaRPr lang="en-US" sz="1800" dirty="0"/>
          </a:p>
        </p:txBody>
      </p:sp>
      <p:sp>
        <p:nvSpPr>
          <p:cNvPr id="8" name="reason 2"/>
          <p:cNvSpPr/>
          <p:nvPr/>
        </p:nvSpPr>
        <p:spPr>
          <a:xfrm>
            <a:off x="3346704" y="1463040"/>
            <a:ext cx="2615184" cy="4480560"/>
          </a:xfrm>
          <a:prstGeom prst="roundRect">
            <a:avLst>
              <a:gd name="adj" fmla="val 6294"/>
            </a:avLst>
          </a:prstGeom>
          <a:solidFill>
            <a:schemeClr val="accent2"/>
          </a:solidFill>
          <a:ln/>
          <a:effectLst>
            <a:outerShdw sx="100000" sy="100000" kx="0" ky="0" algn="bl" rotWithShape="0" blurRad="152400" dist="50800" dir="5400000">
              <a:srgbClr val="0E1B3D">
                <a:alpha val="14000"/>
              </a:srgbClr>
            </a:outerShdw>
          </a:effectLst>
        </p:spPr>
      </p:sp>
      <p:sp>
        <p:nvSpPr>
          <p:cNvPr id="9" name="reason 2 circle"/>
          <p:cNvSpPr/>
          <p:nvPr/>
        </p:nvSpPr>
        <p:spPr>
          <a:xfrm>
            <a:off x="4014216" y="2148840"/>
            <a:ext cx="1280160" cy="1280160"/>
          </a:xfrm>
          <a:prstGeom prst="ellipse">
            <a:avLst/>
          </a:prstGeom>
          <a:solidFill>
            <a:schemeClr val="bg1"/>
          </a:solidFill>
          <a:ln/>
        </p:spPr>
      </p:sp>
      <p:pic>
        <p:nvPicPr>
          <p:cNvPr id="10" name="reason 2" descr="preencoded.png">    </p:cNvPr>
          <p:cNvPicPr>
            <a:picLocks noChangeAspect="1"/>
          </p:cNvPicPr>
          <p:nvPr/>
        </p:nvPicPr>
        <p:blipFill>
          <a:blip r:embed="rId2"/>
          <a:stretch>
            <a:fillRect/>
          </a:stretch>
        </p:blipFill>
        <p:spPr>
          <a:xfrm>
            <a:off x="4334256" y="2468880"/>
            <a:ext cx="640080" cy="640080"/>
          </a:xfrm>
          <a:prstGeom prst="rect">
            <a:avLst/>
          </a:prstGeom>
        </p:spPr>
      </p:pic>
      <p:sp>
        <p:nvSpPr>
          <p:cNvPr id="11" name="Text 7"/>
          <p:cNvSpPr txBox="1"/>
          <p:nvPr/>
        </p:nvSpPr>
        <p:spPr>
          <a:xfrm>
            <a:off x="3483864" y="3749040"/>
            <a:ext cx="2340864" cy="548640"/>
          </a:xfrm>
          <a:prstGeom prst="rect">
            <a:avLst/>
          </a:prstGeom>
          <a:noFill/>
          <a:ln/>
        </p:spPr>
        <p:txBody>
          <a:bodyPr wrap="square" lIns="0" tIns="0" rIns="0" bIns="0" rtlCol="0" anchor="t"/>
          <a:lstStyle/>
          <a:p>
            <a:pPr algn="ctr" indent="0" marL="0">
              <a:buNone/>
            </a:pPr>
            <a:r>
              <a:rPr lang="en-US" sz="2600" b="1" dirty="0">
                <a:solidFill>
                  <a:schemeClr val="bg1"/>
                </a:solidFill>
              </a:rPr>
              <a:t>0% markup</a:t>
            </a:r>
            <a:endParaRPr lang="en-US" sz="2600" dirty="0"/>
          </a:p>
        </p:txBody>
      </p:sp>
      <p:sp>
        <p:nvSpPr>
          <p:cNvPr id="12" name="Text 8"/>
          <p:cNvSpPr txBox="1"/>
          <p:nvPr/>
        </p:nvSpPr>
        <p:spPr>
          <a:xfrm>
            <a:off x="3575304" y="4389120"/>
            <a:ext cx="2157984" cy="822960"/>
          </a:xfrm>
          <a:prstGeom prst="rect">
            <a:avLst/>
          </a:prstGeom>
          <a:noFill/>
          <a:ln/>
        </p:spPr>
        <p:txBody>
          <a:bodyPr wrap="square" lIns="0" tIns="0" rIns="0" bIns="0" rtlCol="0" anchor="t"/>
          <a:lstStyle/>
          <a:p>
            <a:pPr algn="ctr" indent="0" marL="0">
              <a:buNone/>
            </a:pPr>
            <a:r>
              <a:rPr lang="en-US" sz="1800" dirty="0">
                <a:solidFill>
                  <a:schemeClr val="bg1"/>
                </a:solidFill>
              </a:rPr>
              <a:t>Pay Meta’s rates directly</a:t>
            </a:r>
            <a:endParaRPr lang="en-US" sz="1800" dirty="0"/>
          </a:p>
        </p:txBody>
      </p:sp>
      <p:sp>
        <p:nvSpPr>
          <p:cNvPr id="13" name="reason 3"/>
          <p:cNvSpPr/>
          <p:nvPr/>
        </p:nvSpPr>
        <p:spPr>
          <a:xfrm>
            <a:off x="6144768" y="1463040"/>
            <a:ext cx="2615184" cy="4480560"/>
          </a:xfrm>
          <a:prstGeom prst="roundRect">
            <a:avLst>
              <a:gd name="adj" fmla="val 6294"/>
            </a:avLst>
          </a:prstGeom>
          <a:solidFill>
            <a:schemeClr val="accent3"/>
          </a:solidFill>
          <a:ln/>
          <a:effectLst>
            <a:outerShdw sx="100000" sy="100000" kx="0" ky="0" algn="bl" rotWithShape="0" blurRad="152400" dist="50800" dir="5400000">
              <a:srgbClr val="0E1B3D">
                <a:alpha val="14000"/>
              </a:srgbClr>
            </a:outerShdw>
          </a:effectLst>
        </p:spPr>
      </p:sp>
      <p:sp>
        <p:nvSpPr>
          <p:cNvPr id="14" name="reason 3 circle"/>
          <p:cNvSpPr/>
          <p:nvPr/>
        </p:nvSpPr>
        <p:spPr>
          <a:xfrm>
            <a:off x="6812280" y="2148840"/>
            <a:ext cx="1280160" cy="1280160"/>
          </a:xfrm>
          <a:prstGeom prst="ellipse">
            <a:avLst/>
          </a:prstGeom>
          <a:solidFill>
            <a:schemeClr val="bg1"/>
          </a:solidFill>
          <a:ln/>
        </p:spPr>
      </p:sp>
      <p:pic>
        <p:nvPicPr>
          <p:cNvPr id="15" name="reason 3" descr="preencoded.png">    </p:cNvPr>
          <p:cNvPicPr>
            <a:picLocks noChangeAspect="1"/>
          </p:cNvPicPr>
          <p:nvPr/>
        </p:nvPicPr>
        <p:blipFill>
          <a:blip r:embed="rId3"/>
          <a:stretch>
            <a:fillRect/>
          </a:stretch>
        </p:blipFill>
        <p:spPr>
          <a:xfrm>
            <a:off x="7132320" y="2468880"/>
            <a:ext cx="640080" cy="640080"/>
          </a:xfrm>
          <a:prstGeom prst="rect">
            <a:avLst/>
          </a:prstGeom>
        </p:spPr>
      </p:pic>
      <p:sp>
        <p:nvSpPr>
          <p:cNvPr id="16" name="Text 11"/>
          <p:cNvSpPr txBox="1"/>
          <p:nvPr/>
        </p:nvSpPr>
        <p:spPr>
          <a:xfrm>
            <a:off x="6281928" y="3749040"/>
            <a:ext cx="2340864" cy="548640"/>
          </a:xfrm>
          <a:prstGeom prst="rect">
            <a:avLst/>
          </a:prstGeom>
          <a:noFill/>
          <a:ln/>
        </p:spPr>
        <p:txBody>
          <a:bodyPr wrap="square" lIns="0" tIns="0" rIns="0" bIns="0" rtlCol="0" anchor="t"/>
          <a:lstStyle/>
          <a:p>
            <a:pPr algn="ctr" indent="0" marL="0">
              <a:buNone/>
            </a:pPr>
            <a:r>
              <a:rPr lang="en-US" sz="2600" b="1" dirty="0">
                <a:solidFill>
                  <a:schemeClr val="bg1"/>
                </a:solidFill>
              </a:rPr>
              <a:t>Made for India</a:t>
            </a:r>
            <a:endParaRPr lang="en-US" sz="2600" dirty="0"/>
          </a:p>
        </p:txBody>
      </p:sp>
      <p:sp>
        <p:nvSpPr>
          <p:cNvPr id="17" name="Text 12"/>
          <p:cNvSpPr txBox="1"/>
          <p:nvPr/>
        </p:nvSpPr>
        <p:spPr>
          <a:xfrm>
            <a:off x="6373368" y="4389120"/>
            <a:ext cx="2157984" cy="822960"/>
          </a:xfrm>
          <a:prstGeom prst="rect">
            <a:avLst/>
          </a:prstGeom>
          <a:noFill/>
          <a:ln/>
        </p:spPr>
        <p:txBody>
          <a:bodyPr wrap="square" lIns="0" tIns="0" rIns="0" bIns="0" rtlCol="0" anchor="t"/>
          <a:lstStyle/>
          <a:p>
            <a:pPr algn="ctr" indent="0" marL="0">
              <a:buNone/>
            </a:pPr>
            <a:r>
              <a:rPr lang="en-US" sz="1800" dirty="0">
                <a:solidFill>
                  <a:schemeClr val="bg1"/>
                </a:solidFill>
              </a:rPr>
              <a:t>Languages, UPI, COD</a:t>
            </a:r>
            <a:endParaRPr lang="en-US" sz="1800" dirty="0"/>
          </a:p>
        </p:txBody>
      </p:sp>
      <p:sp>
        <p:nvSpPr>
          <p:cNvPr id="18" name="reason 4"/>
          <p:cNvSpPr/>
          <p:nvPr/>
        </p:nvSpPr>
        <p:spPr>
          <a:xfrm>
            <a:off x="8942832" y="1463040"/>
            <a:ext cx="2615184" cy="4480560"/>
          </a:xfrm>
          <a:prstGeom prst="roundRect">
            <a:avLst>
              <a:gd name="adj" fmla="val 6294"/>
            </a:avLst>
          </a:prstGeom>
          <a:solidFill>
            <a:schemeClr val="accent4"/>
          </a:solidFill>
          <a:ln/>
          <a:effectLst>
            <a:outerShdw sx="100000" sy="100000" kx="0" ky="0" algn="bl" rotWithShape="0" blurRad="152400" dist="50800" dir="5400000">
              <a:srgbClr val="0E1B3D">
                <a:alpha val="14000"/>
              </a:srgbClr>
            </a:outerShdw>
          </a:effectLst>
        </p:spPr>
      </p:sp>
      <p:sp>
        <p:nvSpPr>
          <p:cNvPr id="19" name="reason 4 circle"/>
          <p:cNvSpPr/>
          <p:nvPr/>
        </p:nvSpPr>
        <p:spPr>
          <a:xfrm>
            <a:off x="9610344" y="2148840"/>
            <a:ext cx="1280160" cy="1280160"/>
          </a:xfrm>
          <a:prstGeom prst="ellipse">
            <a:avLst/>
          </a:prstGeom>
          <a:solidFill>
            <a:schemeClr val="bg1"/>
          </a:solidFill>
          <a:ln/>
        </p:spPr>
      </p:sp>
      <p:pic>
        <p:nvPicPr>
          <p:cNvPr id="20" name="reason 4" descr="preencoded.png">    </p:cNvPr>
          <p:cNvPicPr>
            <a:picLocks noChangeAspect="1"/>
          </p:cNvPicPr>
          <p:nvPr/>
        </p:nvPicPr>
        <p:blipFill>
          <a:blip r:embed="rId4"/>
          <a:stretch>
            <a:fillRect/>
          </a:stretch>
        </p:blipFill>
        <p:spPr>
          <a:xfrm>
            <a:off x="9930384" y="2468880"/>
            <a:ext cx="640080" cy="640080"/>
          </a:xfrm>
          <a:prstGeom prst="rect">
            <a:avLst/>
          </a:prstGeom>
        </p:spPr>
      </p:pic>
      <p:sp>
        <p:nvSpPr>
          <p:cNvPr id="21" name="Text 15"/>
          <p:cNvSpPr txBox="1"/>
          <p:nvPr/>
        </p:nvSpPr>
        <p:spPr>
          <a:xfrm>
            <a:off x="9079992" y="3749040"/>
            <a:ext cx="2340864" cy="548640"/>
          </a:xfrm>
          <a:prstGeom prst="rect">
            <a:avLst/>
          </a:prstGeom>
          <a:noFill/>
          <a:ln/>
        </p:spPr>
        <p:txBody>
          <a:bodyPr wrap="square" lIns="0" tIns="0" rIns="0" bIns="0" rtlCol="0" anchor="t"/>
          <a:lstStyle/>
          <a:p>
            <a:pPr algn="ctr" indent="0" marL="0">
              <a:buNone/>
            </a:pPr>
            <a:r>
              <a:rPr lang="en-US" sz="2600" b="1" dirty="0">
                <a:solidFill>
                  <a:schemeClr val="bg1"/>
                </a:solidFill>
              </a:rPr>
              <a:t>Live in minutes</a:t>
            </a:r>
            <a:endParaRPr lang="en-US" sz="2600" dirty="0"/>
          </a:p>
        </p:txBody>
      </p:sp>
      <p:sp>
        <p:nvSpPr>
          <p:cNvPr id="22" name="Text 16"/>
          <p:cNvSpPr txBox="1"/>
          <p:nvPr/>
        </p:nvSpPr>
        <p:spPr>
          <a:xfrm>
            <a:off x="9171432" y="4389120"/>
            <a:ext cx="2157984" cy="822960"/>
          </a:xfrm>
          <a:prstGeom prst="rect">
            <a:avLst/>
          </a:prstGeom>
          <a:noFill/>
          <a:ln/>
        </p:spPr>
        <p:txBody>
          <a:bodyPr wrap="square" lIns="0" tIns="0" rIns="0" bIns="0" rtlCol="0" anchor="t"/>
          <a:lstStyle/>
          <a:p>
            <a:pPr algn="ctr" indent="0" marL="0">
              <a:buNone/>
            </a:pPr>
            <a:r>
              <a:rPr lang="en-US" sz="1800" dirty="0">
                <a:solidFill>
                  <a:schemeClr val="bg1"/>
                </a:solidFill>
              </a:rPr>
              <a:t>No coding needed</a:t>
            </a:r>
            <a:endParaRPr lang="en-US" sz="18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96B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AMA CRM logo" descr="/home/user/Marketing-CRM/docs/brand/wamacrm-logo-horizontal-light.png">    </p:cNvPr>
          <p:cNvPicPr>
            <a:picLocks noChangeAspect="1"/>
          </p:cNvPicPr>
          <p:nvPr/>
        </p:nvPicPr>
        <p:blipFill>
          <a:blip r:embed="rId2"/>
          <a:stretch>
            <a:fillRect/>
          </a:stretch>
        </p:blipFill>
        <p:spPr>
          <a:xfrm>
            <a:off x="640080" y="502920"/>
            <a:ext cx="3520440" cy="1005840"/>
          </a:xfrm>
          <a:prstGeom prst="rect">
            <a:avLst/>
          </a:prstGeom>
        </p:spPr>
      </p:pic>
      <p:sp>
        <p:nvSpPr>
          <p:cNvPr id="3" name="Text 0"/>
          <p:cNvSpPr/>
          <p:nvPr>
            <p:ph idx="100" type="title" hasCustomPrompt="1"/>
          </p:nvPr>
        </p:nvSpPr>
        <p:spPr>
          <a:xfrm>
            <a:off x="640080" y="1737360"/>
            <a:ext cx="6035040" cy="1920240"/>
          </a:xfrm>
          <a:prstGeom prst="rect">
            <a:avLst/>
          </a:prstGeom>
          <a:noFill/>
          <a:ln/>
        </p:spPr>
        <p:txBody>
          <a:bodyPr wrap="square" lIns="0" tIns="0" rIns="0" bIns="0" rtlCol="0" anchor="b"/>
          <a:lstStyle/>
          <a:p>
            <a:pPr algn="l" indent="0" marL="0">
              <a:buNone/>
            </a:pPr>
            <a:r>
              <a:rPr lang="en-US" sz="4600" b="1" dirty="0">
                <a:solidFill>
                  <a:schemeClr val="bg1"/>
                </a:solidFill>
              </a:rPr>
              <a:t>Let’s grow your business on WhatsApp</a:t>
            </a:r>
            <a:endParaRPr lang="en-US" sz="4600" dirty="0"/>
          </a:p>
        </p:txBody>
      </p:sp>
      <p:sp>
        <p:nvSpPr>
          <p:cNvPr id="4" name="Text 0"/>
          <p:cNvSpPr/>
          <p:nvPr>
            <p:ph idx="101" type="body" hasCustomPrompt="1"/>
          </p:nvPr>
        </p:nvSpPr>
        <p:spPr>
          <a:xfrm>
            <a:off x="640080" y="3794760"/>
            <a:ext cx="6035040" cy="822960"/>
          </a:xfrm>
          <a:prstGeom prst="rect">
            <a:avLst/>
          </a:prstGeom>
          <a:noFill/>
          <a:ln/>
        </p:spPr>
        <p:txBody>
          <a:bodyPr wrap="square" lIns="0" tIns="0" rIns="0" bIns="0" rtlCol="0" anchor="t"/>
          <a:lstStyle/>
          <a:p>
            <a:pPr algn="l" indent="0" marL="0">
              <a:buNone/>
            </a:pPr>
            <a:r>
              <a:rPr lang="en-US" sz="2000" dirty="0">
                <a:solidFill>
                  <a:srgbClr val="DCE6FF"/>
                </a:solidFill>
              </a:rPr>
              <a:t>14-day free trial · wamacrm.magnetora.in</a:t>
            </a:r>
            <a:endParaRPr lang="en-US" sz="2000" dirty="0"/>
          </a:p>
        </p:txBody>
      </p:sp>
      <p:sp>
        <p:nvSpPr>
          <p:cNvPr id="5" name="step 1"/>
          <p:cNvSpPr/>
          <p:nvPr/>
        </p:nvSpPr>
        <p:spPr>
          <a:xfrm>
            <a:off x="7498080" y="1234440"/>
            <a:ext cx="4114800" cy="1280160"/>
          </a:xfrm>
          <a:prstGeom prst="roundRect">
            <a:avLst>
              <a:gd name="adj" fmla="val 12857"/>
            </a:avLst>
          </a:prstGeom>
          <a:solidFill>
            <a:srgbClr val="FFFFFF"/>
          </a:solidFill>
          <a:ln/>
          <a:effectLst>
            <a:outerShdw sx="100000" sy="100000" kx="0" ky="0" algn="bl" rotWithShape="0" blurRad="152400" dist="50800" dir="5400000">
              <a:srgbClr val="0E1B3D">
                <a:alpha val="14000"/>
              </a:srgbClr>
            </a:outerShdw>
          </a:effectLst>
        </p:spPr>
      </p:sp>
      <p:sp>
        <p:nvSpPr>
          <p:cNvPr id="6" name="step 1 icon circle"/>
          <p:cNvSpPr/>
          <p:nvPr/>
        </p:nvSpPr>
        <p:spPr>
          <a:xfrm>
            <a:off x="7772400" y="1490472"/>
            <a:ext cx="777240" cy="777240"/>
          </a:xfrm>
          <a:prstGeom prst="ellipse">
            <a:avLst/>
          </a:prstGeom>
          <a:solidFill>
            <a:schemeClr val="accent2"/>
          </a:solidFill>
          <a:ln/>
        </p:spPr>
      </p:sp>
      <p:pic>
        <p:nvPicPr>
          <p:cNvPr id="7" name="step 1 icon" descr="preencoded.png">    </p:cNvPr>
          <p:cNvPicPr>
            <a:picLocks noChangeAspect="1"/>
          </p:cNvPicPr>
          <p:nvPr/>
        </p:nvPicPr>
        <p:blipFill>
          <a:blip r:embed="rId3"/>
          <a:stretch>
            <a:fillRect/>
          </a:stretch>
        </p:blipFill>
        <p:spPr>
          <a:xfrm>
            <a:off x="7966710" y="1684782"/>
            <a:ext cx="388620" cy="388620"/>
          </a:xfrm>
          <a:prstGeom prst="rect">
            <a:avLst/>
          </a:prstGeom>
        </p:spPr>
      </p:pic>
      <p:sp>
        <p:nvSpPr>
          <p:cNvPr id="8" name="Text 4"/>
          <p:cNvSpPr txBox="1"/>
          <p:nvPr/>
        </p:nvSpPr>
        <p:spPr>
          <a:xfrm>
            <a:off x="10881360" y="1508760"/>
            <a:ext cx="548640" cy="731520"/>
          </a:xfrm>
          <a:prstGeom prst="rect">
            <a:avLst/>
          </a:prstGeom>
          <a:noFill/>
          <a:ln/>
        </p:spPr>
        <p:txBody>
          <a:bodyPr wrap="square" lIns="0" tIns="0" rIns="0" bIns="0" rtlCol="0" anchor="ctr"/>
          <a:lstStyle/>
          <a:p>
            <a:pPr algn="r" indent="0" marL="0">
              <a:buNone/>
            </a:pPr>
            <a:r>
              <a:rPr lang="en-US" sz="3600" b="1" dirty="0">
                <a:solidFill>
                  <a:srgbClr val="C7D2FE"/>
                </a:solidFill>
              </a:rPr>
              <a:t>1</a:t>
            </a:r>
            <a:endParaRPr lang="en-US" sz="3600" dirty="0"/>
          </a:p>
        </p:txBody>
      </p:sp>
      <p:sp>
        <p:nvSpPr>
          <p:cNvPr id="9" name="Text 5"/>
          <p:cNvSpPr txBox="1"/>
          <p:nvPr/>
        </p:nvSpPr>
        <p:spPr>
          <a:xfrm>
            <a:off x="8778240" y="1508760"/>
            <a:ext cx="2194560" cy="731520"/>
          </a:xfrm>
          <a:prstGeom prst="rect">
            <a:avLst/>
          </a:prstGeom>
          <a:noFill/>
          <a:ln/>
        </p:spPr>
        <p:txBody>
          <a:bodyPr wrap="square" lIns="0" tIns="0" rIns="0" bIns="0" rtlCol="0" anchor="ctr"/>
          <a:lstStyle/>
          <a:p>
            <a:pPr indent="0" marL="0">
              <a:buNone/>
            </a:pPr>
            <a:r>
              <a:rPr lang="en-US" sz="2200" b="1" dirty="0">
                <a:solidFill>
                  <a:schemeClr val="tx1"/>
                </a:solidFill>
              </a:rPr>
              <a:t>Free demo</a:t>
            </a:r>
            <a:endParaRPr lang="en-US" sz="2200" dirty="0"/>
          </a:p>
        </p:txBody>
      </p:sp>
      <p:sp>
        <p:nvSpPr>
          <p:cNvPr id="10" name="step 2"/>
          <p:cNvSpPr/>
          <p:nvPr/>
        </p:nvSpPr>
        <p:spPr>
          <a:xfrm>
            <a:off x="7498080" y="2788920"/>
            <a:ext cx="4114800" cy="1280160"/>
          </a:xfrm>
          <a:prstGeom prst="roundRect">
            <a:avLst>
              <a:gd name="adj" fmla="val 12857"/>
            </a:avLst>
          </a:prstGeom>
          <a:solidFill>
            <a:srgbClr val="FFFFFF"/>
          </a:solidFill>
          <a:ln/>
          <a:effectLst>
            <a:outerShdw sx="100000" sy="100000" kx="0" ky="0" algn="bl" rotWithShape="0" blurRad="152400" dist="50800" dir="5400000">
              <a:srgbClr val="0E1B3D">
                <a:alpha val="14000"/>
              </a:srgbClr>
            </a:outerShdw>
          </a:effectLst>
        </p:spPr>
      </p:sp>
      <p:sp>
        <p:nvSpPr>
          <p:cNvPr id="11" name="step 2 icon circle"/>
          <p:cNvSpPr/>
          <p:nvPr/>
        </p:nvSpPr>
        <p:spPr>
          <a:xfrm>
            <a:off x="7772400" y="3044952"/>
            <a:ext cx="777240" cy="777240"/>
          </a:xfrm>
          <a:prstGeom prst="ellipse">
            <a:avLst/>
          </a:prstGeom>
          <a:solidFill>
            <a:schemeClr val="accent1"/>
          </a:solidFill>
          <a:ln/>
        </p:spPr>
      </p:sp>
      <p:pic>
        <p:nvPicPr>
          <p:cNvPr id="12" name="step 2 icon" descr="preencoded.png">    </p:cNvPr>
          <p:cNvPicPr>
            <a:picLocks noChangeAspect="1"/>
          </p:cNvPicPr>
          <p:nvPr/>
        </p:nvPicPr>
        <p:blipFill>
          <a:blip r:embed="rId4"/>
          <a:stretch>
            <a:fillRect/>
          </a:stretch>
        </p:blipFill>
        <p:spPr>
          <a:xfrm>
            <a:off x="7966710" y="3239262"/>
            <a:ext cx="388620" cy="388620"/>
          </a:xfrm>
          <a:prstGeom prst="rect">
            <a:avLst/>
          </a:prstGeom>
        </p:spPr>
      </p:pic>
      <p:sp>
        <p:nvSpPr>
          <p:cNvPr id="13" name="Text 8"/>
          <p:cNvSpPr txBox="1"/>
          <p:nvPr/>
        </p:nvSpPr>
        <p:spPr>
          <a:xfrm>
            <a:off x="10881360" y="3063240"/>
            <a:ext cx="548640" cy="731520"/>
          </a:xfrm>
          <a:prstGeom prst="rect">
            <a:avLst/>
          </a:prstGeom>
          <a:noFill/>
          <a:ln/>
        </p:spPr>
        <p:txBody>
          <a:bodyPr wrap="square" lIns="0" tIns="0" rIns="0" bIns="0" rtlCol="0" anchor="ctr"/>
          <a:lstStyle/>
          <a:p>
            <a:pPr algn="r" indent="0" marL="0">
              <a:buNone/>
            </a:pPr>
            <a:r>
              <a:rPr lang="en-US" sz="3600" b="1" dirty="0">
                <a:solidFill>
                  <a:srgbClr val="C7D2FE"/>
                </a:solidFill>
              </a:rPr>
              <a:t>2</a:t>
            </a:r>
            <a:endParaRPr lang="en-US" sz="3600" dirty="0"/>
          </a:p>
        </p:txBody>
      </p:sp>
      <p:sp>
        <p:nvSpPr>
          <p:cNvPr id="14" name="Text 9"/>
          <p:cNvSpPr txBox="1"/>
          <p:nvPr/>
        </p:nvSpPr>
        <p:spPr>
          <a:xfrm>
            <a:off x="8778240" y="3063240"/>
            <a:ext cx="2194560" cy="731520"/>
          </a:xfrm>
          <a:prstGeom prst="rect">
            <a:avLst/>
          </a:prstGeom>
          <a:noFill/>
          <a:ln/>
        </p:spPr>
        <p:txBody>
          <a:bodyPr wrap="square" lIns="0" tIns="0" rIns="0" bIns="0" rtlCol="0" anchor="ctr"/>
          <a:lstStyle/>
          <a:p>
            <a:pPr indent="0" marL="0">
              <a:buNone/>
            </a:pPr>
            <a:r>
              <a:rPr lang="en-US" sz="2200" b="1" dirty="0">
                <a:solidFill>
                  <a:schemeClr val="tx1"/>
                </a:solidFill>
              </a:rPr>
              <a:t>Connect WhatsApp</a:t>
            </a:r>
            <a:endParaRPr lang="en-US" sz="2200" dirty="0"/>
          </a:p>
        </p:txBody>
      </p:sp>
      <p:sp>
        <p:nvSpPr>
          <p:cNvPr id="15" name="step 3"/>
          <p:cNvSpPr/>
          <p:nvPr/>
        </p:nvSpPr>
        <p:spPr>
          <a:xfrm>
            <a:off x="7498080" y="4343400"/>
            <a:ext cx="4114800" cy="1280160"/>
          </a:xfrm>
          <a:prstGeom prst="roundRect">
            <a:avLst>
              <a:gd name="adj" fmla="val 12857"/>
            </a:avLst>
          </a:prstGeom>
          <a:solidFill>
            <a:srgbClr val="FFFFFF"/>
          </a:solidFill>
          <a:ln/>
          <a:effectLst>
            <a:outerShdw sx="100000" sy="100000" kx="0" ky="0" algn="bl" rotWithShape="0" blurRad="152400" dist="50800" dir="5400000">
              <a:srgbClr val="0E1B3D">
                <a:alpha val="14000"/>
              </a:srgbClr>
            </a:outerShdw>
          </a:effectLst>
        </p:spPr>
      </p:sp>
      <p:sp>
        <p:nvSpPr>
          <p:cNvPr id="16" name="step 3 icon circle"/>
          <p:cNvSpPr/>
          <p:nvPr/>
        </p:nvSpPr>
        <p:spPr>
          <a:xfrm>
            <a:off x="7772400" y="4599432"/>
            <a:ext cx="777240" cy="777240"/>
          </a:xfrm>
          <a:prstGeom prst="ellipse">
            <a:avLst/>
          </a:prstGeom>
          <a:solidFill>
            <a:schemeClr val="accent3"/>
          </a:solidFill>
          <a:ln/>
        </p:spPr>
      </p:sp>
      <p:pic>
        <p:nvPicPr>
          <p:cNvPr id="17" name="step 3 icon" descr="preencoded.png">    </p:cNvPr>
          <p:cNvPicPr>
            <a:picLocks noChangeAspect="1"/>
          </p:cNvPicPr>
          <p:nvPr/>
        </p:nvPicPr>
        <p:blipFill>
          <a:blip r:embed="rId5"/>
          <a:stretch>
            <a:fillRect/>
          </a:stretch>
        </p:blipFill>
        <p:spPr>
          <a:xfrm>
            <a:off x="7966710" y="4793742"/>
            <a:ext cx="388620" cy="388620"/>
          </a:xfrm>
          <a:prstGeom prst="rect">
            <a:avLst/>
          </a:prstGeom>
        </p:spPr>
      </p:pic>
      <p:sp>
        <p:nvSpPr>
          <p:cNvPr id="18" name="Text 12"/>
          <p:cNvSpPr txBox="1"/>
          <p:nvPr/>
        </p:nvSpPr>
        <p:spPr>
          <a:xfrm>
            <a:off x="10881360" y="4617720"/>
            <a:ext cx="548640" cy="731520"/>
          </a:xfrm>
          <a:prstGeom prst="rect">
            <a:avLst/>
          </a:prstGeom>
          <a:noFill/>
          <a:ln/>
        </p:spPr>
        <p:txBody>
          <a:bodyPr wrap="square" lIns="0" tIns="0" rIns="0" bIns="0" rtlCol="0" anchor="ctr"/>
          <a:lstStyle/>
          <a:p>
            <a:pPr algn="r" indent="0" marL="0">
              <a:buNone/>
            </a:pPr>
            <a:r>
              <a:rPr lang="en-US" sz="3600" b="1" dirty="0">
                <a:solidFill>
                  <a:srgbClr val="C7D2FE"/>
                </a:solidFill>
              </a:rPr>
              <a:t>3</a:t>
            </a:r>
            <a:endParaRPr lang="en-US" sz="3600" dirty="0"/>
          </a:p>
        </p:txBody>
      </p:sp>
      <p:sp>
        <p:nvSpPr>
          <p:cNvPr id="19" name="Text 13"/>
          <p:cNvSpPr txBox="1"/>
          <p:nvPr/>
        </p:nvSpPr>
        <p:spPr>
          <a:xfrm>
            <a:off x="8778240" y="4617720"/>
            <a:ext cx="2194560" cy="731520"/>
          </a:xfrm>
          <a:prstGeom prst="rect">
            <a:avLst/>
          </a:prstGeom>
          <a:noFill/>
          <a:ln/>
        </p:spPr>
        <p:txBody>
          <a:bodyPr wrap="square" lIns="0" tIns="0" rIns="0" bIns="0" rtlCol="0" anchor="ctr"/>
          <a:lstStyle/>
          <a:p>
            <a:pPr indent="0" marL="0">
              <a:buNone/>
            </a:pPr>
            <a:r>
              <a:rPr lang="en-US" sz="2200" b="1" dirty="0">
                <a:solidFill>
                  <a:schemeClr val="tx1"/>
                </a:solidFill>
              </a:rPr>
              <a:t>Go live</a:t>
            </a:r>
            <a:endParaRPr lang="en-US" sz="2200" dirty="0"/>
          </a:p>
        </p:txBody>
      </p:sp>
      <p:sp>
        <p:nvSpPr>
          <p:cNvPr id="20" name="Text 14"/>
          <p:cNvSpPr txBox="1"/>
          <p:nvPr/>
        </p:nvSpPr>
        <p:spPr>
          <a:xfrm>
            <a:off x="640080" y="5897880"/>
            <a:ext cx="6400800" cy="411480"/>
          </a:xfrm>
          <a:prstGeom prst="rect">
            <a:avLst/>
          </a:prstGeom>
          <a:noFill/>
          <a:ln/>
        </p:spPr>
        <p:txBody>
          <a:bodyPr wrap="square" lIns="0" tIns="0" rIns="0" bIns="0" rtlCol="0" anchor="t"/>
          <a:lstStyle/>
          <a:p>
            <a:pPr indent="0" marL="0">
              <a:buNone/>
            </a:pPr>
            <a:r>
              <a:rPr lang="en-US" sz="2000" dirty="0">
                <a:solidFill>
                  <a:srgbClr val="7CF0A8"/>
                </a:solidFill>
              </a:rPr>
              <a:t>Thank you · ధన్యవాదాలు · धन्यवाद</a:t>
            </a:r>
            <a:endParaRPr lang="en-US" sz="2000" dirty="0"/>
          </a:p>
        </p:txBody>
      </p:sp>
    </p:spTree>
  </p:cSld>
  <p:clrMapOvr>
    <a:masterClrMapping/>
  </p:clrMapOvr>
</p:sld>
</file>

<file path=ppt/theme/theme1.xml><?xml version="1.0" encoding="utf-8"?>
<a:theme xmlns:a="http://schemas.openxmlformats.org/drawingml/2006/main" name="WAMA CRM Bright">
  <a:themeElements>
    <a:clrScheme name="WAMA CRM Bright">
      <a:dk1>
        <a:srgbClr val="0E1B3D"/>
      </a:dk1>
      <a:lt1>
        <a:srgbClr val="FFFFFF"/>
      </a:lt1>
      <a:dk2>
        <a:srgbClr val="4A5874"/>
      </a:dk2>
      <a:lt2>
        <a:srgbClr val="F2F6FD"/>
      </a:lt2>
      <a:accent1>
        <a:srgbClr val="1D5BEA"/>
      </a:accent1>
      <a:accent2>
        <a:srgbClr val="00A884"/>
      </a:accent2>
      <a:accent3>
        <a:srgbClr val="F97316"/>
      </a:accent3>
      <a:accent4>
        <a:srgbClr val="EC4899"/>
      </a:accent4>
      <a:accent5>
        <a:srgbClr val="7C3AED"/>
      </a:accent5>
      <a:accent6>
        <a:srgbClr val="E5484D"/>
      </a:accent6>
      <a:hlink>
        <a:srgbClr val="1D5BEA"/>
      </a:hlink>
      <a:folHlink>
        <a:srgbClr val="4A5874"/>
      </a:folHlink>
    </a:clrScheme>
    <a:fontScheme name="WAMA CRM Brigh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Magnetora AI Solutions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WAMA CRM: turn WhatsApp chats into sales</dc:title>
  <dc:subject>PptxGenJS Presentation</dc:subject>
  <dc:creator>Magnetora AI Solutions</dc:creator>
  <cp:lastModifiedBy>Magnetora AI Solutions</cp:lastModifiedBy>
  <cp:revision>1</cp:revision>
  <dcterms:created xsi:type="dcterms:W3CDTF">2026-10-23T19:35:24Z</dcterms:created>
  <dcterms:modified xsi:type="dcterms:W3CDTF">2026-10-23T19:35:24Z</dcterms:modified>
</cp:coreProperties>
</file>